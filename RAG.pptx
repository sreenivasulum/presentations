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78" r:id="rId7"/>
    <p:sldId id="275" r:id="rId8"/>
    <p:sldId id="27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49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6095-4E5D-FA66-E3FB-348708FE3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EC25C-BFEE-8745-6FF5-23205C00E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503A7-EAD8-C87A-CB08-1A16F819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DC9F4-02B5-1B9B-A7A2-544EC44A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F8CA9-9A10-F489-DB39-ACF60A8C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460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8B5B4-F150-9D76-466A-19666CD83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434E-0C7B-27D8-B998-6DFFBC311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7E650-4A2A-06E8-C675-7835181C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936CB-9487-852E-2590-E127B8DE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16DDE-DB10-719D-6090-3D82276C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0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288AF-69E2-15B6-A67A-DA5FA137A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0F11E-6010-531C-0855-AD5B48D56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07477-0921-7F7A-D82C-29E5F751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D63B4-43B6-B9E0-D8C6-C62F47178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76B65-291A-036C-148F-C7425B19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5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976D5-D5CA-D79C-1B43-687393DD2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FF2AC-B980-5011-F648-7C42856BE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24085-9422-F20C-2822-48BE8B710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5CDB8-783B-A6C1-E4D9-437936B74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263A0-366C-7E83-EAEE-3A8EC222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9FDBC-6664-A851-ACA4-2F526A6D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7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51193-5DFA-D963-72B3-4D202219F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15DF4-55CF-6B3F-25C5-AF0B7F15F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089F2-1421-A4B9-3977-5F1F9F783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CB2A0-7ED4-1F20-4DC5-FA232BBFE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210E6-79E5-ED4F-9EC8-F365E3144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CACFE3-C60C-469A-1771-9F0DEA30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E0E8BB-E6CD-51BF-B7AF-CAF01312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AC6043-176B-912A-D800-CB6BFD92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59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232A-1F97-20D1-043A-A2A1EE9E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E5CE7A-DBE0-9246-2029-3F5135B7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D6FCD-5172-1BF7-4B9D-2C6E103D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B56D1-3D2E-5059-5A25-2B4944595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0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DDCA8F-6ABE-F0C9-116E-FB08BBE96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60969-13FC-1986-4C4E-D12D45AEB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BB25A-CEB2-CDEA-31EC-F70E0FC3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8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F7B4-5DE8-9F10-DDE9-C1F387B7C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552C5-1C29-8CB2-B352-D539C15A4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3E056-30A8-8BA2-3F90-3AA1EE3A5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356C8-44B0-3638-351E-D012D111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09EF0-C640-6AA0-1C0A-D41FE5622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1F007-B074-6F17-68D8-7B0B713A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7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9468-852D-FC4D-7029-53577895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6E8AA-E940-73BD-2404-A3CFE67EBC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F693B-FC8F-C146-D7DC-D42821B83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31105-6442-1E8E-960C-A5F50C0D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695B6-8003-C4C8-4A51-5C107F137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F75F9-4185-2925-CC04-6E90CBE8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5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BFDAA-5BA0-921D-42C5-6B8190D61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213F6-4296-BAC0-0B1D-0D338E2CD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030B-C954-5231-9BCB-82B3EDD6D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E8BCD-CA63-BFA1-1D8B-3A6E803B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BB205-564C-9B3A-58C4-55E33445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07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FC4BD-B022-5B55-2097-16BC09DF6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C725A5-FA24-6AD9-8966-05541EAA1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9F2F0-C3EC-8534-FF60-5A6BE91B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7440B-6624-39E0-E2D8-B7CFF949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E38D0-FBAE-DC76-5480-D34BDB1C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8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56FCB-60A8-0B84-BD12-275BA339B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0C5D9-E954-95D7-5D06-FC2A3160F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CB39F-D651-0383-8B82-7D17790D2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348E4-BD64-354C-8B05-1EEAF87BF25E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122F5-13CC-ABA8-F039-BC1466D9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86426-B6DD-CF94-2B44-5F6DF1BA2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5A215-21F5-5743-B3C5-CB159D97C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3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BD956-F041-FC04-EAA0-4ED41B802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b="1"/>
              <a:t>Building AI Application in Agriculture that knows your data: the RAG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1F137-341C-31BA-23AE-656580F02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sz="1700" dirty="0"/>
              <a:t>					</a:t>
            </a:r>
            <a:r>
              <a:rPr lang="en-US" sz="1700" b="1" dirty="0"/>
              <a:t>       	  Dr Sreenivasulu M</a:t>
            </a:r>
          </a:p>
          <a:p>
            <a:pPr algn="l"/>
            <a:r>
              <a:rPr lang="en-US" sz="1700" b="1" dirty="0"/>
              <a:t>        						  Data Science Manager </a:t>
            </a:r>
          </a:p>
          <a:p>
            <a:pPr algn="l"/>
            <a:r>
              <a:rPr lang="en-US" sz="1700" b="1" dirty="0"/>
              <a:t>                 				                                           Publicis Sapient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5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C79DC-6BA1-9A4A-784D-AE5B4362C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93CE5E-B3A0-77B5-1123-3502A2DDD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Context 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Understanding why AI needs instructions versus context.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 vs. Long Context: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debate on whether large context windows replace the need for retrieval.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 Architecture &amp; Algorithms: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Retrieve-Then-Generate Loop.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Sparse (Term-Based) vs. Dense (Embedding-Based) Retrieval.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Search and Reciprocal Rank 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 Strategies: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Chunking Strategies and the Overlap Rule.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Query Rewriting for Disambiguation.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Contextual Retrieval (The Anthropic Approach).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 in Agriculture: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Kisan Call Center: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Managing government scheme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Soil Health Cards: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Handling tabular data with contextual retrieval.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Diagnosis: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Hybrid Search for symptoms and chemicals.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Intelligence: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Agentic patterns for real-time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41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2A9F8-D8B0-9759-C2CD-F158E95AF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IN" sz="6100" b="1"/>
              <a:t>The Context Challenge</a:t>
            </a:r>
            <a:endParaRPr lang="en-US" sz="6100" b="1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DC006C-A63F-46CB-C6C0-852BD4118F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5240" y="2969469"/>
            <a:ext cx="8074815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Core Problem: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AI models need two things to solve a task: instructions (how to do it) and information (context).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Hallucination: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Just like humans, models hallucinate when they lack context.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Context Engineering: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Constructing context for foundation models is the modern equivalent of "feature engineering" in classical ML.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Two Dominating Patterns: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RAG (Retrieval-Augmented Generation):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Retrieving relevant data from external sources.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Agents: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Using tools (search, APIs) to actively gather information and interact with the world.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330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671FF-F9C5-AD40-D757-7864377D8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IN" sz="5000" b="1"/>
              <a:t>Will Long Context Kill RAG?</a:t>
            </a:r>
            <a:endParaRPr lang="en-US" sz="5000" b="1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82B56E-E2C2-76EE-7332-63E1DE069F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5240" y="2969469"/>
            <a:ext cx="8489825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Debate: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 1M+ token windows, do we still need retrieval?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Argument for RAG: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Velocity: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Data grows faster than context windows expand (Parkinson's Law of Data).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Context Efficiency: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Models often focus on the wrong parts of massive contexts ("Lost in the Middle" phenomenon).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Cost &amp; Latency: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Every extra token costs money and adds latency. RAG reduces input to only the most relevant tokens.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Anthropic's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Rule of Thumb: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If knowledge is &lt; 200k tokens (~500 pages), just use the prompt. For anything larger, use RAG.  Its for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claude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models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Note: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provider incorporates a retrieval like mechanism to help a model pick out the most salients parts of a context to use.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93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0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49ACD-306C-425F-B443-CC1289E3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          RAG Architecture Overview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60E88A-DF98-E334-7C42-C03A5B8708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820879"/>
            <a:ext cx="5257799" cy="515491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History: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Concept introduced in 2017 (Chen et al.)- Reading Wikipedia to Answer open-domain questions.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erm "RAG" coined in 2020 (Lewis et al.)- Knowledge intensive tasks. (they trained both generator and retrieval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combinely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Enhancing generation by retrieving relevant information from external memory (databases, chat history, internet).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Loop (Retrieve-Then-Generate):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Retriever: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Indexes and queries the external memory.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Generator: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Uses the retrieved chunks + user prompt to generate the answer.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333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243A6-0976-2FCE-72C0-3B1A42A7B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RAG 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BBC73-14E9-3AE3-8972-81A0B2F3C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query</a:t>
            </a:r>
          </a:p>
          <a:p>
            <a:endParaRPr lang="en-US" b="1" dirty="0"/>
          </a:p>
          <a:p>
            <a:r>
              <a:rPr lang="en-US" dirty="0"/>
              <a:t>Can Acme’s fancy-printer-A300 print 100pps?</a:t>
            </a:r>
          </a:p>
          <a:p>
            <a:endParaRPr lang="en-US" dirty="0"/>
          </a:p>
          <a:p>
            <a:r>
              <a:rPr lang="en-US" dirty="0"/>
              <a:t>Model responds better because of fancy-printer-A300</a:t>
            </a:r>
          </a:p>
        </p:txBody>
      </p:sp>
    </p:spTree>
    <p:extLst>
      <p:ext uri="{BB962C8B-B14F-4D97-AF65-F5344CB8AC3E}">
        <p14:creationId xmlns:p14="http://schemas.microsoft.com/office/powerpoint/2010/main" val="3709267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747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6FDEC-2C59-9825-ED76-9259BAD2B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44F9E1-CC6A-C861-D851-2D9589964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333743"/>
            <a:ext cx="7188199" cy="418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77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9F5BC-EE3C-508A-B74E-74335BCA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Retrieval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FFD2E-29C9-DC52-0B82-1505F97CC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Information is a century old idea.</a:t>
            </a:r>
          </a:p>
          <a:p>
            <a:r>
              <a:rPr lang="en-US" dirty="0"/>
              <a:t>       </a:t>
            </a:r>
            <a:r>
              <a:rPr lang="en-US" i="1" dirty="0"/>
              <a:t>1920’s Emanuel Goldberg’s patents for a statistical machine</a:t>
            </a:r>
          </a:p>
          <a:p>
            <a:r>
              <a:rPr lang="en-US" i="1" dirty="0"/>
              <a:t>         to search documents stored on films.</a:t>
            </a:r>
          </a:p>
          <a:p>
            <a:endParaRPr lang="en-US" dirty="0"/>
          </a:p>
          <a:p>
            <a:r>
              <a:rPr lang="en-US" dirty="0"/>
              <a:t>Backbone of search engines, recommender system, log analytics, etc.</a:t>
            </a:r>
          </a:p>
          <a:p>
            <a:endParaRPr lang="en-US" dirty="0"/>
          </a:p>
          <a:p>
            <a:r>
              <a:rPr lang="en-US" dirty="0"/>
              <a:t>Two retrieval mechanisms- </a:t>
            </a:r>
          </a:p>
          <a:p>
            <a:r>
              <a:rPr lang="en-US" dirty="0"/>
              <a:t>      Term-based retrieval</a:t>
            </a:r>
          </a:p>
          <a:p>
            <a:r>
              <a:rPr lang="en-US" dirty="0"/>
              <a:t>      Embedding based retrieval.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639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22620-BC9A-9206-3B1E-B171E0A43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</a:rPr>
              <a:t>Retrieval Algorithms I: Term-Based (Sparse)</a:t>
            </a:r>
            <a:endParaRPr lang="en-US" sz="4000" b="1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C47788-FFF1-51BD-7A9F-DFAC26DECC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Mechanism: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Matches keywords using sparse vectors (mostly zeros).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Metrics: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TF (Term Frequency):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How often a term appears in a document.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IDF (Inverse Document Frequency):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Penalizes common words (like "the", "for").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Algorithms: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BM25 (Best Matching 25)(1980):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industry standard. Normalizes TF-IDF based on document length.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Elasticsearch (2010):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Uses inverted indices for fast lookup.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Pros/Cons: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Fast and cheap, but misses semantic meaning (e.g., "Apple" fruit vs. "Apple" company).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Note: Aravind Sreenivas,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ceo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of perplexity tweeted “making a genuine improvement over BM25 is hard”</a:t>
            </a:r>
          </a:p>
        </p:txBody>
      </p:sp>
    </p:spTree>
    <p:extLst>
      <p:ext uri="{BB962C8B-B14F-4D97-AF65-F5344CB8AC3E}">
        <p14:creationId xmlns:p14="http://schemas.microsoft.com/office/powerpoint/2010/main" val="689235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535C5-1089-BEA9-9E5F-5E14720F8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 b="1">
                <a:solidFill>
                  <a:srgbClr val="FFFFFF"/>
                </a:solidFill>
              </a:rPr>
              <a:t>Retrieval Algorithms II: Embedding-Based (Dense)</a:t>
            </a:r>
            <a:endParaRPr lang="en-US" sz="4000" b="1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5594F8-6E60-9616-6EAD-FFAB0E124C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Mechanism: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Uses dense vectors to capture semantic meaning.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Workflow: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Embedding 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Converts query and documents into vectors.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Vector Database: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Stores embeddings (e.g., FAISS, Annoy, HNSW, Milvus).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ANN Search: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Finds Approximate Nearest Neighbors.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Pros/Cons: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Captures intent/synonyms, but computationally heavy and expensive to index.</a:t>
            </a:r>
          </a:p>
        </p:txBody>
      </p:sp>
    </p:spTree>
    <p:extLst>
      <p:ext uri="{BB962C8B-B14F-4D97-AF65-F5344CB8AC3E}">
        <p14:creationId xmlns:p14="http://schemas.microsoft.com/office/powerpoint/2010/main" val="147523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4C8EC-8872-B479-C45C-4A656433C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IN" sz="4600" b="1"/>
              <a:t>Production Strategy: Hybrid Search &amp; Reranking</a:t>
            </a:r>
            <a:endParaRPr lang="en-US" sz="4600" b="1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BB03AD6-852A-CAE1-36DC-C7A9B857A7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38928" y="1338729"/>
            <a:ext cx="4795584" cy="41805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Hybrid Search: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Combining the precision of keyword matching (BM25) with the semantic understanding of embeddings.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300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Reciprocal Rank Fusion (RRF):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 algorithm to combine ranked lists from different retrievers.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Reranking: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Step 1: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Fetch 50+ candidates using a cheap retriever (e.g., BM25).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Step 2: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 a high-precision "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reranker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" model to sort them and select the top 5 for the LLM.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Why?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Optimizes for both recall (don't miss data) and precision (don't distract the LLM).</a:t>
            </a:r>
          </a:p>
        </p:txBody>
      </p:sp>
    </p:spTree>
    <p:extLst>
      <p:ext uri="{BB962C8B-B14F-4D97-AF65-F5344CB8AC3E}">
        <p14:creationId xmlns:p14="http://schemas.microsoft.com/office/powerpoint/2010/main" val="4264293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6BDE8-D702-A27B-3A17-56E41AF4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/>
              <a:t>Optimization I: Chunking Strategies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BD0776-1AAE-6F99-84B4-E3B43FEB23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7638"/>
            <a:ext cx="1064122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Documents vary in length (10 tokens vs 1M tokens).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Strategies: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Size: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e.g., 512 tokens with overlap.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Recursive: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 by section -&gt; paragraph -&gt; sentence.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Semantic/Structural: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Split by markdown headers or code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Overlap Rule: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Always overlap chunks (e.g., 20 tokens) to prevent cutting context in the middle of a sentence (e.g., "I left my wife... a note").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Trade-off: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Smaller chunks = more diversity but less context. Larger chunks = better context but fewer fit in the window.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975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0D0C-B6CC-CE93-CADF-489B16EC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/>
              <a:t>Optimization II: Query Rewriting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E7562E-A5AA-B9AC-B260-6C8B14ACC7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697" y="1859339"/>
            <a:ext cx="945964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Ambiguity Problem: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"When did John buy a hat?”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"How about Emily?" -&gt;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missing!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an LLM to rewrite the last query into a standalone question before retrieval.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Rewritten: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"When did Emily buy a hat?”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Essential for conversational RAG to function correctly</a:t>
            </a:r>
          </a:p>
        </p:txBody>
      </p:sp>
    </p:spTree>
    <p:extLst>
      <p:ext uri="{BB962C8B-B14F-4D97-AF65-F5344CB8AC3E}">
        <p14:creationId xmlns:p14="http://schemas.microsoft.com/office/powerpoint/2010/main" val="3899883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4004-0DD2-62C6-6B33-83EF6220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Optimization III: Contextual Retrieval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D61EA1-F053-BB70-9893-821A058DC9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7319" y="1859339"/>
            <a:ext cx="1141736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Augmenting chunks with metadata or summaries.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Anthropic's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Approach: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LLM to generate a 50-100 token summary of the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entire document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Prepend this summary to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chunk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that document.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 small chunks carry the global context of the parent document, improving retrieval accuracy significantly</a:t>
            </a:r>
          </a:p>
        </p:txBody>
      </p:sp>
    </p:spTree>
    <p:extLst>
      <p:ext uri="{BB962C8B-B14F-4D97-AF65-F5344CB8AC3E}">
        <p14:creationId xmlns:p14="http://schemas.microsoft.com/office/powerpoint/2010/main" val="27803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137B-682A-3697-C066-5649E047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Evaluation Metrics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635070-ADDC-B86E-6C15-1C751F92F5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7229"/>
            <a:ext cx="1089593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 Evaluation: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Precision: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% of retrieved documents that are relevant.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Recall: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% of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relevant documents that were retrieved.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Ranking Metrics: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NDCG (Normalized Discounted Cumulative Gain) and MRR (Mean Reciprocal Rank).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Evaluation: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Judging the final generated answer quality.</a:t>
            </a:r>
          </a:p>
        </p:txBody>
      </p:sp>
    </p:spTree>
    <p:extLst>
      <p:ext uri="{BB962C8B-B14F-4D97-AF65-F5344CB8AC3E}">
        <p14:creationId xmlns:p14="http://schemas.microsoft.com/office/powerpoint/2010/main" val="894474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CA42-B362-8DE7-E50F-4FD646B7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 of RAG in Agriculture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2BAAA-277E-BC90-4D69-F224E4C7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Building Intelligent Text Interfaces for Farmers and Agronomists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912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E783-6643-D0CF-2923-24DF8FBE3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The "Context" Problem in Agronomy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7DB7E3-FC01-A00D-A4BF-6566E1D2AB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016137"/>
            <a:ext cx="1060415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answer a farmer's question, a model needs specific instructions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Information: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access to specific local data (soil reports, local weather), AI models hallucinate answers.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 (Retrieval-Augmented Generation):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Retrieves relevant text (manuals, schemes) from an external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tools to search the web for real-time news and prices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37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1108-0C5C-C8BC-0894-6809BC12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The "Kisan Call </a:t>
            </a:r>
            <a:r>
              <a:rPr lang="en-IN" sz="4000" b="1" dirty="0" err="1"/>
              <a:t>Center</a:t>
            </a:r>
            <a:r>
              <a:rPr lang="en-IN" sz="4000" b="1" dirty="0"/>
              <a:t>" RAG Bot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79793F-8436-403D-4033-68BCD5504D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877639"/>
            <a:ext cx="1051559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Answering queries about government schemes and subsidies.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Government documents are vast. Long context windows are inefficient and models often focus on the wrong part of the text.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Fetches specific paragraphs from thousands of PDF scheme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Chunking Strategy: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recursive splitting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(Section -&gt; Paragraph) to keep related text together.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Precise answers about eligibility criteria without hallucinating non-existent benefits.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987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7109-6DC1-72ED-C6DD-D1C04E55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Handling Tabular Soil Health Cards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4A3127-C9A5-97C2-B5C2-A9712C8EFE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154637"/>
            <a:ext cx="1087600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Soil reports are often tables (Text + Numbers). Standard chunking breaks tables, losing context (e.g., a row of numbers without headers).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 Contextual Retrieval (The Anthropic Method)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Technique: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an LLM to generate a summary of the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soil report (e.g., "Soil test results for Farmer X, Survey No. 123, 2024").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Augmentation: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Prepend this summary to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chunk/row of the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retriever can successfully find "Nitrogen levels for Survey 123" even if the data was split into small chunks.</a:t>
            </a:r>
          </a:p>
        </p:txBody>
      </p:sp>
    </p:spTree>
    <p:extLst>
      <p:ext uri="{BB962C8B-B14F-4D97-AF65-F5344CB8AC3E}">
        <p14:creationId xmlns:p14="http://schemas.microsoft.com/office/powerpoint/2010/main" val="494167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7844-5850-1CBB-3CCB-DC367D11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Crop Symptom Diagnosis (Hybrid Search)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E9AB55-F52E-E716-B5FA-0CE2C9FF6E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43143"/>
            <a:ext cx="1019638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Farmer describes symptoms: "Leaves are turning yellow with brown spots.”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Engineering Challenge: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Search: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Needed for symptoms (e.g., matching "yellowing" to "chlorosis").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Keyword Search: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Needed for specific chemical names (e.g., "Imidacloprid") or exact seed varieties.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 Hybrid Search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Embedding-based retrieval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symptoms)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Term-based retrieval/BM25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 chemical names) to find the correct protection manual.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001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58B9E-571C-72BD-71AB-5BB75519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 </a:t>
            </a:r>
            <a:r>
              <a:rPr lang="en-IN" sz="4000" b="1" dirty="0"/>
              <a:t>The Market Intelligence Agent</a:t>
            </a:r>
            <a:endParaRPr lang="en-US" sz="4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A5C9DF-06D3-86BD-DEC5-BCC245D88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2287"/>
            <a:ext cx="991217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Case: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"Is now a good time to sell Maize?”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Agentic Pattern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Mechanism: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(APIs) to fetch external data (live Mandi prices, weather forecasts).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Time-Based Reranking: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Retrieves news articles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reranks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them to prioritize the most recent market updates.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advice based on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conditions, not training data from 2 years ago.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540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A0CDF-56A5-4474-6B59-B0E0EEA0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9710420" cy="871453"/>
          </a:xfrm>
        </p:spPr>
        <p:txBody>
          <a:bodyPr anchor="ctr">
            <a:normAutofit/>
          </a:bodyPr>
          <a:lstStyle/>
          <a:p>
            <a:r>
              <a:rPr lang="en-IN" sz="4000" b="1" dirty="0"/>
              <a:t>Optimization: Query Rewriting for Chatbots</a:t>
            </a:r>
            <a:endParaRPr lang="en-US" sz="4000" b="1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943DD3C-9A19-179C-0AD9-6928B9DED6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8701" y="2219317"/>
            <a:ext cx="996696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 1 (User):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"What is the recommended dosage of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Coragen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stem borers?"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Response: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"The recommended dosage is 60ml per acre.”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 2 (User):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"Can I mix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fungicide?”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user uses the pronoun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"it"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If the RAG system searches the database for "Can I mix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 fungicide?", it will likely retrieve generic mixing guides or irrelevant results because "it" is undefined.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Rewrite: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uses an LLM to rewrite the query before sending it to the retriever: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Rewritten Query: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"Can I mix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Coragen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a fungicide?"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875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6D5AA-F4C6-CCB5-CF03-E2F8FFF75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IN" sz="7200" b="1"/>
              <a:t>Summary</a:t>
            </a:r>
            <a:endParaRPr lang="en-US" sz="7200" b="1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9C8F2E-3775-D892-3F32-6F1B2AA2AE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5240" y="2969469"/>
            <a:ext cx="8074815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NLP in Agriculture is an Engineering Problem: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It requires careful context construction.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Takeaways: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Contextual Retrieval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for Soil/Lab reports.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Hybrid Search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to handle both symptoms (semantic) and chemical names (keywords).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Agents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for real-time decision-making (markets/weather).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0650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A7460-AF66-34BD-E04E-A836E5BE9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r>
              <a:rPr lang="en-US" sz="1150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6FF1D-EAA6-6AF2-9981-743279BE8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1823</Words>
  <Application>Microsoft Macintosh PowerPoint</Application>
  <PresentationFormat>Widescreen</PresentationFormat>
  <Paragraphs>251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Building AI Application in Agriculture that knows your data: the RAG pipeline</vt:lpstr>
      <vt:lpstr>Contents</vt:lpstr>
      <vt:lpstr>The Context Challenge</vt:lpstr>
      <vt:lpstr>Will Long Context Kill RAG?</vt:lpstr>
      <vt:lpstr>          RAG Architecture Overview</vt:lpstr>
      <vt:lpstr>RAG (cont..)</vt:lpstr>
      <vt:lpstr>Architecture</vt:lpstr>
      <vt:lpstr>Retrieval Algorithms</vt:lpstr>
      <vt:lpstr>Retrieval Algorithms I: Term-Based (Sparse)</vt:lpstr>
      <vt:lpstr>Retrieval Algorithms II: Embedding-Based (Dense)</vt:lpstr>
      <vt:lpstr>Production Strategy: Hybrid Search &amp; Reranking</vt:lpstr>
      <vt:lpstr>Optimization I: Chunking Strategies</vt:lpstr>
      <vt:lpstr>Optimization II: Query Rewriting</vt:lpstr>
      <vt:lpstr>Optimization III: Contextual Retrieval</vt:lpstr>
      <vt:lpstr>Evaluation Metrics</vt:lpstr>
      <vt:lpstr>Application of RAG in Agriculture</vt:lpstr>
      <vt:lpstr>The "Context" Problem in Agronomy</vt:lpstr>
      <vt:lpstr>The "Kisan Call Center" RAG Bot</vt:lpstr>
      <vt:lpstr>Handling Tabular Soil Health Cards</vt:lpstr>
      <vt:lpstr>Crop Symptom Diagnosis (Hybrid Search)</vt:lpstr>
      <vt:lpstr> The Market Intelligence Agent</vt:lpstr>
      <vt:lpstr>Optimization: Query Rewriting for Chatbots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Sreenivasulu Madichetty</dc:creator>
  <cp:lastModifiedBy>Sreenivasulu Madichetty</cp:lastModifiedBy>
  <cp:revision>57</cp:revision>
  <dcterms:created xsi:type="dcterms:W3CDTF">2026-01-07T05:12:01Z</dcterms:created>
  <dcterms:modified xsi:type="dcterms:W3CDTF">2026-01-07T08:21:45Z</dcterms:modified>
</cp:coreProperties>
</file>