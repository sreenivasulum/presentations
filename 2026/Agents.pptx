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63" r:id="rId3"/>
    <p:sldId id="262" r:id="rId4"/>
    <p:sldId id="261" r:id="rId5"/>
    <p:sldId id="264" r:id="rId6"/>
    <p:sldId id="265" r:id="rId7"/>
    <p:sldId id="266" r:id="rId8"/>
    <p:sldId id="267" r:id="rId9"/>
    <p:sldId id="268" r:id="rId10"/>
    <p:sldId id="269"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793"/>
    <p:restoredTop sz="94658"/>
  </p:normalViewPr>
  <p:slideViewPr>
    <p:cSldViewPr snapToGrid="0">
      <p:cViewPr varScale="1">
        <p:scale>
          <a:sx n="94" d="100"/>
          <a:sy n="94" d="100"/>
        </p:scale>
        <p:origin x="224" y="3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ADF57E-E1D2-33C5-3064-8DA052DDAE43}"/>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D1C0D18E-A93E-2A66-4D01-A63DDAB80AC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776A4762-D96C-A0AB-67B3-3AE275FA3F49}"/>
              </a:ext>
            </a:extLst>
          </p:cNvPr>
          <p:cNvSpPr>
            <a:spLocks noGrp="1"/>
          </p:cNvSpPr>
          <p:nvPr>
            <p:ph type="dt" sz="half" idx="10"/>
          </p:nvPr>
        </p:nvSpPr>
        <p:spPr/>
        <p:txBody>
          <a:bodyPr/>
          <a:lstStyle/>
          <a:p>
            <a:fld id="{912BE83D-4665-564E-B705-B81ABA7884D6}" type="datetimeFigureOut">
              <a:rPr lang="en-US" smtClean="0"/>
              <a:t>1/28/26</a:t>
            </a:fld>
            <a:endParaRPr lang="en-US"/>
          </a:p>
        </p:txBody>
      </p:sp>
      <p:sp>
        <p:nvSpPr>
          <p:cNvPr id="5" name="Footer Placeholder 4">
            <a:extLst>
              <a:ext uri="{FF2B5EF4-FFF2-40B4-BE49-F238E27FC236}">
                <a16:creationId xmlns:a16="http://schemas.microsoft.com/office/drawing/2014/main" id="{CF1F96DB-0F38-04B5-74D9-FB3C1F270D8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6645068-9A01-50C9-2A42-E94CB74391F2}"/>
              </a:ext>
            </a:extLst>
          </p:cNvPr>
          <p:cNvSpPr>
            <a:spLocks noGrp="1"/>
          </p:cNvSpPr>
          <p:nvPr>
            <p:ph type="sldNum" sz="quarter" idx="12"/>
          </p:nvPr>
        </p:nvSpPr>
        <p:spPr/>
        <p:txBody>
          <a:bodyPr/>
          <a:lstStyle/>
          <a:p>
            <a:fld id="{5A0EBE9C-87EA-9D4B-B4C3-70D05830BB6C}" type="slidenum">
              <a:rPr lang="en-US" smtClean="0"/>
              <a:t>‹#›</a:t>
            </a:fld>
            <a:endParaRPr lang="en-US"/>
          </a:p>
        </p:txBody>
      </p:sp>
    </p:spTree>
    <p:extLst>
      <p:ext uri="{BB962C8B-B14F-4D97-AF65-F5344CB8AC3E}">
        <p14:creationId xmlns:p14="http://schemas.microsoft.com/office/powerpoint/2010/main" val="35075199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E7E67B-2278-8F82-2630-9676D20016C6}"/>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F0EA98E7-F9EC-F8DE-D9AC-8C8AD7E515C9}"/>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9421166-1BC3-6C01-1C5A-CA83E1AFEE68}"/>
              </a:ext>
            </a:extLst>
          </p:cNvPr>
          <p:cNvSpPr>
            <a:spLocks noGrp="1"/>
          </p:cNvSpPr>
          <p:nvPr>
            <p:ph type="dt" sz="half" idx="10"/>
          </p:nvPr>
        </p:nvSpPr>
        <p:spPr/>
        <p:txBody>
          <a:bodyPr/>
          <a:lstStyle/>
          <a:p>
            <a:fld id="{912BE83D-4665-564E-B705-B81ABA7884D6}" type="datetimeFigureOut">
              <a:rPr lang="en-US" smtClean="0"/>
              <a:t>1/28/26</a:t>
            </a:fld>
            <a:endParaRPr lang="en-US"/>
          </a:p>
        </p:txBody>
      </p:sp>
      <p:sp>
        <p:nvSpPr>
          <p:cNvPr id="5" name="Footer Placeholder 4">
            <a:extLst>
              <a:ext uri="{FF2B5EF4-FFF2-40B4-BE49-F238E27FC236}">
                <a16:creationId xmlns:a16="http://schemas.microsoft.com/office/drawing/2014/main" id="{715B475D-8BF9-336C-C6C6-E9930C13061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F7CD54F-BD71-8F33-6DBC-2224964C99B9}"/>
              </a:ext>
            </a:extLst>
          </p:cNvPr>
          <p:cNvSpPr>
            <a:spLocks noGrp="1"/>
          </p:cNvSpPr>
          <p:nvPr>
            <p:ph type="sldNum" sz="quarter" idx="12"/>
          </p:nvPr>
        </p:nvSpPr>
        <p:spPr/>
        <p:txBody>
          <a:bodyPr/>
          <a:lstStyle/>
          <a:p>
            <a:fld id="{5A0EBE9C-87EA-9D4B-B4C3-70D05830BB6C}" type="slidenum">
              <a:rPr lang="en-US" smtClean="0"/>
              <a:t>‹#›</a:t>
            </a:fld>
            <a:endParaRPr lang="en-US"/>
          </a:p>
        </p:txBody>
      </p:sp>
    </p:spTree>
    <p:extLst>
      <p:ext uri="{BB962C8B-B14F-4D97-AF65-F5344CB8AC3E}">
        <p14:creationId xmlns:p14="http://schemas.microsoft.com/office/powerpoint/2010/main" val="14104932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D02EE1-893F-1C71-340F-7E9021704BD8}"/>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55AB907B-42C1-6EB3-17CB-13B49111D2A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DC82145F-FBFC-36DC-41EE-AA63DEAA086C}"/>
              </a:ext>
            </a:extLst>
          </p:cNvPr>
          <p:cNvSpPr>
            <a:spLocks noGrp="1"/>
          </p:cNvSpPr>
          <p:nvPr>
            <p:ph type="dt" sz="half" idx="10"/>
          </p:nvPr>
        </p:nvSpPr>
        <p:spPr/>
        <p:txBody>
          <a:bodyPr/>
          <a:lstStyle/>
          <a:p>
            <a:fld id="{912BE83D-4665-564E-B705-B81ABA7884D6}" type="datetimeFigureOut">
              <a:rPr lang="en-US" smtClean="0"/>
              <a:t>1/28/26</a:t>
            </a:fld>
            <a:endParaRPr lang="en-US"/>
          </a:p>
        </p:txBody>
      </p:sp>
      <p:sp>
        <p:nvSpPr>
          <p:cNvPr id="5" name="Footer Placeholder 4">
            <a:extLst>
              <a:ext uri="{FF2B5EF4-FFF2-40B4-BE49-F238E27FC236}">
                <a16:creationId xmlns:a16="http://schemas.microsoft.com/office/drawing/2014/main" id="{BEBD965F-0102-4586-C16D-B3D0E484720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0DA60DE-F573-4E9D-566F-B8ADFDD67C2F}"/>
              </a:ext>
            </a:extLst>
          </p:cNvPr>
          <p:cNvSpPr>
            <a:spLocks noGrp="1"/>
          </p:cNvSpPr>
          <p:nvPr>
            <p:ph type="sldNum" sz="quarter" idx="12"/>
          </p:nvPr>
        </p:nvSpPr>
        <p:spPr/>
        <p:txBody>
          <a:bodyPr/>
          <a:lstStyle/>
          <a:p>
            <a:fld id="{5A0EBE9C-87EA-9D4B-B4C3-70D05830BB6C}" type="slidenum">
              <a:rPr lang="en-US" smtClean="0"/>
              <a:t>‹#›</a:t>
            </a:fld>
            <a:endParaRPr lang="en-US"/>
          </a:p>
        </p:txBody>
      </p:sp>
    </p:spTree>
    <p:extLst>
      <p:ext uri="{BB962C8B-B14F-4D97-AF65-F5344CB8AC3E}">
        <p14:creationId xmlns:p14="http://schemas.microsoft.com/office/powerpoint/2010/main" val="2889329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B12FFC-3BA7-FF5B-DD20-CDDDB9D4CBF4}"/>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01A18C83-20EE-DDD9-79F2-C7BFDBEC2251}"/>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4792E2D2-8114-EB4B-CEC7-9F084A3E8BF2}"/>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535CB6D4-3D4D-F3EB-9028-7833BA21ACBC}"/>
              </a:ext>
            </a:extLst>
          </p:cNvPr>
          <p:cNvSpPr>
            <a:spLocks noGrp="1"/>
          </p:cNvSpPr>
          <p:nvPr>
            <p:ph type="dt" sz="half" idx="10"/>
          </p:nvPr>
        </p:nvSpPr>
        <p:spPr/>
        <p:txBody>
          <a:bodyPr/>
          <a:lstStyle/>
          <a:p>
            <a:fld id="{912BE83D-4665-564E-B705-B81ABA7884D6}" type="datetimeFigureOut">
              <a:rPr lang="en-US" smtClean="0"/>
              <a:t>1/28/26</a:t>
            </a:fld>
            <a:endParaRPr lang="en-US"/>
          </a:p>
        </p:txBody>
      </p:sp>
      <p:sp>
        <p:nvSpPr>
          <p:cNvPr id="6" name="Footer Placeholder 5">
            <a:extLst>
              <a:ext uri="{FF2B5EF4-FFF2-40B4-BE49-F238E27FC236}">
                <a16:creationId xmlns:a16="http://schemas.microsoft.com/office/drawing/2014/main" id="{F5C593B4-981D-EDD8-3205-68868ECF683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4B29B01-4610-306F-597E-9C2E252AAA88}"/>
              </a:ext>
            </a:extLst>
          </p:cNvPr>
          <p:cNvSpPr>
            <a:spLocks noGrp="1"/>
          </p:cNvSpPr>
          <p:nvPr>
            <p:ph type="sldNum" sz="quarter" idx="12"/>
          </p:nvPr>
        </p:nvSpPr>
        <p:spPr/>
        <p:txBody>
          <a:bodyPr/>
          <a:lstStyle/>
          <a:p>
            <a:fld id="{5A0EBE9C-87EA-9D4B-B4C3-70D05830BB6C}" type="slidenum">
              <a:rPr lang="en-US" smtClean="0"/>
              <a:t>‹#›</a:t>
            </a:fld>
            <a:endParaRPr lang="en-US"/>
          </a:p>
        </p:txBody>
      </p:sp>
    </p:spTree>
    <p:extLst>
      <p:ext uri="{BB962C8B-B14F-4D97-AF65-F5344CB8AC3E}">
        <p14:creationId xmlns:p14="http://schemas.microsoft.com/office/powerpoint/2010/main" val="9762496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E4E1D4-6537-18DA-825C-63B9C1513A10}"/>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316229E1-E7BC-BD55-CE37-A7D7B4C26BA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3F994751-2719-D358-4C71-496E4CCD10D9}"/>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F01CC556-32AE-1782-140A-D481C483241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5D492A01-68A6-F9BF-CEAB-23F04907096D}"/>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DF020A99-E418-C091-5638-4D35BF570111}"/>
              </a:ext>
            </a:extLst>
          </p:cNvPr>
          <p:cNvSpPr>
            <a:spLocks noGrp="1"/>
          </p:cNvSpPr>
          <p:nvPr>
            <p:ph type="dt" sz="half" idx="10"/>
          </p:nvPr>
        </p:nvSpPr>
        <p:spPr/>
        <p:txBody>
          <a:bodyPr/>
          <a:lstStyle/>
          <a:p>
            <a:fld id="{912BE83D-4665-564E-B705-B81ABA7884D6}" type="datetimeFigureOut">
              <a:rPr lang="en-US" smtClean="0"/>
              <a:t>1/28/26</a:t>
            </a:fld>
            <a:endParaRPr lang="en-US"/>
          </a:p>
        </p:txBody>
      </p:sp>
      <p:sp>
        <p:nvSpPr>
          <p:cNvPr id="8" name="Footer Placeholder 7">
            <a:extLst>
              <a:ext uri="{FF2B5EF4-FFF2-40B4-BE49-F238E27FC236}">
                <a16:creationId xmlns:a16="http://schemas.microsoft.com/office/drawing/2014/main" id="{44A65907-9DDC-12F8-EEDE-DCD752F8750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FE5BEBA-2C6B-78CC-5075-544DC6D648BF}"/>
              </a:ext>
            </a:extLst>
          </p:cNvPr>
          <p:cNvSpPr>
            <a:spLocks noGrp="1"/>
          </p:cNvSpPr>
          <p:nvPr>
            <p:ph type="sldNum" sz="quarter" idx="12"/>
          </p:nvPr>
        </p:nvSpPr>
        <p:spPr/>
        <p:txBody>
          <a:bodyPr/>
          <a:lstStyle/>
          <a:p>
            <a:fld id="{5A0EBE9C-87EA-9D4B-B4C3-70D05830BB6C}" type="slidenum">
              <a:rPr lang="en-US" smtClean="0"/>
              <a:t>‹#›</a:t>
            </a:fld>
            <a:endParaRPr lang="en-US"/>
          </a:p>
        </p:txBody>
      </p:sp>
    </p:spTree>
    <p:extLst>
      <p:ext uri="{BB962C8B-B14F-4D97-AF65-F5344CB8AC3E}">
        <p14:creationId xmlns:p14="http://schemas.microsoft.com/office/powerpoint/2010/main" val="23313744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D5750C-113E-CD53-D090-FCB43E646DF3}"/>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2F67571F-995E-48BE-D8E7-29DEE2AD8DAD}"/>
              </a:ext>
            </a:extLst>
          </p:cNvPr>
          <p:cNvSpPr>
            <a:spLocks noGrp="1"/>
          </p:cNvSpPr>
          <p:nvPr>
            <p:ph type="dt" sz="half" idx="10"/>
          </p:nvPr>
        </p:nvSpPr>
        <p:spPr/>
        <p:txBody>
          <a:bodyPr/>
          <a:lstStyle/>
          <a:p>
            <a:fld id="{912BE83D-4665-564E-B705-B81ABA7884D6}" type="datetimeFigureOut">
              <a:rPr lang="en-US" smtClean="0"/>
              <a:t>1/28/26</a:t>
            </a:fld>
            <a:endParaRPr lang="en-US"/>
          </a:p>
        </p:txBody>
      </p:sp>
      <p:sp>
        <p:nvSpPr>
          <p:cNvPr id="4" name="Footer Placeholder 3">
            <a:extLst>
              <a:ext uri="{FF2B5EF4-FFF2-40B4-BE49-F238E27FC236}">
                <a16:creationId xmlns:a16="http://schemas.microsoft.com/office/drawing/2014/main" id="{AEE78687-27C4-461E-3F28-111A18E42BE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5188F71-7CF9-E101-2E9F-379A769790E7}"/>
              </a:ext>
            </a:extLst>
          </p:cNvPr>
          <p:cNvSpPr>
            <a:spLocks noGrp="1"/>
          </p:cNvSpPr>
          <p:nvPr>
            <p:ph type="sldNum" sz="quarter" idx="12"/>
          </p:nvPr>
        </p:nvSpPr>
        <p:spPr/>
        <p:txBody>
          <a:bodyPr/>
          <a:lstStyle/>
          <a:p>
            <a:fld id="{5A0EBE9C-87EA-9D4B-B4C3-70D05830BB6C}" type="slidenum">
              <a:rPr lang="en-US" smtClean="0"/>
              <a:t>‹#›</a:t>
            </a:fld>
            <a:endParaRPr lang="en-US"/>
          </a:p>
        </p:txBody>
      </p:sp>
    </p:spTree>
    <p:extLst>
      <p:ext uri="{BB962C8B-B14F-4D97-AF65-F5344CB8AC3E}">
        <p14:creationId xmlns:p14="http://schemas.microsoft.com/office/powerpoint/2010/main" val="2852988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E58CEA8-1F96-8FE0-4CE5-1E80E9AEBADA}"/>
              </a:ext>
            </a:extLst>
          </p:cNvPr>
          <p:cNvSpPr>
            <a:spLocks noGrp="1"/>
          </p:cNvSpPr>
          <p:nvPr>
            <p:ph type="dt" sz="half" idx="10"/>
          </p:nvPr>
        </p:nvSpPr>
        <p:spPr/>
        <p:txBody>
          <a:bodyPr/>
          <a:lstStyle/>
          <a:p>
            <a:fld id="{912BE83D-4665-564E-B705-B81ABA7884D6}" type="datetimeFigureOut">
              <a:rPr lang="en-US" smtClean="0"/>
              <a:t>1/28/26</a:t>
            </a:fld>
            <a:endParaRPr lang="en-US"/>
          </a:p>
        </p:txBody>
      </p:sp>
      <p:sp>
        <p:nvSpPr>
          <p:cNvPr id="3" name="Footer Placeholder 2">
            <a:extLst>
              <a:ext uri="{FF2B5EF4-FFF2-40B4-BE49-F238E27FC236}">
                <a16:creationId xmlns:a16="http://schemas.microsoft.com/office/drawing/2014/main" id="{7860E77D-A74C-B67E-A71A-55DDCEF1648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2B7B55B-58EC-4A6B-7A2A-44CB917C08D9}"/>
              </a:ext>
            </a:extLst>
          </p:cNvPr>
          <p:cNvSpPr>
            <a:spLocks noGrp="1"/>
          </p:cNvSpPr>
          <p:nvPr>
            <p:ph type="sldNum" sz="quarter" idx="12"/>
          </p:nvPr>
        </p:nvSpPr>
        <p:spPr/>
        <p:txBody>
          <a:bodyPr/>
          <a:lstStyle/>
          <a:p>
            <a:fld id="{5A0EBE9C-87EA-9D4B-B4C3-70D05830BB6C}" type="slidenum">
              <a:rPr lang="en-US" smtClean="0"/>
              <a:t>‹#›</a:t>
            </a:fld>
            <a:endParaRPr lang="en-US"/>
          </a:p>
        </p:txBody>
      </p:sp>
    </p:spTree>
    <p:extLst>
      <p:ext uri="{BB962C8B-B14F-4D97-AF65-F5344CB8AC3E}">
        <p14:creationId xmlns:p14="http://schemas.microsoft.com/office/powerpoint/2010/main" val="3469276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076A2-C758-2F60-1498-7A010084017B}"/>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7F630E4D-4F2E-72BF-4309-CB578D6ED14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A8D0C2EB-2DE9-05AB-A46C-55250BDBF70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77C0D788-F2ED-1F60-7EF8-904728A35519}"/>
              </a:ext>
            </a:extLst>
          </p:cNvPr>
          <p:cNvSpPr>
            <a:spLocks noGrp="1"/>
          </p:cNvSpPr>
          <p:nvPr>
            <p:ph type="dt" sz="half" idx="10"/>
          </p:nvPr>
        </p:nvSpPr>
        <p:spPr/>
        <p:txBody>
          <a:bodyPr/>
          <a:lstStyle/>
          <a:p>
            <a:fld id="{912BE83D-4665-564E-B705-B81ABA7884D6}" type="datetimeFigureOut">
              <a:rPr lang="en-US" smtClean="0"/>
              <a:t>1/28/26</a:t>
            </a:fld>
            <a:endParaRPr lang="en-US"/>
          </a:p>
        </p:txBody>
      </p:sp>
      <p:sp>
        <p:nvSpPr>
          <p:cNvPr id="6" name="Footer Placeholder 5">
            <a:extLst>
              <a:ext uri="{FF2B5EF4-FFF2-40B4-BE49-F238E27FC236}">
                <a16:creationId xmlns:a16="http://schemas.microsoft.com/office/drawing/2014/main" id="{52C5FBDE-A680-CA6D-DA84-CBB96253C9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83BCA76-3C37-677A-E03B-328005E1947E}"/>
              </a:ext>
            </a:extLst>
          </p:cNvPr>
          <p:cNvSpPr>
            <a:spLocks noGrp="1"/>
          </p:cNvSpPr>
          <p:nvPr>
            <p:ph type="sldNum" sz="quarter" idx="12"/>
          </p:nvPr>
        </p:nvSpPr>
        <p:spPr/>
        <p:txBody>
          <a:bodyPr/>
          <a:lstStyle/>
          <a:p>
            <a:fld id="{5A0EBE9C-87EA-9D4B-B4C3-70D05830BB6C}" type="slidenum">
              <a:rPr lang="en-US" smtClean="0"/>
              <a:t>‹#›</a:t>
            </a:fld>
            <a:endParaRPr lang="en-US"/>
          </a:p>
        </p:txBody>
      </p:sp>
    </p:spTree>
    <p:extLst>
      <p:ext uri="{BB962C8B-B14F-4D97-AF65-F5344CB8AC3E}">
        <p14:creationId xmlns:p14="http://schemas.microsoft.com/office/powerpoint/2010/main" val="35901759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6345B2-CAF5-A55A-7326-61CF82659481}"/>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6A55BA39-CF76-934B-F354-DAD69D3CB32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2954070-FF0A-D441-F476-984439575BD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EBE409FB-AFC1-6327-E1FB-5740D1A84DAF}"/>
              </a:ext>
            </a:extLst>
          </p:cNvPr>
          <p:cNvSpPr>
            <a:spLocks noGrp="1"/>
          </p:cNvSpPr>
          <p:nvPr>
            <p:ph type="dt" sz="half" idx="10"/>
          </p:nvPr>
        </p:nvSpPr>
        <p:spPr/>
        <p:txBody>
          <a:bodyPr/>
          <a:lstStyle/>
          <a:p>
            <a:fld id="{912BE83D-4665-564E-B705-B81ABA7884D6}" type="datetimeFigureOut">
              <a:rPr lang="en-US" smtClean="0"/>
              <a:t>1/28/26</a:t>
            </a:fld>
            <a:endParaRPr lang="en-US"/>
          </a:p>
        </p:txBody>
      </p:sp>
      <p:sp>
        <p:nvSpPr>
          <p:cNvPr id="6" name="Footer Placeholder 5">
            <a:extLst>
              <a:ext uri="{FF2B5EF4-FFF2-40B4-BE49-F238E27FC236}">
                <a16:creationId xmlns:a16="http://schemas.microsoft.com/office/drawing/2014/main" id="{7E05B33F-D358-FF8C-EE65-EF61F0681C9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C879C2E-79F8-F068-6D02-61AC57853483}"/>
              </a:ext>
            </a:extLst>
          </p:cNvPr>
          <p:cNvSpPr>
            <a:spLocks noGrp="1"/>
          </p:cNvSpPr>
          <p:nvPr>
            <p:ph type="sldNum" sz="quarter" idx="12"/>
          </p:nvPr>
        </p:nvSpPr>
        <p:spPr/>
        <p:txBody>
          <a:bodyPr/>
          <a:lstStyle/>
          <a:p>
            <a:fld id="{5A0EBE9C-87EA-9D4B-B4C3-70D05830BB6C}" type="slidenum">
              <a:rPr lang="en-US" smtClean="0"/>
              <a:t>‹#›</a:t>
            </a:fld>
            <a:endParaRPr lang="en-US"/>
          </a:p>
        </p:txBody>
      </p:sp>
    </p:spTree>
    <p:extLst>
      <p:ext uri="{BB962C8B-B14F-4D97-AF65-F5344CB8AC3E}">
        <p14:creationId xmlns:p14="http://schemas.microsoft.com/office/powerpoint/2010/main" val="32685200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F441CE-65A5-7CA6-5EAD-B7F8566B06A9}"/>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544510A6-1BB9-9A24-DE38-0263F61A6BF7}"/>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1961C2F-8166-9A58-6899-EA55BB4B11AA}"/>
              </a:ext>
            </a:extLst>
          </p:cNvPr>
          <p:cNvSpPr>
            <a:spLocks noGrp="1"/>
          </p:cNvSpPr>
          <p:nvPr>
            <p:ph type="dt" sz="half" idx="10"/>
          </p:nvPr>
        </p:nvSpPr>
        <p:spPr/>
        <p:txBody>
          <a:bodyPr/>
          <a:lstStyle/>
          <a:p>
            <a:fld id="{912BE83D-4665-564E-B705-B81ABA7884D6}" type="datetimeFigureOut">
              <a:rPr lang="en-US" smtClean="0"/>
              <a:t>1/28/26</a:t>
            </a:fld>
            <a:endParaRPr lang="en-US"/>
          </a:p>
        </p:txBody>
      </p:sp>
      <p:sp>
        <p:nvSpPr>
          <p:cNvPr id="5" name="Footer Placeholder 4">
            <a:extLst>
              <a:ext uri="{FF2B5EF4-FFF2-40B4-BE49-F238E27FC236}">
                <a16:creationId xmlns:a16="http://schemas.microsoft.com/office/drawing/2014/main" id="{BBE3C822-09B4-892C-8B90-C53CF587905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694D33E-13E7-A39B-B814-6877A92BEE3E}"/>
              </a:ext>
            </a:extLst>
          </p:cNvPr>
          <p:cNvSpPr>
            <a:spLocks noGrp="1"/>
          </p:cNvSpPr>
          <p:nvPr>
            <p:ph type="sldNum" sz="quarter" idx="12"/>
          </p:nvPr>
        </p:nvSpPr>
        <p:spPr/>
        <p:txBody>
          <a:bodyPr/>
          <a:lstStyle/>
          <a:p>
            <a:fld id="{5A0EBE9C-87EA-9D4B-B4C3-70D05830BB6C}" type="slidenum">
              <a:rPr lang="en-US" smtClean="0"/>
              <a:t>‹#›</a:t>
            </a:fld>
            <a:endParaRPr lang="en-US"/>
          </a:p>
        </p:txBody>
      </p:sp>
    </p:spTree>
    <p:extLst>
      <p:ext uri="{BB962C8B-B14F-4D97-AF65-F5344CB8AC3E}">
        <p14:creationId xmlns:p14="http://schemas.microsoft.com/office/powerpoint/2010/main" val="21183789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F3E1A77-2681-A64E-A710-4DCC14EB7C3D}"/>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4C588562-787A-D304-AD14-B618B75D5E18}"/>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B94D05D6-5DD7-E4D2-09B5-ECC1CD783D50}"/>
              </a:ext>
            </a:extLst>
          </p:cNvPr>
          <p:cNvSpPr>
            <a:spLocks noGrp="1"/>
          </p:cNvSpPr>
          <p:nvPr>
            <p:ph type="dt" sz="half" idx="10"/>
          </p:nvPr>
        </p:nvSpPr>
        <p:spPr/>
        <p:txBody>
          <a:bodyPr/>
          <a:lstStyle/>
          <a:p>
            <a:fld id="{912BE83D-4665-564E-B705-B81ABA7884D6}" type="datetimeFigureOut">
              <a:rPr lang="en-US" smtClean="0"/>
              <a:t>1/28/26</a:t>
            </a:fld>
            <a:endParaRPr lang="en-US"/>
          </a:p>
        </p:txBody>
      </p:sp>
      <p:sp>
        <p:nvSpPr>
          <p:cNvPr id="5" name="Footer Placeholder 4">
            <a:extLst>
              <a:ext uri="{FF2B5EF4-FFF2-40B4-BE49-F238E27FC236}">
                <a16:creationId xmlns:a16="http://schemas.microsoft.com/office/drawing/2014/main" id="{D7426009-2B27-A3DC-B7B0-2E3C0646689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067D7E7-3B67-3024-D274-93BB6A9304FE}"/>
              </a:ext>
            </a:extLst>
          </p:cNvPr>
          <p:cNvSpPr>
            <a:spLocks noGrp="1"/>
          </p:cNvSpPr>
          <p:nvPr>
            <p:ph type="sldNum" sz="quarter" idx="12"/>
          </p:nvPr>
        </p:nvSpPr>
        <p:spPr/>
        <p:txBody>
          <a:bodyPr/>
          <a:lstStyle/>
          <a:p>
            <a:fld id="{5A0EBE9C-87EA-9D4B-B4C3-70D05830BB6C}" type="slidenum">
              <a:rPr lang="en-US" smtClean="0"/>
              <a:t>‹#›</a:t>
            </a:fld>
            <a:endParaRPr lang="en-US"/>
          </a:p>
        </p:txBody>
      </p:sp>
    </p:spTree>
    <p:extLst>
      <p:ext uri="{BB962C8B-B14F-4D97-AF65-F5344CB8AC3E}">
        <p14:creationId xmlns:p14="http://schemas.microsoft.com/office/powerpoint/2010/main" val="20264142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E3B29F2-BABC-23D4-ABF4-F5EA852F99F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F79E2DF3-E3D2-04F3-BA1B-88EF71D297D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576831F-0CD5-A1DF-869F-62F38CB5B42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12BE83D-4665-564E-B705-B81ABA7884D6}" type="datetimeFigureOut">
              <a:rPr lang="en-US" smtClean="0"/>
              <a:t>1/28/26</a:t>
            </a:fld>
            <a:endParaRPr lang="en-US"/>
          </a:p>
        </p:txBody>
      </p:sp>
      <p:sp>
        <p:nvSpPr>
          <p:cNvPr id="5" name="Footer Placeholder 4">
            <a:extLst>
              <a:ext uri="{FF2B5EF4-FFF2-40B4-BE49-F238E27FC236}">
                <a16:creationId xmlns:a16="http://schemas.microsoft.com/office/drawing/2014/main" id="{56BA71E4-0465-B0B8-D510-E01EC795B9E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F7955E1-98C2-3B46-96B1-73A5B100C31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A0EBE9C-87EA-9D4B-B4C3-70D05830BB6C}" type="slidenum">
              <a:rPr lang="en-US" smtClean="0"/>
              <a:t>‹#›</a:t>
            </a:fld>
            <a:endParaRPr lang="en-US"/>
          </a:p>
        </p:txBody>
      </p:sp>
    </p:spTree>
    <p:extLst>
      <p:ext uri="{BB962C8B-B14F-4D97-AF65-F5344CB8AC3E}">
        <p14:creationId xmlns:p14="http://schemas.microsoft.com/office/powerpoint/2010/main" val="11581769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F05298-3B0C-8E9D-1061-5AB4769BA8E6}"/>
              </a:ext>
            </a:extLst>
          </p:cNvPr>
          <p:cNvSpPr>
            <a:spLocks noGrp="1"/>
          </p:cNvSpPr>
          <p:nvPr>
            <p:ph type="ctrTitle"/>
          </p:nvPr>
        </p:nvSpPr>
        <p:spPr/>
        <p:txBody>
          <a:bodyPr>
            <a:normAutofit fontScale="90000"/>
          </a:bodyPr>
          <a:lstStyle/>
          <a:p>
            <a:r>
              <a:rPr lang="en-IN" b="1" dirty="0"/>
              <a:t>Beyond Static RAG—Building Autonomous Agents</a:t>
            </a:r>
            <a:endParaRPr lang="en-US" b="1" dirty="0"/>
          </a:p>
        </p:txBody>
      </p:sp>
      <p:sp>
        <p:nvSpPr>
          <p:cNvPr id="3" name="Subtitle 2">
            <a:extLst>
              <a:ext uri="{FF2B5EF4-FFF2-40B4-BE49-F238E27FC236}">
                <a16:creationId xmlns:a16="http://schemas.microsoft.com/office/drawing/2014/main" id="{A3A15FBE-316B-9D83-3AB4-39407AB5542B}"/>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9429495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A79BF1-3CBA-C6F2-5645-57E2D4AF68EA}"/>
              </a:ext>
            </a:extLst>
          </p:cNvPr>
          <p:cNvSpPr>
            <a:spLocks noGrp="1"/>
          </p:cNvSpPr>
          <p:nvPr>
            <p:ph type="title"/>
          </p:nvPr>
        </p:nvSpPr>
        <p:spPr/>
        <p:txBody>
          <a:bodyPr/>
          <a:lstStyle/>
          <a:p>
            <a:pPr algn="ctr"/>
            <a:r>
              <a:rPr lang="en-IN" b="1" dirty="0"/>
              <a:t>From Retrieval to Agency</a:t>
            </a:r>
            <a:endParaRPr lang="en-US" b="1" dirty="0"/>
          </a:p>
        </p:txBody>
      </p:sp>
      <p:sp>
        <p:nvSpPr>
          <p:cNvPr id="3" name="Content Placeholder 2">
            <a:extLst>
              <a:ext uri="{FF2B5EF4-FFF2-40B4-BE49-F238E27FC236}">
                <a16:creationId xmlns:a16="http://schemas.microsoft.com/office/drawing/2014/main" id="{09CC5CC5-0099-1B1A-0114-069EBE046615}"/>
              </a:ext>
            </a:extLst>
          </p:cNvPr>
          <p:cNvSpPr>
            <a:spLocks noGrp="1"/>
          </p:cNvSpPr>
          <p:nvPr>
            <p:ph idx="1"/>
          </p:nvPr>
        </p:nvSpPr>
        <p:spPr/>
        <p:txBody>
          <a:bodyPr>
            <a:normAutofit fontScale="85000" lnSpcReduction="20000"/>
          </a:bodyPr>
          <a:lstStyle/>
          <a:p>
            <a:pPr marL="0" lvl="0" indent="0" eaLnBrk="0" fontAlgn="base" hangingPunct="0">
              <a:lnSpc>
                <a:spcPct val="100000"/>
              </a:lnSpc>
              <a:spcBef>
                <a:spcPct val="0"/>
              </a:spcBef>
              <a:spcAft>
                <a:spcPct val="0"/>
              </a:spcAft>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lvl="0" indent="0" eaLnBrk="0" fontAlgn="base" hangingPunct="0">
              <a:lnSpc>
                <a:spcPct val="100000"/>
              </a:lnSpc>
              <a:spcBef>
                <a:spcPct val="0"/>
              </a:spcBef>
              <a:spcAft>
                <a:spcPct val="0"/>
              </a:spcAft>
              <a:buFontTx/>
              <a:buChar char="•"/>
            </a:pPr>
            <a:r>
              <a:rPr kumimoji="0" lang="en-US" altLang="en-US" sz="1800" b="1" i="0" u="none" strike="noStrike" cap="none" normalizeH="0" baseline="0" dirty="0">
                <a:ln>
                  <a:noFill/>
                </a:ln>
                <a:solidFill>
                  <a:schemeClr val="tx1"/>
                </a:solidFill>
                <a:effectLst/>
                <a:latin typeface="Arial" panose="020B0604020202020204" pitchFamily="34" charset="0"/>
              </a:rPr>
              <a:t>The Evolution:</a:t>
            </a:r>
            <a:r>
              <a:rPr kumimoji="0" lang="en-US" altLang="en-US" sz="1800" b="0" i="0" u="none" strike="noStrike" cap="none" normalizeH="0" baseline="0" dirty="0">
                <a:ln>
                  <a:noFill/>
                </a:ln>
                <a:solidFill>
                  <a:schemeClr val="tx1"/>
                </a:solidFill>
                <a:effectLst/>
                <a:latin typeface="Arial" panose="020B0604020202020204" pitchFamily="34" charset="0"/>
              </a:rPr>
              <a:t> We started with RAG to solve context limitations. Now, we move to </a:t>
            </a:r>
            <a:r>
              <a:rPr kumimoji="0" lang="en-US" altLang="en-US" sz="1800" b="1" i="0" u="none" strike="noStrike" cap="none" normalizeH="0" baseline="0" dirty="0">
                <a:ln>
                  <a:noFill/>
                </a:ln>
                <a:solidFill>
                  <a:schemeClr val="tx1"/>
                </a:solidFill>
                <a:effectLst/>
                <a:latin typeface="Arial" panose="020B0604020202020204" pitchFamily="34" charset="0"/>
              </a:rPr>
              <a:t>Agents</a:t>
            </a:r>
            <a:r>
              <a:rPr kumimoji="0" lang="en-US" altLang="en-US" sz="1800" b="0" i="0" u="none" strike="noStrike" cap="none" normalizeH="0" baseline="0" dirty="0">
                <a:ln>
                  <a:noFill/>
                </a:ln>
                <a:solidFill>
                  <a:schemeClr val="tx1"/>
                </a:solidFill>
                <a:effectLst/>
                <a:latin typeface="Arial" panose="020B0604020202020204" pitchFamily="34" charset="0"/>
              </a:rPr>
              <a:t>—systems that can interact with the world.</a:t>
            </a:r>
          </a:p>
          <a:p>
            <a:pPr marL="0" lvl="0" indent="0" eaLnBrk="0" fontAlgn="base" hangingPunct="0">
              <a:lnSpc>
                <a:spcPct val="100000"/>
              </a:lnSpc>
              <a:spcBef>
                <a:spcPct val="0"/>
              </a:spcBef>
              <a:spcAft>
                <a:spcPct val="0"/>
              </a:spcAft>
              <a:buFontTx/>
              <a:buChar char="•"/>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lvl="0" indent="0" eaLnBrk="0" fontAlgn="base" hangingPunct="0">
              <a:lnSpc>
                <a:spcPct val="100000"/>
              </a:lnSpc>
              <a:spcBef>
                <a:spcPct val="0"/>
              </a:spcBef>
              <a:spcAft>
                <a:spcPct val="0"/>
              </a:spcAft>
              <a:buFontTx/>
              <a:buChar char="•"/>
            </a:pPr>
            <a:r>
              <a:rPr kumimoji="0" lang="en-US" altLang="en-US" sz="1800" b="1" i="0" u="none" strike="noStrike" cap="none" normalizeH="0" baseline="0" dirty="0">
                <a:ln>
                  <a:noFill/>
                </a:ln>
                <a:solidFill>
                  <a:schemeClr val="tx1"/>
                </a:solidFill>
                <a:effectLst/>
                <a:latin typeface="Arial" panose="020B0604020202020204" pitchFamily="34" charset="0"/>
              </a:rPr>
              <a:t>The Goal:</a:t>
            </a:r>
            <a:r>
              <a:rPr kumimoji="0" lang="en-US" altLang="en-US" sz="1800" b="0" i="0" u="none" strike="noStrike" cap="none" normalizeH="0" baseline="0" dirty="0">
                <a:ln>
                  <a:noFill/>
                </a:ln>
                <a:solidFill>
                  <a:schemeClr val="tx1"/>
                </a:solidFill>
                <a:effectLst/>
                <a:latin typeface="Arial" panose="020B0604020202020204" pitchFamily="34" charset="0"/>
              </a:rPr>
              <a:t> To move from models that just </a:t>
            </a:r>
            <a:r>
              <a:rPr kumimoji="0" lang="en-US" altLang="en-US" sz="1800" b="0" i="1" u="none" strike="noStrike" cap="none" normalizeH="0" baseline="0" dirty="0">
                <a:ln>
                  <a:noFill/>
                </a:ln>
                <a:solidFill>
                  <a:schemeClr val="tx1"/>
                </a:solidFill>
                <a:effectLst/>
                <a:latin typeface="Arial" panose="020B0604020202020204" pitchFamily="34" charset="0"/>
              </a:rPr>
              <a:t>read</a:t>
            </a:r>
            <a:r>
              <a:rPr kumimoji="0" lang="en-US" altLang="en-US" sz="1800" b="0" i="0" u="none" strike="noStrike" cap="none" normalizeH="0" baseline="0" dirty="0">
                <a:ln>
                  <a:noFill/>
                </a:ln>
                <a:solidFill>
                  <a:schemeClr val="tx1"/>
                </a:solidFill>
                <a:effectLst/>
                <a:latin typeface="Arial" panose="020B0604020202020204" pitchFamily="34" charset="0"/>
              </a:rPr>
              <a:t> to models that </a:t>
            </a:r>
            <a:r>
              <a:rPr kumimoji="0" lang="en-US" altLang="en-US" sz="1800" b="0" i="1" u="none" strike="noStrike" cap="none" normalizeH="0" baseline="0" dirty="0">
                <a:ln>
                  <a:noFill/>
                </a:ln>
                <a:solidFill>
                  <a:schemeClr val="tx1"/>
                </a:solidFill>
                <a:effectLst/>
                <a:latin typeface="Arial" panose="020B0604020202020204" pitchFamily="34" charset="0"/>
              </a:rPr>
              <a:t>act</a:t>
            </a:r>
            <a:r>
              <a:rPr kumimoji="0" lang="en-US" altLang="en-US" sz="1800" b="0" i="0" u="none" strike="noStrike" cap="none" normalizeH="0" baseline="0" dirty="0">
                <a:ln>
                  <a:noFill/>
                </a:ln>
                <a:solidFill>
                  <a:schemeClr val="tx1"/>
                </a:solidFill>
                <a:effectLst/>
                <a:latin typeface="Arial" panose="020B0604020202020204" pitchFamily="34" charset="0"/>
              </a:rPr>
              <a:t>—automating tasks like data analysis, coding, and negotiation.</a:t>
            </a:r>
          </a:p>
          <a:p>
            <a:pPr marL="0" lvl="0" indent="0" eaLnBrk="0" fontAlgn="base" hangingPunct="0">
              <a:lnSpc>
                <a:spcPct val="100000"/>
              </a:lnSpc>
              <a:spcBef>
                <a:spcPct val="0"/>
              </a:spcBef>
              <a:spcAft>
                <a:spcPct val="0"/>
              </a:spcAft>
              <a:buFontTx/>
              <a:buChar char="•"/>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lvl="0" indent="0" eaLnBrk="0" fontAlgn="base" hangingPunct="0">
              <a:lnSpc>
                <a:spcPct val="100000"/>
              </a:lnSpc>
              <a:spcBef>
                <a:spcPct val="0"/>
              </a:spcBef>
              <a:spcAft>
                <a:spcPct val="0"/>
              </a:spcAft>
              <a:buFontTx/>
              <a:buChar char="•"/>
            </a:pPr>
            <a:r>
              <a:rPr kumimoji="0" lang="en-US" altLang="en-US" sz="1800" b="1" i="0" u="none" strike="noStrike" cap="none" normalizeH="0" baseline="0" dirty="0">
                <a:ln>
                  <a:noFill/>
                </a:ln>
                <a:solidFill>
                  <a:schemeClr val="tx1"/>
                </a:solidFill>
                <a:effectLst/>
                <a:latin typeface="Arial" panose="020B0604020202020204" pitchFamily="34" charset="0"/>
              </a:rPr>
              <a:t>Core Definition:</a:t>
            </a:r>
            <a:r>
              <a:rPr kumimoji="0" lang="en-US" altLang="en-US" sz="1800" b="0" i="0" u="none" strike="noStrike" cap="none" normalizeH="0" baseline="0" dirty="0">
                <a:ln>
                  <a:noFill/>
                </a:ln>
                <a:solidFill>
                  <a:schemeClr val="tx1"/>
                </a:solidFill>
                <a:effectLst/>
                <a:latin typeface="Arial" panose="020B0604020202020204" pitchFamily="34" charset="0"/>
              </a:rPr>
              <a:t> An agent is anything that can perceive its environment and act upon it.</a:t>
            </a:r>
          </a:p>
          <a:p>
            <a:pPr marL="0" lvl="0" indent="0" eaLnBrk="0" fontAlgn="base" hangingPunct="0">
              <a:lnSpc>
                <a:spcPct val="100000"/>
              </a:lnSpc>
              <a:spcBef>
                <a:spcPct val="0"/>
              </a:spcBef>
              <a:spcAft>
                <a:spcPct val="0"/>
              </a:spcAft>
              <a:buFontTx/>
              <a:buChar char="•"/>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lvl="0" indent="0" eaLnBrk="0" fontAlgn="base" hangingPunct="0">
              <a:lnSpc>
                <a:spcPct val="100000"/>
              </a:lnSpc>
              <a:spcBef>
                <a:spcPct val="0"/>
              </a:spcBef>
              <a:spcAft>
                <a:spcPct val="0"/>
              </a:spcAft>
              <a:buFontTx/>
              <a:buChar char="•"/>
            </a:pPr>
            <a:r>
              <a:rPr kumimoji="0" lang="en-US" altLang="en-US" sz="1800" b="1" i="0" u="none" strike="noStrike" cap="none" normalizeH="0" baseline="0" dirty="0">
                <a:ln>
                  <a:noFill/>
                </a:ln>
                <a:solidFill>
                  <a:schemeClr val="tx1"/>
                </a:solidFill>
                <a:effectLst/>
                <a:latin typeface="Arial" panose="020B0604020202020204" pitchFamily="34" charset="0"/>
              </a:rPr>
              <a:t>The Stack:</a:t>
            </a:r>
          </a:p>
          <a:p>
            <a:pPr marL="0" lvl="0" indent="0" eaLnBrk="0" fontAlgn="base" hangingPunct="0">
              <a:lnSpc>
                <a:spcPct val="100000"/>
              </a:lnSpc>
              <a:spcBef>
                <a:spcPct val="0"/>
              </a:spcBef>
              <a:spcAft>
                <a:spcPct val="0"/>
              </a:spcAft>
              <a:buFontTx/>
              <a:buChar char="•"/>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457200" lvl="1" indent="0" eaLnBrk="0" fontAlgn="base" hangingPunct="0">
              <a:lnSpc>
                <a:spcPct val="100000"/>
              </a:lnSpc>
              <a:spcBef>
                <a:spcPct val="0"/>
              </a:spcBef>
              <a:spcAft>
                <a:spcPct val="0"/>
              </a:spcAft>
              <a:buFontTx/>
              <a:buAutoNum type="arabicPeriod"/>
            </a:pPr>
            <a:r>
              <a:rPr kumimoji="0" lang="en-US" altLang="en-US" sz="1800" b="1" i="0" u="none" strike="noStrike" cap="none" normalizeH="0" baseline="0" dirty="0">
                <a:ln>
                  <a:noFill/>
                </a:ln>
                <a:solidFill>
                  <a:schemeClr val="tx1"/>
                </a:solidFill>
                <a:effectLst/>
                <a:latin typeface="Arial" panose="020B0604020202020204" pitchFamily="34" charset="0"/>
              </a:rPr>
              <a:t>Environment:</a:t>
            </a:r>
            <a:r>
              <a:rPr kumimoji="0" lang="en-US" altLang="en-US" sz="1800" b="0" i="0" u="none" strike="noStrike" cap="none" normalizeH="0" baseline="0" dirty="0">
                <a:ln>
                  <a:noFill/>
                </a:ln>
                <a:solidFill>
                  <a:schemeClr val="tx1"/>
                </a:solidFill>
                <a:effectLst/>
                <a:latin typeface="Arial" panose="020B0604020202020204" pitchFamily="34" charset="0"/>
              </a:rPr>
              <a:t> The domain (e.g., the internet, a file system, a game) .</a:t>
            </a:r>
          </a:p>
          <a:p>
            <a:pPr marL="457200" lvl="1" indent="0" eaLnBrk="0" fontAlgn="base" hangingPunct="0">
              <a:lnSpc>
                <a:spcPct val="100000"/>
              </a:lnSpc>
              <a:spcBef>
                <a:spcPct val="0"/>
              </a:spcBef>
              <a:spcAft>
                <a:spcPct val="0"/>
              </a:spcAft>
              <a:buFontTx/>
              <a:buAutoNum type="arabicPeriod"/>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457200" lvl="1" indent="0" eaLnBrk="0" fontAlgn="base" hangingPunct="0">
              <a:lnSpc>
                <a:spcPct val="100000"/>
              </a:lnSpc>
              <a:spcBef>
                <a:spcPct val="0"/>
              </a:spcBef>
              <a:spcAft>
                <a:spcPct val="0"/>
              </a:spcAft>
              <a:buFontTx/>
              <a:buAutoNum type="arabicPeriod" startAt="2"/>
            </a:pPr>
            <a:r>
              <a:rPr kumimoji="0" lang="en-US" altLang="en-US" sz="1800" b="1" i="0" u="none" strike="noStrike" cap="none" normalizeH="0" baseline="0" dirty="0">
                <a:ln>
                  <a:noFill/>
                </a:ln>
                <a:solidFill>
                  <a:schemeClr val="tx1"/>
                </a:solidFill>
                <a:effectLst/>
                <a:latin typeface="Arial" panose="020B0604020202020204" pitchFamily="34" charset="0"/>
              </a:rPr>
              <a:t>Tools:</a:t>
            </a:r>
            <a:r>
              <a:rPr kumimoji="0" lang="en-US" altLang="en-US" sz="1800" b="0" i="0" u="none" strike="noStrike" cap="none" normalizeH="0" baseline="0" dirty="0">
                <a:ln>
                  <a:noFill/>
                </a:ln>
                <a:solidFill>
                  <a:schemeClr val="tx1"/>
                </a:solidFill>
                <a:effectLst/>
                <a:latin typeface="Arial" panose="020B0604020202020204" pitchFamily="34" charset="0"/>
              </a:rPr>
              <a:t> The actions the agent can take (e.g., search, SQL execution).</a:t>
            </a:r>
          </a:p>
          <a:p>
            <a:pPr marL="457200" lvl="1" indent="0" eaLnBrk="0" fontAlgn="base" hangingPunct="0">
              <a:lnSpc>
                <a:spcPct val="100000"/>
              </a:lnSpc>
              <a:spcBef>
                <a:spcPct val="0"/>
              </a:spcBef>
              <a:spcAft>
                <a:spcPct val="0"/>
              </a:spcAft>
              <a:buFontTx/>
              <a:buAutoNum type="arabicPeriod" startAt="2"/>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457200" lvl="1" indent="0" eaLnBrk="0" fontAlgn="base" hangingPunct="0">
              <a:lnSpc>
                <a:spcPct val="100000"/>
              </a:lnSpc>
              <a:spcBef>
                <a:spcPct val="0"/>
              </a:spcBef>
              <a:spcAft>
                <a:spcPct val="0"/>
              </a:spcAft>
              <a:buFontTx/>
              <a:buAutoNum type="arabicPeriod" startAt="3"/>
            </a:pPr>
            <a:r>
              <a:rPr kumimoji="0" lang="en-US" altLang="en-US" sz="1800" b="1" i="0" u="none" strike="noStrike" cap="none" normalizeH="0" baseline="0" dirty="0">
                <a:ln>
                  <a:noFill/>
                </a:ln>
                <a:solidFill>
                  <a:schemeClr val="tx1"/>
                </a:solidFill>
                <a:effectLst/>
                <a:latin typeface="Arial" panose="020B0604020202020204" pitchFamily="34" charset="0"/>
              </a:rPr>
              <a:t>Planner:</a:t>
            </a:r>
            <a:r>
              <a:rPr kumimoji="0" lang="en-US" altLang="en-US" sz="1800" b="0" i="0" u="none" strike="noStrike" cap="none" normalizeH="0" baseline="0" dirty="0">
                <a:ln>
                  <a:noFill/>
                </a:ln>
                <a:solidFill>
                  <a:schemeClr val="tx1"/>
                </a:solidFill>
                <a:effectLst/>
                <a:latin typeface="Arial" panose="020B0604020202020204" pitchFamily="34" charset="0"/>
              </a:rPr>
              <a:t> The AI brain that orchestrates the actions.</a:t>
            </a:r>
          </a:p>
          <a:p>
            <a:pPr marL="457200" lvl="1" indent="0" eaLnBrk="0" fontAlgn="base" hangingPunct="0">
              <a:lnSpc>
                <a:spcPct val="100000"/>
              </a:lnSpc>
              <a:spcBef>
                <a:spcPct val="0"/>
              </a:spcBef>
              <a:spcAft>
                <a:spcPct val="0"/>
              </a:spcAf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lvl="0" indent="0" eaLnBrk="0" fontAlgn="base" hangingPunct="0">
              <a:lnSpc>
                <a:spcPct val="100000"/>
              </a:lnSpc>
              <a:spcBef>
                <a:spcPct val="0"/>
              </a:spcBef>
              <a:spcAft>
                <a:spcPct val="0"/>
              </a:spcAft>
              <a:buNone/>
            </a:pPr>
            <a:r>
              <a:rPr kumimoji="0" lang="en-US" altLang="en-US" sz="1800" b="1" i="0" u="none" strike="noStrike" cap="none" normalizeH="0" baseline="0" dirty="0">
                <a:ln>
                  <a:noFill/>
                </a:ln>
                <a:solidFill>
                  <a:schemeClr val="tx1"/>
                </a:solidFill>
                <a:effectLst/>
                <a:latin typeface="Arial" panose="020B0604020202020204" pitchFamily="34" charset="0"/>
              </a:rPr>
              <a:t>Speaker Notes:</a:t>
            </a:r>
            <a:r>
              <a:rPr kumimoji="0" lang="en-US" altLang="en-US" sz="1800" b="0" i="0" u="none" strike="noStrike" cap="none" normalizeH="0" baseline="0" dirty="0">
                <a:ln>
                  <a:noFill/>
                </a:ln>
                <a:solidFill>
                  <a:schemeClr val="tx1"/>
                </a:solidFill>
                <a:effectLst/>
                <a:latin typeface="Arial" panose="020B0604020202020204" pitchFamily="34" charset="0"/>
              </a:rPr>
              <a:t> "Welcome back. In the first half of Chapter 6, we discussed RAG as a way to give models memory. But RAG is just one piece of the puzzle. Today, we explore </a:t>
            </a:r>
            <a:r>
              <a:rPr kumimoji="0" lang="en-US" altLang="en-US" sz="1800" b="1" i="0" u="none" strike="noStrike" cap="none" normalizeH="0" baseline="0" dirty="0">
                <a:ln>
                  <a:noFill/>
                </a:ln>
                <a:solidFill>
                  <a:schemeClr val="tx1"/>
                </a:solidFill>
                <a:effectLst/>
                <a:latin typeface="Arial" panose="020B0604020202020204" pitchFamily="34" charset="0"/>
              </a:rPr>
              <a:t>Agents</a:t>
            </a:r>
            <a:r>
              <a:rPr kumimoji="0" lang="en-US" altLang="en-US" sz="1800" b="0" i="0" u="none" strike="noStrike" cap="none" normalizeH="0" baseline="0" dirty="0">
                <a:ln>
                  <a:noFill/>
                </a:ln>
                <a:solidFill>
                  <a:schemeClr val="tx1"/>
                </a:solidFill>
                <a:effectLst/>
                <a:latin typeface="Arial" panose="020B0604020202020204" pitchFamily="34" charset="0"/>
              </a:rPr>
              <a:t>. If RAG is a scholar reading a book, an Agent is an intern with a laptop and a credit card. It doesn't just know things; it </a:t>
            </a:r>
            <a:r>
              <a:rPr kumimoji="0" lang="en-US" altLang="en-US" sz="1800" b="0" i="1" u="none" strike="noStrike" cap="none" normalizeH="0" baseline="0" dirty="0">
                <a:ln>
                  <a:noFill/>
                </a:ln>
                <a:solidFill>
                  <a:schemeClr val="tx1"/>
                </a:solidFill>
                <a:effectLst/>
                <a:latin typeface="Arial" panose="020B0604020202020204" pitchFamily="34" charset="0"/>
              </a:rPr>
              <a:t>does</a:t>
            </a:r>
            <a:r>
              <a:rPr kumimoji="0" lang="en-US" altLang="en-US" sz="1800" b="0" i="0" u="none" strike="noStrike" cap="none" normalizeH="0" baseline="0" dirty="0">
                <a:ln>
                  <a:noFill/>
                </a:ln>
                <a:solidFill>
                  <a:schemeClr val="tx1"/>
                </a:solidFill>
                <a:effectLst/>
                <a:latin typeface="Arial" panose="020B0604020202020204" pitchFamily="34" charset="0"/>
              </a:rPr>
              <a:t> things. We will explore how to build these systems, how they plan, and crucially, where they fail."</a:t>
            </a:r>
          </a:p>
          <a:p>
            <a:endParaRPr lang="en-US" dirty="0"/>
          </a:p>
        </p:txBody>
      </p:sp>
    </p:spTree>
    <p:extLst>
      <p:ext uri="{BB962C8B-B14F-4D97-AF65-F5344CB8AC3E}">
        <p14:creationId xmlns:p14="http://schemas.microsoft.com/office/powerpoint/2010/main" val="15803730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5BA8A2-20A2-14C1-5F51-789E6E7BDA73}"/>
              </a:ext>
            </a:extLst>
          </p:cNvPr>
          <p:cNvSpPr>
            <a:spLocks noGrp="1"/>
          </p:cNvSpPr>
          <p:nvPr>
            <p:ph type="title"/>
          </p:nvPr>
        </p:nvSpPr>
        <p:spPr/>
        <p:txBody>
          <a:bodyPr/>
          <a:lstStyle/>
          <a:p>
            <a:r>
              <a:rPr lang="en-IN" b="1" dirty="0"/>
              <a:t>RAG for Structured Data (The SQL Agent)</a:t>
            </a:r>
            <a:endParaRPr lang="en-US" b="1" dirty="0"/>
          </a:p>
        </p:txBody>
      </p:sp>
      <p:sp>
        <p:nvSpPr>
          <p:cNvPr id="3" name="Content Placeholder 2">
            <a:extLst>
              <a:ext uri="{FF2B5EF4-FFF2-40B4-BE49-F238E27FC236}">
                <a16:creationId xmlns:a16="http://schemas.microsoft.com/office/drawing/2014/main" id="{497F691D-DA10-0B75-E5A9-EAE9F8008F5A}"/>
              </a:ext>
            </a:extLst>
          </p:cNvPr>
          <p:cNvSpPr>
            <a:spLocks noGrp="1"/>
          </p:cNvSpPr>
          <p:nvPr>
            <p:ph idx="1"/>
          </p:nvPr>
        </p:nvSpPr>
        <p:spPr/>
        <p:txBody>
          <a:bodyPr>
            <a:normAutofit fontScale="85000" lnSpcReduction="20000"/>
          </a:bodyPr>
          <a:lstStyle/>
          <a:p>
            <a:pPr marL="0" lvl="0" indent="0" eaLnBrk="0" fontAlgn="base" hangingPunct="0">
              <a:lnSpc>
                <a:spcPct val="100000"/>
              </a:lnSpc>
              <a:spcBef>
                <a:spcPct val="0"/>
              </a:spcBef>
              <a:spcAft>
                <a:spcPct val="0"/>
              </a:spcAft>
              <a:buNone/>
            </a:pPr>
            <a:r>
              <a:rPr kumimoji="0" lang="en-US" altLang="en-US" sz="1800" b="1" i="0" u="none" strike="noStrike" cap="none" normalizeH="0" baseline="0" dirty="0">
                <a:ln>
                  <a:noFill/>
                </a:ln>
                <a:solidFill>
                  <a:schemeClr val="tx1"/>
                </a:solidFill>
                <a:effectLst/>
                <a:latin typeface="Google Sans Text"/>
              </a:rPr>
              <a:t>Visual:</a:t>
            </a:r>
            <a:r>
              <a:rPr kumimoji="0" lang="en-US" altLang="en-US" sz="1800" b="0" i="0" u="none" strike="noStrike" cap="none" normalizeH="0" baseline="0" dirty="0">
                <a:ln>
                  <a:noFill/>
                </a:ln>
                <a:solidFill>
                  <a:schemeClr val="tx1"/>
                </a:solidFill>
                <a:effectLst/>
                <a:latin typeface="Google Sans Text"/>
              </a:rPr>
              <a:t> A diagram showing User Query -&gt; Text-to-SQL  -&gt;  Database -&gt;  Response.</a:t>
            </a:r>
          </a:p>
          <a:p>
            <a:pPr marL="0" lvl="0" indent="0" eaLnBrk="0" fontAlgn="base" hangingPunct="0">
              <a:lnSpc>
                <a:spcPct val="100000"/>
              </a:lnSpc>
              <a:spcBef>
                <a:spcPct val="0"/>
              </a:spcBef>
              <a:spcAft>
                <a:spcPct val="0"/>
              </a:spcAft>
              <a:buNone/>
            </a:pPr>
            <a:endParaRPr kumimoji="0" lang="en-US" altLang="en-US" sz="1800" b="0" i="0" u="none" strike="noStrike" cap="none" normalizeH="0" baseline="0" dirty="0">
              <a:ln>
                <a:noFill/>
              </a:ln>
              <a:solidFill>
                <a:schemeClr val="tx1"/>
              </a:solidFill>
              <a:effectLst/>
            </a:endParaRPr>
          </a:p>
          <a:p>
            <a:pPr marL="0" lvl="0" indent="0" eaLnBrk="0" fontAlgn="base" hangingPunct="0">
              <a:lnSpc>
                <a:spcPct val="100000"/>
              </a:lnSpc>
              <a:spcBef>
                <a:spcPct val="0"/>
              </a:spcBef>
              <a:spcAft>
                <a:spcPct val="0"/>
              </a:spcAft>
              <a:buFontTx/>
              <a:buChar char="•"/>
            </a:pPr>
            <a:r>
              <a:rPr kumimoji="0" lang="en-US" altLang="en-US" sz="1800" b="1" i="0" u="none" strike="noStrike" cap="none" normalizeH="0" baseline="0" dirty="0">
                <a:ln>
                  <a:noFill/>
                </a:ln>
                <a:solidFill>
                  <a:schemeClr val="tx1"/>
                </a:solidFill>
                <a:effectLst/>
                <a:latin typeface="Google Sans Text"/>
              </a:rPr>
              <a:t>The Challenge:</a:t>
            </a:r>
            <a:r>
              <a:rPr kumimoji="0" lang="en-US" altLang="en-US" sz="1800" b="0" i="0" u="none" strike="noStrike" cap="none" normalizeH="0" baseline="0" dirty="0">
                <a:ln>
                  <a:noFill/>
                </a:ln>
                <a:solidFill>
                  <a:schemeClr val="tx1"/>
                </a:solidFill>
                <a:effectLst/>
                <a:latin typeface="Google Sans Text"/>
              </a:rPr>
              <a:t> Most enterprise data isn't text; it's </a:t>
            </a:r>
            <a:r>
              <a:rPr kumimoji="0" lang="en-US" altLang="en-US" sz="1800" b="1" i="0" u="none" strike="noStrike" cap="none" normalizeH="0" baseline="0" dirty="0">
                <a:ln>
                  <a:noFill/>
                </a:ln>
                <a:solidFill>
                  <a:schemeClr val="tx1"/>
                </a:solidFill>
                <a:effectLst/>
                <a:latin typeface="Google Sans Text"/>
              </a:rPr>
              <a:t>tabular</a:t>
            </a:r>
            <a:r>
              <a:rPr kumimoji="0" lang="en-US" altLang="en-US" sz="1800" b="0" i="0" u="none" strike="noStrike" cap="none" normalizeH="0" baseline="0" dirty="0">
                <a:ln>
                  <a:noFill/>
                </a:ln>
                <a:solidFill>
                  <a:schemeClr val="tx1"/>
                </a:solidFill>
                <a:effectLst/>
                <a:latin typeface="Google Sans Text"/>
              </a:rPr>
              <a:t> (SQL tables, Excel sheets).</a:t>
            </a:r>
          </a:p>
          <a:p>
            <a:pPr marL="0" lvl="0" indent="0" eaLnBrk="0" fontAlgn="base" hangingPunct="0">
              <a:lnSpc>
                <a:spcPct val="100000"/>
              </a:lnSpc>
              <a:spcBef>
                <a:spcPct val="0"/>
              </a:spcBef>
              <a:spcAft>
                <a:spcPct val="0"/>
              </a:spcAft>
              <a:buFontTx/>
              <a:buChar char="•"/>
            </a:pPr>
            <a:endParaRPr kumimoji="0" lang="en-US" altLang="en-US" sz="1800" b="0" i="0" u="none" strike="noStrike" cap="none" normalizeH="0" baseline="0" dirty="0">
              <a:ln>
                <a:noFill/>
              </a:ln>
              <a:solidFill>
                <a:schemeClr val="tx1"/>
              </a:solidFill>
              <a:effectLst/>
              <a:latin typeface="Google Sans Text"/>
            </a:endParaRPr>
          </a:p>
          <a:p>
            <a:pPr marL="0" lvl="0" indent="0" eaLnBrk="0" fontAlgn="base" hangingPunct="0">
              <a:lnSpc>
                <a:spcPct val="100000"/>
              </a:lnSpc>
              <a:spcBef>
                <a:spcPct val="0"/>
              </a:spcBef>
              <a:spcAft>
                <a:spcPct val="0"/>
              </a:spcAft>
              <a:buFontTx/>
              <a:buChar char="•"/>
            </a:pPr>
            <a:r>
              <a:rPr kumimoji="0" lang="en-US" altLang="en-US" sz="1800" b="1" i="0" u="none" strike="noStrike" cap="none" normalizeH="0" baseline="0" dirty="0">
                <a:ln>
                  <a:noFill/>
                </a:ln>
                <a:solidFill>
                  <a:schemeClr val="tx1"/>
                </a:solidFill>
                <a:effectLst/>
                <a:latin typeface="Google Sans Text"/>
              </a:rPr>
              <a:t>Case Study: Kitty Vogue:</a:t>
            </a:r>
          </a:p>
          <a:p>
            <a:pPr marL="0" lvl="0" indent="0" eaLnBrk="0" fontAlgn="base" hangingPunct="0">
              <a:lnSpc>
                <a:spcPct val="100000"/>
              </a:lnSpc>
              <a:spcBef>
                <a:spcPct val="0"/>
              </a:spcBef>
              <a:spcAft>
                <a:spcPct val="0"/>
              </a:spcAft>
              <a:buFontTx/>
              <a:buChar char="•"/>
            </a:pPr>
            <a:endParaRPr kumimoji="0" lang="en-US" altLang="en-US" sz="1800" b="0" i="0" u="none" strike="noStrike" cap="none" normalizeH="0" baseline="0" dirty="0">
              <a:ln>
                <a:noFill/>
              </a:ln>
              <a:solidFill>
                <a:schemeClr val="tx1"/>
              </a:solidFill>
              <a:effectLst/>
              <a:latin typeface="Google Sans Text"/>
            </a:endParaRPr>
          </a:p>
          <a:p>
            <a:pPr marL="457200" lvl="1" indent="0" eaLnBrk="0" fontAlgn="base" hangingPunct="0">
              <a:lnSpc>
                <a:spcPct val="100000"/>
              </a:lnSpc>
              <a:spcBef>
                <a:spcPct val="0"/>
              </a:spcBef>
              <a:spcAft>
                <a:spcPct val="0"/>
              </a:spcAft>
              <a:buFontTx/>
              <a:buChar char="•"/>
            </a:pPr>
            <a:r>
              <a:rPr kumimoji="0" lang="en-US" altLang="en-US" sz="1800" b="0" i="1" u="none" strike="noStrike" cap="none" normalizeH="0" baseline="0" dirty="0">
                <a:ln>
                  <a:noFill/>
                </a:ln>
                <a:solidFill>
                  <a:schemeClr val="tx1"/>
                </a:solidFill>
                <a:effectLst/>
                <a:latin typeface="Google Sans Text"/>
              </a:rPr>
              <a:t>Query:</a:t>
            </a:r>
            <a:r>
              <a:rPr kumimoji="0" lang="en-US" altLang="en-US" sz="1800" b="0" i="0" u="none" strike="noStrike" cap="none" normalizeH="0" baseline="0" dirty="0">
                <a:ln>
                  <a:noFill/>
                </a:ln>
                <a:solidFill>
                  <a:schemeClr val="tx1"/>
                </a:solidFill>
                <a:effectLst/>
                <a:latin typeface="Google Sans Text"/>
              </a:rPr>
              <a:t> "How many units of Fruity Fedora were sold in the last 7 days?".</a:t>
            </a:r>
          </a:p>
          <a:p>
            <a:pPr marL="457200" lvl="1" indent="0" eaLnBrk="0" fontAlgn="base" hangingPunct="0">
              <a:lnSpc>
                <a:spcPct val="100000"/>
              </a:lnSpc>
              <a:spcBef>
                <a:spcPct val="0"/>
              </a:spcBef>
              <a:spcAft>
                <a:spcPct val="0"/>
              </a:spcAft>
              <a:buFontTx/>
              <a:buChar char="•"/>
            </a:pPr>
            <a:endParaRPr kumimoji="0" lang="en-US" altLang="en-US" sz="1800" b="0" i="0" u="none" strike="noStrike" cap="none" normalizeH="0" baseline="0" dirty="0">
              <a:ln>
                <a:noFill/>
              </a:ln>
              <a:solidFill>
                <a:schemeClr val="tx1"/>
              </a:solidFill>
              <a:effectLst/>
              <a:latin typeface="Google Sans Text"/>
            </a:endParaRPr>
          </a:p>
          <a:p>
            <a:pPr marL="457200" lvl="1" indent="0" eaLnBrk="0" fontAlgn="base" hangingPunct="0">
              <a:lnSpc>
                <a:spcPct val="100000"/>
              </a:lnSpc>
              <a:spcBef>
                <a:spcPct val="0"/>
              </a:spcBef>
              <a:spcAft>
                <a:spcPct val="0"/>
              </a:spcAft>
              <a:buFontTx/>
              <a:buChar char="•"/>
            </a:pPr>
            <a:r>
              <a:rPr kumimoji="0" lang="en-US" altLang="en-US" sz="1800" b="0" i="1" u="none" strike="noStrike" cap="none" normalizeH="0" baseline="0" dirty="0">
                <a:ln>
                  <a:noFill/>
                </a:ln>
                <a:solidFill>
                  <a:schemeClr val="tx1"/>
                </a:solidFill>
                <a:effectLst/>
                <a:latin typeface="Google Sans Text"/>
              </a:rPr>
              <a:t>Problem:</a:t>
            </a:r>
            <a:r>
              <a:rPr kumimoji="0" lang="en-US" altLang="en-US" sz="1800" b="0" i="0" u="none" strike="noStrike" cap="none" normalizeH="0" baseline="0" dirty="0">
                <a:ln>
                  <a:noFill/>
                </a:ln>
                <a:solidFill>
                  <a:schemeClr val="tx1"/>
                </a:solidFill>
                <a:effectLst/>
                <a:latin typeface="Google Sans Text"/>
              </a:rPr>
              <a:t> Standard semantic retrieval fails on aggregations (SUM, COUNT).</a:t>
            </a:r>
          </a:p>
          <a:p>
            <a:pPr marL="457200" lvl="1" indent="0" eaLnBrk="0" fontAlgn="base" hangingPunct="0">
              <a:lnSpc>
                <a:spcPct val="100000"/>
              </a:lnSpc>
              <a:spcBef>
                <a:spcPct val="0"/>
              </a:spcBef>
              <a:spcAft>
                <a:spcPct val="0"/>
              </a:spcAft>
            </a:pPr>
            <a:endParaRPr kumimoji="0" lang="en-US" altLang="en-US" sz="1800" b="0" i="0" u="none" strike="noStrike" cap="none" normalizeH="0" baseline="0" dirty="0">
              <a:ln>
                <a:noFill/>
              </a:ln>
              <a:solidFill>
                <a:schemeClr val="tx1"/>
              </a:solidFill>
              <a:effectLst/>
              <a:latin typeface="Google Sans Text"/>
            </a:endParaRPr>
          </a:p>
          <a:p>
            <a:pPr marL="0" lvl="0" indent="0" eaLnBrk="0" fontAlgn="base" hangingPunct="0">
              <a:lnSpc>
                <a:spcPct val="100000"/>
              </a:lnSpc>
              <a:spcBef>
                <a:spcPct val="0"/>
              </a:spcBef>
              <a:spcAft>
                <a:spcPct val="0"/>
              </a:spcAft>
              <a:buFontTx/>
              <a:buChar char="•"/>
            </a:pPr>
            <a:r>
              <a:rPr kumimoji="0" lang="en-US" altLang="en-US" sz="1800" b="1" i="0" u="none" strike="noStrike" cap="none" normalizeH="0" baseline="0" dirty="0">
                <a:ln>
                  <a:noFill/>
                </a:ln>
                <a:solidFill>
                  <a:schemeClr val="tx1"/>
                </a:solidFill>
                <a:effectLst/>
                <a:latin typeface="Google Sans Text"/>
              </a:rPr>
              <a:t>The Solution: Text-to-SQL Workflow</a:t>
            </a:r>
            <a:r>
              <a:rPr kumimoji="0" lang="en-US" altLang="en-US" sz="1800" b="0" i="0" u="none" strike="noStrike" cap="none" normalizeH="0" baseline="0" dirty="0">
                <a:ln>
                  <a:noFill/>
                </a:ln>
                <a:solidFill>
                  <a:schemeClr val="tx1"/>
                </a:solidFill>
                <a:effectLst/>
                <a:latin typeface="Google Sans Text"/>
              </a:rPr>
              <a:t> :</a:t>
            </a:r>
          </a:p>
          <a:p>
            <a:pPr marL="457200" lvl="1" indent="0" eaLnBrk="0" fontAlgn="base" hangingPunct="0">
              <a:lnSpc>
                <a:spcPct val="100000"/>
              </a:lnSpc>
              <a:spcBef>
                <a:spcPct val="0"/>
              </a:spcBef>
              <a:spcAft>
                <a:spcPct val="0"/>
              </a:spcAft>
              <a:buFontTx/>
              <a:buAutoNum type="arabicPeriod"/>
            </a:pPr>
            <a:r>
              <a:rPr kumimoji="0" lang="en-US" altLang="en-US" sz="1800" b="1" i="0" u="none" strike="noStrike" cap="none" normalizeH="0" baseline="0" dirty="0">
                <a:ln>
                  <a:noFill/>
                </a:ln>
                <a:solidFill>
                  <a:schemeClr val="tx1"/>
                </a:solidFill>
                <a:effectLst/>
                <a:latin typeface="Google Sans Text"/>
              </a:rPr>
              <a:t>Text-to-SQL:</a:t>
            </a:r>
            <a:r>
              <a:rPr kumimoji="0" lang="en-US" altLang="en-US" sz="1800" b="0" i="0" u="none" strike="noStrike" cap="none" normalizeH="0" baseline="0" dirty="0">
                <a:ln>
                  <a:noFill/>
                </a:ln>
                <a:solidFill>
                  <a:schemeClr val="tx1"/>
                </a:solidFill>
                <a:effectLst/>
                <a:latin typeface="Google Sans Text"/>
              </a:rPr>
              <a:t> Model converts user query + schema into SQL.</a:t>
            </a:r>
          </a:p>
          <a:p>
            <a:pPr marL="457200" lvl="1" indent="0" eaLnBrk="0" fontAlgn="base" hangingPunct="0">
              <a:lnSpc>
                <a:spcPct val="100000"/>
              </a:lnSpc>
              <a:spcBef>
                <a:spcPct val="0"/>
              </a:spcBef>
              <a:spcAft>
                <a:spcPct val="0"/>
              </a:spcAft>
              <a:buFontTx/>
              <a:buAutoNum type="arabicPeriod" startAt="2"/>
            </a:pPr>
            <a:r>
              <a:rPr kumimoji="0" lang="en-US" altLang="en-US" sz="1800" b="1" i="0" u="none" strike="noStrike" cap="none" normalizeH="0" baseline="0" dirty="0">
                <a:ln>
                  <a:noFill/>
                </a:ln>
                <a:solidFill>
                  <a:schemeClr val="tx1"/>
                </a:solidFill>
                <a:effectLst/>
                <a:latin typeface="Google Sans Text"/>
              </a:rPr>
              <a:t>Execution:</a:t>
            </a:r>
            <a:r>
              <a:rPr kumimoji="0" lang="en-US" altLang="en-US" sz="1800" b="0" i="0" u="none" strike="noStrike" cap="none" normalizeH="0" baseline="0" dirty="0">
                <a:ln>
                  <a:noFill/>
                </a:ln>
                <a:solidFill>
                  <a:schemeClr val="tx1"/>
                </a:solidFill>
                <a:effectLst/>
                <a:latin typeface="Google Sans Text"/>
              </a:rPr>
              <a:t> Run the SQL query against the database.</a:t>
            </a:r>
          </a:p>
          <a:p>
            <a:pPr marL="457200" lvl="1" indent="0" eaLnBrk="0" fontAlgn="base" hangingPunct="0">
              <a:lnSpc>
                <a:spcPct val="100000"/>
              </a:lnSpc>
              <a:spcBef>
                <a:spcPct val="0"/>
              </a:spcBef>
              <a:spcAft>
                <a:spcPct val="0"/>
              </a:spcAft>
              <a:buFontTx/>
              <a:buAutoNum type="arabicPeriod" startAt="3"/>
            </a:pPr>
            <a:r>
              <a:rPr kumimoji="0" lang="en-US" altLang="en-US" sz="1800" b="1" i="0" u="none" strike="noStrike" cap="none" normalizeH="0" baseline="0" dirty="0">
                <a:ln>
                  <a:noFill/>
                </a:ln>
                <a:solidFill>
                  <a:schemeClr val="tx1"/>
                </a:solidFill>
                <a:effectLst/>
                <a:latin typeface="Google Sans Text"/>
              </a:rPr>
              <a:t>Generation:</a:t>
            </a:r>
            <a:r>
              <a:rPr kumimoji="0" lang="en-US" altLang="en-US" sz="1800" b="0" i="0" u="none" strike="noStrike" cap="none" normalizeH="0" baseline="0" dirty="0">
                <a:ln>
                  <a:noFill/>
                </a:ln>
                <a:solidFill>
                  <a:schemeClr val="tx1"/>
                </a:solidFill>
                <a:effectLst/>
                <a:latin typeface="Google Sans Text"/>
              </a:rPr>
              <a:t> Use the SQL result to answer the user.</a:t>
            </a:r>
          </a:p>
          <a:p>
            <a:pPr marL="457200" lvl="1" indent="0" eaLnBrk="0" fontAlgn="base" hangingPunct="0">
              <a:lnSpc>
                <a:spcPct val="100000"/>
              </a:lnSpc>
              <a:spcBef>
                <a:spcPct val="0"/>
              </a:spcBef>
              <a:spcAft>
                <a:spcPct val="0"/>
              </a:spcAft>
            </a:pPr>
            <a:endParaRPr kumimoji="0" lang="en-US" altLang="en-US" sz="1800" b="0" i="0" u="none" strike="noStrike" cap="none" normalizeH="0" baseline="0" dirty="0">
              <a:ln>
                <a:noFill/>
              </a:ln>
              <a:solidFill>
                <a:schemeClr val="tx1"/>
              </a:solidFill>
              <a:effectLst/>
              <a:latin typeface="Google Sans Text"/>
            </a:endParaRPr>
          </a:p>
          <a:p>
            <a:pPr marL="0" lvl="0" indent="0" eaLnBrk="0" fontAlgn="base" hangingPunct="0">
              <a:lnSpc>
                <a:spcPct val="100000"/>
              </a:lnSpc>
              <a:spcBef>
                <a:spcPct val="0"/>
              </a:spcBef>
              <a:spcAft>
                <a:spcPct val="0"/>
              </a:spcAft>
              <a:buFontTx/>
              <a:buChar char="•"/>
            </a:pPr>
            <a:r>
              <a:rPr kumimoji="0" lang="en-US" altLang="en-US" sz="1800" b="1" i="0" u="none" strike="noStrike" cap="none" normalizeH="0" baseline="0" dirty="0">
                <a:ln>
                  <a:noFill/>
                </a:ln>
                <a:solidFill>
                  <a:schemeClr val="tx1"/>
                </a:solidFill>
                <a:effectLst/>
                <a:latin typeface="Google Sans Text"/>
              </a:rPr>
              <a:t>Key Insight:</a:t>
            </a:r>
            <a:r>
              <a:rPr kumimoji="0" lang="en-US" altLang="en-US" sz="1800" b="0" i="0" u="none" strike="noStrike" cap="none" normalizeH="0" baseline="0" dirty="0">
                <a:ln>
                  <a:noFill/>
                </a:ln>
                <a:solidFill>
                  <a:schemeClr val="tx1"/>
                </a:solidFill>
                <a:effectLst/>
                <a:latin typeface="Google Sans Text"/>
              </a:rPr>
              <a:t> This is a primitive agent. It uses a tool (SQL Executor) to answer a question it couldn't solve with internal knowledge alone.</a:t>
            </a:r>
          </a:p>
          <a:p>
            <a:pPr marL="0" lvl="0" indent="0" eaLnBrk="0" fontAlgn="base" hangingPunct="0">
              <a:lnSpc>
                <a:spcPct val="100000"/>
              </a:lnSpc>
              <a:spcBef>
                <a:spcPct val="0"/>
              </a:spcBef>
              <a:spcAft>
                <a:spcPct val="0"/>
              </a:spcAft>
            </a:pPr>
            <a:endParaRPr kumimoji="0" lang="en-US" altLang="en-US" sz="1800" b="0" i="0" u="none" strike="noStrike" cap="none" normalizeH="0" baseline="0" dirty="0">
              <a:ln>
                <a:noFill/>
              </a:ln>
              <a:solidFill>
                <a:schemeClr val="tx1"/>
              </a:solidFill>
              <a:effectLst/>
              <a:latin typeface="Google Sans Text"/>
            </a:endParaRPr>
          </a:p>
          <a:p>
            <a:pPr marL="0" lvl="0" indent="0" eaLnBrk="0" fontAlgn="base" hangingPunct="0">
              <a:lnSpc>
                <a:spcPct val="100000"/>
              </a:lnSpc>
              <a:spcBef>
                <a:spcPct val="0"/>
              </a:spcBef>
              <a:spcAft>
                <a:spcPct val="0"/>
              </a:spcAft>
              <a:buNone/>
            </a:pPr>
            <a:r>
              <a:rPr kumimoji="0" lang="en-US" altLang="en-US" sz="1800" b="1" i="0" u="none" strike="noStrike" cap="none" normalizeH="0" baseline="0" dirty="0">
                <a:ln>
                  <a:noFill/>
                </a:ln>
                <a:solidFill>
                  <a:schemeClr val="tx1"/>
                </a:solidFill>
                <a:effectLst/>
                <a:latin typeface="Google Sans Text"/>
              </a:rPr>
              <a:t>Speaker Notes:</a:t>
            </a:r>
            <a:endParaRPr kumimoji="0" lang="en-US" altLang="en-US" sz="1800" b="0" i="0" u="none" strike="noStrike" cap="none" normalizeH="0" baseline="0" dirty="0">
              <a:ln>
                <a:noFill/>
              </a:ln>
              <a:solidFill>
                <a:schemeClr val="tx1"/>
              </a:solidFill>
              <a:effectLst/>
            </a:endParaRPr>
          </a:p>
          <a:p>
            <a:pPr marL="0" lvl="0" indent="0" eaLnBrk="0" fontAlgn="base" hangingPunct="0">
              <a:lnSpc>
                <a:spcPct val="100000"/>
              </a:lnSpc>
              <a:spcBef>
                <a:spcPct val="0"/>
              </a:spcBef>
              <a:spcAft>
                <a:spcPct val="0"/>
              </a:spcAft>
              <a:buNone/>
            </a:pPr>
            <a:r>
              <a:rPr kumimoji="0" lang="en-US" altLang="en-US" sz="1800" b="0" i="0" u="none" strike="noStrike" cap="none" normalizeH="0" baseline="0" dirty="0">
                <a:ln>
                  <a:noFill/>
                </a:ln>
                <a:solidFill>
                  <a:schemeClr val="tx1"/>
                </a:solidFill>
                <a:effectLst/>
                <a:latin typeface="Google Sans Text"/>
              </a:rPr>
              <a:t>"Before we get to full autonomy, let's look at a specialized agent: the SQL agent. If I ask, 'What were my sales last week?', a vector database is useless. We need to compute. We treat the database as a tool. The model generates SQL, executes it, and reads the result. This is the bridge between unstructured RAG and structured data analysis."</a:t>
            </a:r>
            <a:endParaRPr kumimoji="0" lang="en-US" altLang="en-US" sz="1800" b="0" i="0" u="none" strike="noStrike" cap="none" normalizeH="0" baseline="0" dirty="0">
              <a:ln>
                <a:noFill/>
              </a:ln>
              <a:solidFill>
                <a:schemeClr val="tx1"/>
              </a:solidFill>
              <a:effectLst/>
              <a:latin typeface="Arial" panose="020B0604020202020204" pitchFamily="34" charset="0"/>
            </a:endParaRPr>
          </a:p>
          <a:p>
            <a:endParaRPr lang="en-US" dirty="0"/>
          </a:p>
        </p:txBody>
      </p:sp>
    </p:spTree>
    <p:extLst>
      <p:ext uri="{BB962C8B-B14F-4D97-AF65-F5344CB8AC3E}">
        <p14:creationId xmlns:p14="http://schemas.microsoft.com/office/powerpoint/2010/main" val="25647560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C8AA00-7933-DDBB-4AE1-69A1B66A594D}"/>
              </a:ext>
            </a:extLst>
          </p:cNvPr>
          <p:cNvSpPr>
            <a:spLocks noGrp="1"/>
          </p:cNvSpPr>
          <p:nvPr>
            <p:ph type="title"/>
          </p:nvPr>
        </p:nvSpPr>
        <p:spPr>
          <a:xfrm>
            <a:off x="838200" y="365126"/>
            <a:ext cx="10515600" cy="1067890"/>
          </a:xfrm>
        </p:spPr>
        <p:txBody>
          <a:bodyPr/>
          <a:lstStyle/>
          <a:p>
            <a:r>
              <a:rPr lang="en-IN" b="1" dirty="0"/>
              <a:t>The Agentic Framework</a:t>
            </a:r>
            <a:endParaRPr lang="en-US" b="1" dirty="0"/>
          </a:p>
        </p:txBody>
      </p:sp>
      <p:sp>
        <p:nvSpPr>
          <p:cNvPr id="4" name="Rectangle 1">
            <a:extLst>
              <a:ext uri="{FF2B5EF4-FFF2-40B4-BE49-F238E27FC236}">
                <a16:creationId xmlns:a16="http://schemas.microsoft.com/office/drawing/2014/main" id="{8884425B-1DB0-2207-E930-B10BA448B390}"/>
              </a:ext>
            </a:extLst>
          </p:cNvPr>
          <p:cNvSpPr>
            <a:spLocks noChangeArrowheads="1"/>
          </p:cNvSpPr>
          <p:nvPr/>
        </p:nvSpPr>
        <p:spPr bwMode="auto">
          <a:xfrm>
            <a:off x="941695" y="1423667"/>
            <a:ext cx="10290412" cy="51552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Google Sans Text"/>
              </a:rPr>
              <a:t>Visual:</a:t>
            </a:r>
            <a:r>
              <a:rPr kumimoji="0" lang="en-US" altLang="en-US" sz="1800" b="0" i="0" u="none" strike="noStrike" cap="none" normalizeH="0" baseline="0" dirty="0">
                <a:ln>
                  <a:noFill/>
                </a:ln>
                <a:solidFill>
                  <a:schemeClr val="tx1"/>
                </a:solidFill>
                <a:effectLst/>
                <a:latin typeface="Google Sans Text"/>
              </a:rPr>
              <a:t> A loop diagram: Perception -&gt; Planning -&gt;  Action -&gt; Observation -&gt; Reflection.</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Google Sans Tex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Google Sans Text"/>
              </a:rPr>
              <a:t>Environment &amp; Actions:</a:t>
            </a:r>
            <a:r>
              <a:rPr kumimoji="0" lang="en-US" altLang="en-US" sz="1800" b="0" i="0" u="none" strike="noStrike" cap="none" normalizeH="0" baseline="0" dirty="0">
                <a:ln>
                  <a:noFill/>
                </a:ln>
                <a:solidFill>
                  <a:schemeClr val="tx1"/>
                </a:solidFill>
                <a:effectLst/>
                <a:latin typeface="Google Sans Text"/>
              </a:rPr>
              <a:t> An agent is defined by its environment and the actions it can perform.</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1" u="none" strike="noStrike" cap="none" normalizeH="0" baseline="0" dirty="0">
                <a:ln>
                  <a:noFill/>
                </a:ln>
                <a:solidFill>
                  <a:schemeClr val="tx1"/>
                </a:solidFill>
                <a:effectLst/>
                <a:latin typeface="Google Sans Text"/>
              </a:rPr>
              <a:t>Example:</a:t>
            </a:r>
            <a:r>
              <a:rPr kumimoji="0" lang="en-US" altLang="en-US" sz="1800" b="0" i="0" u="none" strike="noStrike" cap="none" normalizeH="0" baseline="0" dirty="0">
                <a:ln>
                  <a:noFill/>
                </a:ln>
                <a:solidFill>
                  <a:schemeClr val="tx1"/>
                </a:solidFill>
                <a:effectLst/>
                <a:latin typeface="Google Sans Text"/>
              </a:rPr>
              <a:t> </a:t>
            </a:r>
            <a:r>
              <a:rPr kumimoji="0" lang="en-US" altLang="en-US" sz="1800" b="1" i="0" u="none" strike="noStrike" cap="none" normalizeH="0" baseline="0" dirty="0">
                <a:ln>
                  <a:noFill/>
                </a:ln>
                <a:solidFill>
                  <a:schemeClr val="tx1"/>
                </a:solidFill>
                <a:effectLst/>
                <a:latin typeface="Google Sans Text"/>
              </a:rPr>
              <a:t>SWE-agent</a:t>
            </a:r>
            <a:r>
              <a:rPr kumimoji="0" lang="en-US" altLang="en-US" sz="1800" b="0" i="0" u="none" strike="noStrike" cap="none" normalizeH="0" baseline="0" dirty="0">
                <a:ln>
                  <a:noFill/>
                </a:ln>
                <a:solidFill>
                  <a:schemeClr val="tx1"/>
                </a:solidFill>
                <a:effectLst/>
                <a:latin typeface="Google Sans Text"/>
              </a:rPr>
              <a:t> (Software Engineering Agent).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1" u="none" strike="noStrike" cap="none" normalizeH="0" baseline="0" dirty="0">
                <a:ln>
                  <a:noFill/>
                </a:ln>
                <a:solidFill>
                  <a:schemeClr val="tx1"/>
                </a:solidFill>
                <a:effectLst/>
                <a:latin typeface="Google Sans Text"/>
              </a:rPr>
              <a:t>Environment:</a:t>
            </a:r>
            <a:r>
              <a:rPr kumimoji="0" lang="en-US" altLang="en-US" sz="1800" b="0" i="0" u="none" strike="noStrike" cap="none" normalizeH="0" baseline="0" dirty="0">
                <a:ln>
                  <a:noFill/>
                </a:ln>
                <a:solidFill>
                  <a:schemeClr val="tx1"/>
                </a:solidFill>
                <a:effectLst/>
                <a:latin typeface="Google Sans Text"/>
              </a:rPr>
              <a:t> Computer terminal and file system.</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1" u="none" strike="noStrike" cap="none" normalizeH="0" baseline="0" dirty="0">
                <a:ln>
                  <a:noFill/>
                </a:ln>
                <a:solidFill>
                  <a:schemeClr val="tx1"/>
                </a:solidFill>
                <a:effectLst/>
                <a:latin typeface="Google Sans Text"/>
              </a:rPr>
              <a:t>Actions:</a:t>
            </a:r>
            <a:r>
              <a:rPr kumimoji="0" lang="en-US" altLang="en-US" sz="1800" b="0" i="0" u="none" strike="noStrike" cap="none" normalizeH="0" baseline="0" dirty="0">
                <a:ln>
                  <a:noFill/>
                </a:ln>
                <a:solidFill>
                  <a:schemeClr val="tx1"/>
                </a:solidFill>
                <a:effectLst/>
                <a:latin typeface="Google Sans Text"/>
              </a:rPr>
              <a:t> </a:t>
            </a:r>
            <a:r>
              <a:rPr kumimoji="0" lang="en-US" altLang="en-US" b="0" i="0" u="none" strike="noStrike" cap="none" normalizeH="0" baseline="0" dirty="0" err="1">
                <a:ln>
                  <a:noFill/>
                </a:ln>
                <a:solidFill>
                  <a:schemeClr val="tx1"/>
                </a:solidFill>
                <a:effectLst/>
                <a:latin typeface="Google Sans Text"/>
              </a:rPr>
              <a:t>Maps_repo</a:t>
            </a:r>
            <a:r>
              <a:rPr kumimoji="0" lang="en-US" altLang="en-US" b="0" i="0" u="none" strike="noStrike" cap="none" normalizeH="0" baseline="0" dirty="0">
                <a:ln>
                  <a:noFill/>
                </a:ln>
                <a:solidFill>
                  <a:schemeClr val="tx1"/>
                </a:solidFill>
                <a:effectLst/>
                <a:latin typeface="Google Sans Text"/>
              </a:rPr>
              <a:t>, </a:t>
            </a:r>
            <a:r>
              <a:rPr kumimoji="0" lang="en-US" altLang="en-US" b="0" i="0" u="none" strike="noStrike" cap="none" normalizeH="0" baseline="0" dirty="0" err="1">
                <a:ln>
                  <a:noFill/>
                </a:ln>
                <a:solidFill>
                  <a:schemeClr val="tx1"/>
                </a:solidFill>
                <a:effectLst/>
                <a:latin typeface="Google Sans Text"/>
              </a:rPr>
              <a:t>search_files</a:t>
            </a:r>
            <a:r>
              <a:rPr kumimoji="0" lang="en-US" altLang="en-US" b="0" i="0" u="none" strike="noStrike" cap="none" normalizeH="0" baseline="0" dirty="0">
                <a:ln>
                  <a:noFill/>
                </a:ln>
                <a:solidFill>
                  <a:schemeClr val="tx1"/>
                </a:solidFill>
                <a:effectLst/>
                <a:latin typeface="Google Sans Text"/>
              </a:rPr>
              <a:t>, </a:t>
            </a:r>
            <a:r>
              <a:rPr kumimoji="0" lang="en-US" altLang="en-US" b="0" i="0" u="none" strike="noStrike" cap="none" normalizeH="0" baseline="0" dirty="0" err="1">
                <a:ln>
                  <a:noFill/>
                </a:ln>
                <a:solidFill>
                  <a:schemeClr val="tx1"/>
                </a:solidFill>
                <a:effectLst/>
                <a:latin typeface="Google Sans Text"/>
              </a:rPr>
              <a:t>edit_lines</a:t>
            </a:r>
            <a:r>
              <a:rPr kumimoji="0" lang="en-US" altLang="en-US" b="0" i="0" u="none" strike="noStrike" cap="none" normalizeH="0" baseline="0" dirty="0">
                <a:ln>
                  <a:noFill/>
                </a:ln>
                <a:solidFill>
                  <a:schemeClr val="tx1"/>
                </a:solidFill>
                <a:effectLst/>
                <a:latin typeface="Google Sans Text"/>
              </a:rPr>
              <a:t>.</a:t>
            </a:r>
          </a:p>
          <a:p>
            <a:pPr marL="457200" marR="0" lvl="1" indent="0" algn="l" defTabSz="914400" rtl="0" eaLnBrk="0" fontAlgn="base" latinLnBrk="0" hangingPunct="0">
              <a:lnSpc>
                <a:spcPct val="100000"/>
              </a:lnSpc>
              <a:spcBef>
                <a:spcPct val="0"/>
              </a:spcBef>
              <a:spcAft>
                <a:spcPct val="0"/>
              </a:spcAft>
              <a:buClrTx/>
              <a:buSzTx/>
              <a:buFontTx/>
              <a:buChar char="•"/>
              <a:tabLst/>
            </a:pPr>
            <a:endParaRPr lang="en-US" altLang="en-US" sz="800" dirty="0">
              <a:latin typeface="Google Sans Text"/>
            </a:endParaRPr>
          </a:p>
          <a:p>
            <a:pPr marL="457200" marR="0" lvl="1"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Google Sans Text"/>
              </a:rPr>
              <a:t>High Stakes:</a:t>
            </a:r>
            <a:r>
              <a:rPr kumimoji="0" lang="en-US" altLang="en-US" sz="1800" b="0" i="0" u="none" strike="noStrike" cap="none" normalizeH="0" baseline="0" dirty="0">
                <a:ln>
                  <a:noFill/>
                </a:ln>
                <a:solidFill>
                  <a:schemeClr val="tx1"/>
                </a:solidFill>
                <a:effectLst/>
                <a:latin typeface="Google Sans Text"/>
              </a:rPr>
              <a:t> Agents face "compound mistakes." If an agent needs 10 steps and has 95% accuracy per step, the final success rate drops to ~60%.</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Google Sans Text"/>
              </a:rPr>
              <a:t>Autonomy:</a:t>
            </a:r>
            <a:r>
              <a:rPr kumimoji="0" lang="en-US" altLang="en-US" sz="1800" b="0" i="0" u="none" strike="noStrike" cap="none" normalizeH="0" baseline="0" dirty="0">
                <a:ln>
                  <a:noFill/>
                </a:ln>
                <a:solidFill>
                  <a:schemeClr val="tx1"/>
                </a:solidFill>
                <a:effectLst/>
                <a:latin typeface="Google Sans Text"/>
              </a:rPr>
              <a:t> The goal is to save human time by allowing the model to perform long sequences of actions independently.</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Google Sans Text"/>
              </a:rPr>
              <a:t>Speaker Notes:</a:t>
            </a: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Google Sans Text"/>
              </a:rPr>
              <a:t>"What makes an agent? It's the environment. A chess bot lives on a board; a coding agent like SWE-agent lives in your terminal. The biggest challenge here is </a:t>
            </a:r>
            <a:r>
              <a:rPr kumimoji="0" lang="en-US" altLang="en-US" sz="1800" b="0" i="1" u="none" strike="noStrike" cap="none" normalizeH="0" baseline="0" dirty="0">
                <a:ln>
                  <a:noFill/>
                </a:ln>
                <a:solidFill>
                  <a:schemeClr val="tx1"/>
                </a:solidFill>
                <a:effectLst/>
                <a:latin typeface="Google Sans Text"/>
              </a:rPr>
              <a:t>compound error</a:t>
            </a:r>
            <a:r>
              <a:rPr kumimoji="0" lang="en-US" altLang="en-US" sz="1800" b="0" i="0" u="none" strike="noStrike" cap="none" normalizeH="0" baseline="0" dirty="0">
                <a:ln>
                  <a:noFill/>
                </a:ln>
                <a:solidFill>
                  <a:schemeClr val="tx1"/>
                </a:solidFill>
                <a:effectLst/>
                <a:latin typeface="Google Sans Text"/>
              </a:rPr>
              <a:t>. If your agent tries to fix a bug and takes 10 steps, a single slip-up ruins the whole task. This is why we need robust planning."</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4258433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54B687-95A3-0CB0-AE65-C920DE369064}"/>
              </a:ext>
            </a:extLst>
          </p:cNvPr>
          <p:cNvSpPr>
            <a:spLocks noGrp="1"/>
          </p:cNvSpPr>
          <p:nvPr>
            <p:ph type="title"/>
          </p:nvPr>
        </p:nvSpPr>
        <p:spPr/>
        <p:txBody>
          <a:bodyPr/>
          <a:lstStyle/>
          <a:p>
            <a:pPr algn="ctr"/>
            <a:r>
              <a:rPr lang="en-IN" b="1" dirty="0"/>
              <a:t>The Tool Inventory</a:t>
            </a:r>
            <a:endParaRPr lang="en-US" b="1" dirty="0"/>
          </a:p>
        </p:txBody>
      </p:sp>
      <p:sp>
        <p:nvSpPr>
          <p:cNvPr id="4" name="Rectangle 1">
            <a:extLst>
              <a:ext uri="{FF2B5EF4-FFF2-40B4-BE49-F238E27FC236}">
                <a16:creationId xmlns:a16="http://schemas.microsoft.com/office/drawing/2014/main" id="{1057B348-AA66-5DF1-5BAB-15A991CD9B6D}"/>
              </a:ext>
            </a:extLst>
          </p:cNvPr>
          <p:cNvSpPr>
            <a:spLocks noGrp="1" noChangeArrowheads="1"/>
          </p:cNvSpPr>
          <p:nvPr>
            <p:ph idx="1"/>
          </p:nvPr>
        </p:nvSpPr>
        <p:spPr bwMode="auto">
          <a:xfrm>
            <a:off x="529661" y="1414562"/>
            <a:ext cx="10515600"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Visual:</a:t>
            </a:r>
            <a:r>
              <a:rPr kumimoji="0" lang="en-US" altLang="en-US" sz="1800" b="0" i="0" u="none" strike="noStrike" cap="none" normalizeH="0" baseline="0" dirty="0">
                <a:ln>
                  <a:noFill/>
                </a:ln>
                <a:solidFill>
                  <a:schemeClr val="tx1"/>
                </a:solidFill>
                <a:effectLst/>
                <a:latin typeface="Arial" panose="020B0604020202020204" pitchFamily="34" charset="0"/>
              </a:rPr>
              <a:t> Icons representing different tool categories (Search, Calculator, API).</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Knowledge Augmentation:</a:t>
            </a:r>
            <a:r>
              <a:rPr kumimoji="0" lang="en-US" altLang="en-US" sz="1800" b="0" i="0" u="none" strike="noStrike" cap="none" normalizeH="0" baseline="0" dirty="0">
                <a:ln>
                  <a:noFill/>
                </a:ln>
                <a:solidFill>
                  <a:schemeClr val="tx1"/>
                </a:solidFill>
                <a:effectLst/>
                <a:latin typeface="Arial" panose="020B0604020202020204" pitchFamily="34" charset="0"/>
              </a:rPr>
              <a:t> Tools that give the agent context.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Retrievers (RAG), Google Search, Internal Wikis.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Prevents the model from going "stale" (outdated training data).</a:t>
            </a:r>
          </a:p>
          <a:p>
            <a:pPr marL="457200" marR="0" lvl="1"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Capability Extension:</a:t>
            </a:r>
            <a:r>
              <a:rPr kumimoji="0" lang="en-US" altLang="en-US" sz="1800" b="0" i="0" u="none" strike="noStrike" cap="none" normalizeH="0" baseline="0" dirty="0">
                <a:ln>
                  <a:noFill/>
                </a:ln>
                <a:solidFill>
                  <a:schemeClr val="tx1"/>
                </a:solidFill>
                <a:effectLst/>
                <a:latin typeface="Arial" panose="020B0604020202020204" pitchFamily="34" charset="0"/>
              </a:rPr>
              <a:t> Fixing inherent model weaknesses.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1" u="none" strike="noStrike" cap="none" normalizeH="0" baseline="0" dirty="0">
                <a:ln>
                  <a:noFill/>
                </a:ln>
                <a:solidFill>
                  <a:schemeClr val="tx1"/>
                </a:solidFill>
                <a:effectLst/>
                <a:latin typeface="Arial" panose="020B0604020202020204" pitchFamily="34" charset="0"/>
              </a:rPr>
              <a:t>Math:</a:t>
            </a:r>
            <a:r>
              <a:rPr kumimoji="0" lang="en-US" altLang="en-US" sz="1800" b="0" i="0" u="none" strike="noStrike" cap="none" normalizeH="0" baseline="0" dirty="0">
                <a:ln>
                  <a:noFill/>
                </a:ln>
                <a:solidFill>
                  <a:schemeClr val="tx1"/>
                </a:solidFill>
                <a:effectLst/>
                <a:latin typeface="Arial" panose="020B0604020202020204" pitchFamily="34" charset="0"/>
              </a:rPr>
              <a:t> Models are bad at arithmetic; give them a Calculator tool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1" u="none" strike="noStrike" cap="none" normalizeH="0" baseline="0" dirty="0">
                <a:ln>
                  <a:noFill/>
                </a:ln>
                <a:solidFill>
                  <a:schemeClr val="tx1"/>
                </a:solidFill>
                <a:effectLst/>
                <a:latin typeface="Arial" panose="020B0604020202020204" pitchFamily="34" charset="0"/>
              </a:rPr>
              <a:t>Code:</a:t>
            </a:r>
            <a:r>
              <a:rPr kumimoji="0" lang="en-US" altLang="en-US" sz="1800" b="0" i="0" u="none" strike="noStrike" cap="none" normalizeH="0" baseline="0" dirty="0">
                <a:ln>
                  <a:noFill/>
                </a:ln>
                <a:solidFill>
                  <a:schemeClr val="tx1"/>
                </a:solidFill>
                <a:effectLst/>
                <a:latin typeface="Arial" panose="020B0604020202020204" pitchFamily="34" charset="0"/>
              </a:rPr>
              <a:t> Use a Code Interpreter to run Python for data analysis.</a:t>
            </a:r>
          </a:p>
          <a:p>
            <a:pPr marL="457200" marR="0" lvl="1"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Write Actions:</a:t>
            </a:r>
            <a:r>
              <a:rPr kumimoji="0" lang="en-US" altLang="en-US" sz="1800" b="0" i="0" u="none" strike="noStrike" cap="none" normalizeH="0" baseline="0" dirty="0">
                <a:ln>
                  <a:noFill/>
                </a:ln>
                <a:solidFill>
                  <a:schemeClr val="tx1"/>
                </a:solidFill>
                <a:effectLst/>
                <a:latin typeface="Arial" panose="020B0604020202020204" pitchFamily="34" charset="0"/>
              </a:rPr>
              <a:t> Changing the environment.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Sending emails, booking tickets, modifying databases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Security Risk:</a:t>
            </a:r>
            <a:r>
              <a:rPr kumimoji="0" lang="en-US" altLang="en-US" sz="1800" b="0" i="0" u="none" strike="noStrike" cap="none" normalizeH="0" baseline="0" dirty="0">
                <a:ln>
                  <a:noFill/>
                </a:ln>
                <a:solidFill>
                  <a:schemeClr val="tx1"/>
                </a:solidFill>
                <a:effectLst/>
                <a:latin typeface="Arial" panose="020B0604020202020204" pitchFamily="34" charset="0"/>
              </a:rPr>
              <a:t> "Prompt Injection" can now lead to real-world damage (e.g., bank transfers).</a:t>
            </a:r>
          </a:p>
          <a:p>
            <a:pPr marL="457200" marR="0" lvl="1"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Speaker Notes:</a:t>
            </a:r>
            <a:r>
              <a:rPr kumimoji="0" lang="en-US" altLang="en-US" sz="1800" b="0" i="0" u="none" strike="noStrike" cap="none" normalizeH="0" baseline="0" dirty="0">
                <a:ln>
                  <a:noFill/>
                </a:ln>
                <a:solidFill>
                  <a:schemeClr val="tx1"/>
                </a:solidFill>
                <a:effectLst/>
                <a:latin typeface="Arial" panose="020B0604020202020204" pitchFamily="34" charset="0"/>
              </a:rPr>
              <a:t> "We give agents 'tools' to compensate for their weaknesses. Don't train an LLM to do math; just give it a calculator. The dangerous part is 'Write Actions'. Reading a database is safe; updating it is risky. As Chip Huyen notes, you wouldn't give an intern root access to your production DB—treat your agent with the same caution."</a:t>
            </a:r>
          </a:p>
        </p:txBody>
      </p:sp>
    </p:spTree>
    <p:extLst>
      <p:ext uri="{BB962C8B-B14F-4D97-AF65-F5344CB8AC3E}">
        <p14:creationId xmlns:p14="http://schemas.microsoft.com/office/powerpoint/2010/main" val="39613063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FED03C-4219-6797-74F7-7AF1035766F5}"/>
              </a:ext>
            </a:extLst>
          </p:cNvPr>
          <p:cNvSpPr>
            <a:spLocks noGrp="1"/>
          </p:cNvSpPr>
          <p:nvPr>
            <p:ph type="title"/>
          </p:nvPr>
        </p:nvSpPr>
        <p:spPr>
          <a:xfrm>
            <a:off x="838200" y="365126"/>
            <a:ext cx="10515600" cy="740344"/>
          </a:xfrm>
        </p:spPr>
        <p:txBody>
          <a:bodyPr/>
          <a:lstStyle/>
          <a:p>
            <a:pPr algn="ctr"/>
            <a:r>
              <a:rPr lang="en-IN" b="1" dirty="0"/>
              <a:t>Planning &amp; Reasoning</a:t>
            </a:r>
            <a:endParaRPr lang="en-US" b="1" dirty="0"/>
          </a:p>
        </p:txBody>
      </p:sp>
      <p:sp>
        <p:nvSpPr>
          <p:cNvPr id="4" name="Rectangle 1">
            <a:extLst>
              <a:ext uri="{FF2B5EF4-FFF2-40B4-BE49-F238E27FC236}">
                <a16:creationId xmlns:a16="http://schemas.microsoft.com/office/drawing/2014/main" id="{F43A3AA2-E9B9-1073-1297-EA0A56DACEF5}"/>
              </a:ext>
            </a:extLst>
          </p:cNvPr>
          <p:cNvSpPr>
            <a:spLocks noGrp="1" noChangeArrowheads="1"/>
          </p:cNvSpPr>
          <p:nvPr>
            <p:ph idx="1"/>
          </p:nvPr>
        </p:nvSpPr>
        <p:spPr bwMode="auto">
          <a:xfrm>
            <a:off x="1023582" y="1208226"/>
            <a:ext cx="11068334" cy="55861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Google Sans Text"/>
              </a:rPr>
              <a:t>Visual:</a:t>
            </a:r>
            <a:r>
              <a:rPr kumimoji="0" lang="en-US" altLang="en-US" sz="1800" b="0" i="0" u="none" strike="noStrike" cap="none" normalizeH="0" baseline="0" dirty="0">
                <a:ln>
                  <a:noFill/>
                </a:ln>
                <a:solidFill>
                  <a:schemeClr val="tx1"/>
                </a:solidFill>
                <a:effectLst/>
                <a:latin typeface="Google Sans Text"/>
              </a:rPr>
              <a:t> A flowchart showing Task Decomposition.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Google Sans Text"/>
              </a:rPr>
              <a:t>The Planner:</a:t>
            </a:r>
            <a:r>
              <a:rPr kumimoji="0" lang="en-US" altLang="en-US" sz="1800" b="0" i="0" u="none" strike="noStrike" cap="none" normalizeH="0" baseline="0" dirty="0">
                <a:ln>
                  <a:noFill/>
                </a:ln>
                <a:solidFill>
                  <a:schemeClr val="tx1"/>
                </a:solidFill>
                <a:effectLst/>
                <a:latin typeface="Google Sans Text"/>
              </a:rPr>
              <a:t> The component that breaks a complex task into a sequence of manageable actions.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Google Sans Text"/>
              </a:rPr>
              <a:t>Control Flows:</a:t>
            </a:r>
            <a:r>
              <a:rPr kumimoji="0" lang="en-US" altLang="en-US" sz="1800" b="0" i="0" u="none" strike="noStrike" cap="none" normalizeH="0" baseline="0" dirty="0">
                <a:ln>
                  <a:noFill/>
                </a:ln>
                <a:solidFill>
                  <a:schemeClr val="tx1"/>
                </a:solidFill>
                <a:effectLst/>
                <a:latin typeface="Google Sans Text"/>
              </a:rPr>
              <a:t> Plans aren't just lists; they are programs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Google Sans Text"/>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Google Sans Text"/>
              </a:rPr>
              <a:t>Sequential:</a:t>
            </a:r>
            <a:r>
              <a:rPr kumimoji="0" lang="en-US" altLang="en-US" sz="1800" b="0" i="0" u="none" strike="noStrike" cap="none" normalizeH="0" baseline="0" dirty="0">
                <a:ln>
                  <a:noFill/>
                </a:ln>
                <a:solidFill>
                  <a:schemeClr val="tx1"/>
                </a:solidFill>
                <a:effectLst/>
                <a:latin typeface="Google Sans Text"/>
              </a:rPr>
              <a:t> Step A -&gt; Step B (e.g., Translate SQL -&gt; Execute).</a:t>
            </a:r>
          </a:p>
          <a:p>
            <a:pPr marL="457200" marR="0" lvl="1"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Google Sans Text"/>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Google Sans Text"/>
              </a:rPr>
              <a:t>Parallel:</a:t>
            </a:r>
            <a:r>
              <a:rPr kumimoji="0" lang="en-US" altLang="en-US" sz="1800" b="0" i="0" u="none" strike="noStrike" cap="none" normalizeH="0" baseline="0" dirty="0">
                <a:ln>
                  <a:noFill/>
                </a:ln>
                <a:solidFill>
                  <a:schemeClr val="tx1"/>
                </a:solidFill>
                <a:effectLst/>
                <a:latin typeface="Google Sans Text"/>
              </a:rPr>
              <a:t> Task A &amp; B simultaneously (e.g., browse 10 websites at once).</a:t>
            </a:r>
          </a:p>
          <a:p>
            <a:pPr marL="457200" marR="0" lvl="1"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Google Sans Text"/>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Google Sans Text"/>
              </a:rPr>
              <a:t>If/Else:</a:t>
            </a:r>
            <a:r>
              <a:rPr kumimoji="0" lang="en-US" altLang="en-US" sz="1800" b="0" i="0" u="none" strike="noStrike" cap="none" normalizeH="0" baseline="0" dirty="0">
                <a:ln>
                  <a:noFill/>
                </a:ln>
                <a:solidFill>
                  <a:schemeClr val="tx1"/>
                </a:solidFill>
                <a:effectLst/>
                <a:latin typeface="Google Sans Text"/>
              </a:rPr>
              <a:t> Decision making (e.g., If stock earnings &gt; X, Buy; else Sell).</a:t>
            </a:r>
          </a:p>
          <a:p>
            <a:pPr marL="457200" marR="0" lvl="1"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Google Sans Text"/>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Google Sans Text"/>
              </a:rPr>
              <a:t>Loops:</a:t>
            </a:r>
            <a:r>
              <a:rPr kumimoji="0" lang="en-US" altLang="en-US" sz="1800" b="0" i="0" u="none" strike="noStrike" cap="none" normalizeH="0" baseline="0" dirty="0">
                <a:ln>
                  <a:noFill/>
                </a:ln>
                <a:solidFill>
                  <a:schemeClr val="tx1"/>
                </a:solidFill>
                <a:effectLst/>
                <a:latin typeface="Google Sans Text"/>
              </a:rPr>
              <a:t> Repeat until condition met (e.g., debug until tests pass).</a:t>
            </a:r>
          </a:p>
          <a:p>
            <a:pPr marL="457200" marR="0" lvl="1"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Google Sans Text"/>
              </a:rPr>
              <a:t>Decoupling:</a:t>
            </a:r>
            <a:r>
              <a:rPr kumimoji="0" lang="en-US" altLang="en-US" sz="1800" b="0" i="0" u="none" strike="noStrike" cap="none" normalizeH="0" baseline="0" dirty="0">
                <a:ln>
                  <a:noFill/>
                </a:ln>
                <a:solidFill>
                  <a:schemeClr val="tx1"/>
                </a:solidFill>
                <a:effectLst/>
                <a:latin typeface="Google Sans Text"/>
              </a:rPr>
              <a:t> To avoid wasting money, generate the plan </a:t>
            </a:r>
            <a:r>
              <a:rPr kumimoji="0" lang="en-US" altLang="en-US" sz="1800" b="0" i="1" u="none" strike="noStrike" cap="none" normalizeH="0" baseline="0" dirty="0">
                <a:ln>
                  <a:noFill/>
                </a:ln>
                <a:solidFill>
                  <a:schemeClr val="tx1"/>
                </a:solidFill>
                <a:effectLst/>
                <a:latin typeface="Google Sans Text"/>
              </a:rPr>
              <a:t>first</a:t>
            </a:r>
            <a:r>
              <a:rPr kumimoji="0" lang="en-US" altLang="en-US" sz="1800" b="0" i="0" u="none" strike="noStrike" cap="none" normalizeH="0" baseline="0" dirty="0">
                <a:ln>
                  <a:noFill/>
                </a:ln>
                <a:solidFill>
                  <a:schemeClr val="tx1"/>
                </a:solidFill>
                <a:effectLst/>
                <a:latin typeface="Google Sans Text"/>
              </a:rPr>
              <a:t>, validate it, and </a:t>
            </a:r>
            <a:r>
              <a:rPr kumimoji="0" lang="en-US" altLang="en-US" sz="1800" b="0" i="1" u="none" strike="noStrike" cap="none" normalizeH="0" baseline="0" dirty="0">
                <a:ln>
                  <a:noFill/>
                </a:ln>
                <a:solidFill>
                  <a:schemeClr val="tx1"/>
                </a:solidFill>
                <a:effectLst/>
                <a:latin typeface="Google Sans Text"/>
              </a:rPr>
              <a:t>then</a:t>
            </a:r>
            <a:r>
              <a:rPr kumimoji="0" lang="en-US" altLang="en-US" sz="1800" b="0" i="0" u="none" strike="noStrike" cap="none" normalizeH="0" baseline="0" dirty="0">
                <a:ln>
                  <a:noFill/>
                </a:ln>
                <a:solidFill>
                  <a:schemeClr val="tx1"/>
                </a:solidFill>
                <a:effectLst/>
                <a:latin typeface="Google Sans Text"/>
              </a:rPr>
              <a:t> execute it.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Google Sans Text"/>
              </a:rPr>
              <a:t>Speaker Notes:</a:t>
            </a: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Google Sans Text"/>
              </a:rPr>
              <a:t>"Planning is the brain of the agent. It's not enough to just say 'do this'. The agent must understand dependencies. Can I run these searches in parallel? Do I need to loop this action until I get a valid result? Advanced agents don't just act; they write programs to solve your problem."</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5895712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65C541-97C0-54E3-8173-81E98C0F7786}"/>
              </a:ext>
            </a:extLst>
          </p:cNvPr>
          <p:cNvSpPr>
            <a:spLocks noGrp="1"/>
          </p:cNvSpPr>
          <p:nvPr>
            <p:ph type="title"/>
          </p:nvPr>
        </p:nvSpPr>
        <p:spPr>
          <a:xfrm>
            <a:off x="838200" y="365126"/>
            <a:ext cx="10515600" cy="827710"/>
          </a:xfrm>
        </p:spPr>
        <p:txBody>
          <a:bodyPr/>
          <a:lstStyle/>
          <a:p>
            <a:pPr algn="ctr"/>
            <a:r>
              <a:rPr lang="en-IN" b="1" dirty="0"/>
              <a:t>Reflection &amp; Error Correction</a:t>
            </a:r>
            <a:endParaRPr lang="en-US" b="1" dirty="0"/>
          </a:p>
        </p:txBody>
      </p:sp>
      <p:sp>
        <p:nvSpPr>
          <p:cNvPr id="4" name="Rectangle 1">
            <a:extLst>
              <a:ext uri="{FF2B5EF4-FFF2-40B4-BE49-F238E27FC236}">
                <a16:creationId xmlns:a16="http://schemas.microsoft.com/office/drawing/2014/main" id="{879DCA0C-99A5-914E-9CDA-080414017711}"/>
              </a:ext>
            </a:extLst>
          </p:cNvPr>
          <p:cNvSpPr>
            <a:spLocks noGrp="1" noChangeArrowheads="1"/>
          </p:cNvSpPr>
          <p:nvPr>
            <p:ph idx="1"/>
          </p:nvPr>
        </p:nvSpPr>
        <p:spPr bwMode="auto">
          <a:xfrm>
            <a:off x="709684" y="1192835"/>
            <a:ext cx="11482316" cy="56169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Google Sans Text"/>
              </a:rPr>
              <a:t>Visual:</a:t>
            </a:r>
            <a:r>
              <a:rPr kumimoji="0" lang="en-US" altLang="en-US" sz="1800" b="0" i="0" u="none" strike="noStrike" cap="none" normalizeH="0" baseline="0" dirty="0">
                <a:ln>
                  <a:noFill/>
                </a:ln>
                <a:solidFill>
                  <a:schemeClr val="tx1"/>
                </a:solidFill>
                <a:effectLst/>
                <a:latin typeface="Google Sans Text"/>
              </a:rPr>
              <a:t> The </a:t>
            </a:r>
            <a:r>
              <a:rPr kumimoji="0" lang="en-US" altLang="en-US" sz="1800" b="0" i="0" u="none" strike="noStrike" cap="none" normalizeH="0" baseline="0" dirty="0" err="1">
                <a:ln>
                  <a:noFill/>
                </a:ln>
                <a:solidFill>
                  <a:schemeClr val="tx1"/>
                </a:solidFill>
                <a:effectLst/>
                <a:latin typeface="Google Sans Text"/>
              </a:rPr>
              <a:t>ReAct</a:t>
            </a:r>
            <a:r>
              <a:rPr kumimoji="0" lang="en-US" altLang="en-US" sz="1800" b="0" i="0" u="none" strike="noStrike" cap="none" normalizeH="0" baseline="0" dirty="0">
                <a:ln>
                  <a:noFill/>
                </a:ln>
                <a:solidFill>
                  <a:schemeClr val="tx1"/>
                </a:solidFill>
                <a:effectLst/>
                <a:latin typeface="Google Sans Text"/>
              </a:rPr>
              <a:t> pattern diagram (Thought -&gt; Act -&gt; Observation).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err="1">
                <a:ln>
                  <a:noFill/>
                </a:ln>
                <a:solidFill>
                  <a:schemeClr val="tx1"/>
                </a:solidFill>
                <a:effectLst/>
                <a:latin typeface="Google Sans Text"/>
              </a:rPr>
              <a:t>ReAct</a:t>
            </a:r>
            <a:r>
              <a:rPr kumimoji="0" lang="en-US" altLang="en-US" sz="1800" b="1" i="0" u="none" strike="noStrike" cap="none" normalizeH="0" baseline="0" dirty="0">
                <a:ln>
                  <a:noFill/>
                </a:ln>
                <a:solidFill>
                  <a:schemeClr val="tx1"/>
                </a:solidFill>
                <a:effectLst/>
                <a:latin typeface="Google Sans Text"/>
              </a:rPr>
              <a:t> Pattern:</a:t>
            </a:r>
            <a:r>
              <a:rPr kumimoji="0" lang="en-US" altLang="en-US" sz="1800" b="0" i="0" u="none" strike="noStrike" cap="none" normalizeH="0" baseline="0" dirty="0">
                <a:ln>
                  <a:noFill/>
                </a:ln>
                <a:solidFill>
                  <a:schemeClr val="tx1"/>
                </a:solidFill>
                <a:effectLst/>
                <a:latin typeface="Google Sans Text"/>
              </a:rPr>
              <a:t> Interleaving reasoning (planning) and acting.</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Google Sans Text"/>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1" u="none" strike="noStrike" cap="none" normalizeH="0" baseline="0" dirty="0">
                <a:ln>
                  <a:noFill/>
                </a:ln>
                <a:solidFill>
                  <a:schemeClr val="tx1"/>
                </a:solidFill>
                <a:effectLst/>
                <a:latin typeface="Google Sans Text"/>
              </a:rPr>
              <a:t>Thought:</a:t>
            </a:r>
            <a:r>
              <a:rPr kumimoji="0" lang="en-US" altLang="en-US" sz="1800" b="0" i="0" u="none" strike="noStrike" cap="none" normalizeH="0" baseline="0" dirty="0">
                <a:ln>
                  <a:noFill/>
                </a:ln>
                <a:solidFill>
                  <a:schemeClr val="tx1"/>
                </a:solidFill>
                <a:effectLst/>
                <a:latin typeface="Google Sans Text"/>
              </a:rPr>
              <a:t> "I need to find the author.”</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1" u="none" strike="noStrike" cap="none" normalizeH="0" baseline="0" dirty="0">
                <a:ln>
                  <a:noFill/>
                </a:ln>
                <a:solidFill>
                  <a:schemeClr val="tx1"/>
                </a:solidFill>
                <a:effectLst/>
                <a:latin typeface="Google Sans Text"/>
              </a:rPr>
              <a:t>Act:</a:t>
            </a:r>
            <a:r>
              <a:rPr kumimoji="0" lang="en-US" altLang="en-US" sz="1800" b="0" i="0" u="none" strike="noStrike" cap="none" normalizeH="0" baseline="0" dirty="0">
                <a:ln>
                  <a:noFill/>
                </a:ln>
                <a:solidFill>
                  <a:schemeClr val="tx1"/>
                </a:solidFill>
                <a:effectLst/>
                <a:latin typeface="Google Sans Text"/>
              </a:rPr>
              <a:t> </a:t>
            </a:r>
            <a:r>
              <a:rPr kumimoji="0" lang="en-US" altLang="en-US" sz="2000" b="0" i="0" u="none" strike="noStrike" cap="none" normalizeH="0" baseline="0" dirty="0">
                <a:ln>
                  <a:noFill/>
                </a:ln>
                <a:solidFill>
                  <a:schemeClr val="tx1"/>
                </a:solidFill>
                <a:effectLst/>
                <a:latin typeface="Google Sans Text"/>
              </a:rPr>
              <a:t>search(</a:t>
            </a:r>
            <a:r>
              <a:rPr kumimoji="0" lang="en-US" altLang="en-US" sz="2000" b="0" i="0" u="none" strike="noStrike" cap="none" normalizeH="0" baseline="0" dirty="0" err="1">
                <a:ln>
                  <a:noFill/>
                </a:ln>
                <a:solidFill>
                  <a:schemeClr val="tx1"/>
                </a:solidFill>
                <a:effectLst/>
                <a:latin typeface="Google Sans Text"/>
              </a:rPr>
              <a:t>book_title</a:t>
            </a:r>
            <a:r>
              <a:rPr kumimoji="0" lang="en-US" altLang="en-US" sz="2000" b="0" i="0" u="none" strike="noStrike" cap="none" normalizeH="0" baseline="0" dirty="0">
                <a:ln>
                  <a:noFill/>
                </a:ln>
                <a:solidFill>
                  <a:schemeClr val="tx1"/>
                </a:solidFill>
                <a:effectLst/>
                <a:latin typeface="Google Sans Text"/>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1" u="none" strike="noStrike" cap="none" normalizeH="0" baseline="0" dirty="0">
                <a:ln>
                  <a:noFill/>
                </a:ln>
                <a:solidFill>
                  <a:schemeClr val="tx1"/>
                </a:solidFill>
                <a:effectLst/>
                <a:latin typeface="Google Sans Text"/>
              </a:rPr>
              <a:t>Observation:</a:t>
            </a:r>
            <a:r>
              <a:rPr kumimoji="0" lang="en-US" altLang="en-US" sz="1800" b="0" i="0" u="none" strike="noStrike" cap="none" normalizeH="0" baseline="0" dirty="0">
                <a:ln>
                  <a:noFill/>
                </a:ln>
                <a:solidFill>
                  <a:schemeClr val="tx1"/>
                </a:solidFill>
                <a:effectLst/>
                <a:latin typeface="Google Sans Text"/>
              </a:rPr>
              <a:t> "Author is Liu Cixin.”</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1" u="none" strike="noStrike" cap="none" normalizeH="0" baseline="0" dirty="0">
                <a:ln>
                  <a:noFill/>
                </a:ln>
                <a:solidFill>
                  <a:schemeClr val="tx1"/>
                </a:solidFill>
                <a:effectLst/>
                <a:latin typeface="Google Sans Text"/>
              </a:rPr>
              <a:t>Thought:</a:t>
            </a:r>
            <a:r>
              <a:rPr kumimoji="0" lang="en-US" altLang="en-US" sz="1800" b="0" i="0" u="none" strike="noStrike" cap="none" normalizeH="0" baseline="0" dirty="0">
                <a:ln>
                  <a:noFill/>
                </a:ln>
                <a:solidFill>
                  <a:schemeClr val="tx1"/>
                </a:solidFill>
                <a:effectLst/>
                <a:latin typeface="Google Sans Text"/>
              </a:rPr>
              <a:t> "Now I need his other books.".</a:t>
            </a:r>
          </a:p>
          <a:p>
            <a:pPr marL="457200" marR="0" lvl="1"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err="1">
                <a:ln>
                  <a:noFill/>
                </a:ln>
                <a:solidFill>
                  <a:schemeClr val="tx1"/>
                </a:solidFill>
                <a:effectLst/>
                <a:latin typeface="Google Sans Text"/>
              </a:rPr>
              <a:t>Reflexion</a:t>
            </a:r>
            <a:r>
              <a:rPr kumimoji="0" lang="en-US" altLang="en-US" sz="1800" b="1" i="0" u="none" strike="noStrike" cap="none" normalizeH="0" baseline="0" dirty="0">
                <a:ln>
                  <a:noFill/>
                </a:ln>
                <a:solidFill>
                  <a:schemeClr val="tx1"/>
                </a:solidFill>
                <a:effectLst/>
                <a:latin typeface="Google Sans Text"/>
              </a:rPr>
              <a:t>:</a:t>
            </a:r>
            <a:r>
              <a:rPr kumimoji="0" lang="en-US" altLang="en-US" sz="1800" b="0" i="0" u="none" strike="noStrike" cap="none" normalizeH="0" baseline="0" dirty="0">
                <a:ln>
                  <a:noFill/>
                </a:ln>
                <a:solidFill>
                  <a:schemeClr val="tx1"/>
                </a:solidFill>
                <a:effectLst/>
                <a:latin typeface="Google Sans Text"/>
              </a:rPr>
              <a:t> An advanced framework where the agent explicitly critiques its own past attempts.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Google Sans Text"/>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Google Sans Text"/>
              </a:rPr>
              <a:t>Separates "Actor" from "Evaluator".</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Google Sans Text"/>
              </a:rPr>
              <a:t>If a plan fails, the agent reflects on </a:t>
            </a:r>
            <a:r>
              <a:rPr kumimoji="0" lang="en-US" altLang="en-US" sz="1800" b="0" i="1" u="none" strike="noStrike" cap="none" normalizeH="0" baseline="0" dirty="0">
                <a:ln>
                  <a:noFill/>
                </a:ln>
                <a:solidFill>
                  <a:schemeClr val="tx1"/>
                </a:solidFill>
                <a:effectLst/>
                <a:latin typeface="Google Sans Text"/>
              </a:rPr>
              <a:t>why</a:t>
            </a:r>
            <a:r>
              <a:rPr kumimoji="0" lang="en-US" altLang="en-US" sz="1800" b="0" i="0" u="none" strike="noStrike" cap="none" normalizeH="0" baseline="0" dirty="0">
                <a:ln>
                  <a:noFill/>
                </a:ln>
                <a:solidFill>
                  <a:schemeClr val="tx1"/>
                </a:solidFill>
                <a:effectLst/>
                <a:latin typeface="Google Sans Text"/>
              </a:rPr>
              <a:t> and proposes a new "trajectory".</a:t>
            </a:r>
          </a:p>
          <a:p>
            <a:pPr marL="457200" marR="0" lvl="1"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Google Sans Text"/>
              </a:rPr>
              <a:t>Self-Correction:</a:t>
            </a:r>
            <a:r>
              <a:rPr kumimoji="0" lang="en-US" altLang="en-US" sz="1800" b="0" i="0" u="none" strike="noStrike" cap="none" normalizeH="0" baseline="0" dirty="0">
                <a:ln>
                  <a:noFill/>
                </a:ln>
                <a:solidFill>
                  <a:schemeClr val="tx1"/>
                </a:solidFill>
                <a:effectLst/>
                <a:latin typeface="Google Sans Text"/>
              </a:rPr>
              <a:t> Essential for coding agents (e.g., seeing a unit test fail and rewriting the code)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Google Sans Text"/>
              </a:rPr>
              <a:t>Speaker Notes:</a:t>
            </a: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Google Sans Text"/>
              </a:rPr>
              <a:t>"An agent that runs blindly is a bad agent. The </a:t>
            </a:r>
            <a:r>
              <a:rPr kumimoji="0" lang="en-US" altLang="en-US" sz="1800" b="0" i="0" u="none" strike="noStrike" cap="none" normalizeH="0" baseline="0" dirty="0" err="1">
                <a:ln>
                  <a:noFill/>
                </a:ln>
                <a:solidFill>
                  <a:schemeClr val="tx1"/>
                </a:solidFill>
                <a:effectLst/>
                <a:latin typeface="Google Sans Text"/>
              </a:rPr>
              <a:t>ReAct</a:t>
            </a:r>
            <a:r>
              <a:rPr kumimoji="0" lang="en-US" altLang="en-US" sz="1800" b="0" i="0" u="none" strike="noStrike" cap="none" normalizeH="0" baseline="0" dirty="0">
                <a:ln>
                  <a:noFill/>
                </a:ln>
                <a:solidFill>
                  <a:schemeClr val="tx1"/>
                </a:solidFill>
                <a:effectLst/>
                <a:latin typeface="Google Sans Text"/>
              </a:rPr>
              <a:t> pattern—Reason, Act, Observe—is the standard for a reason. It allows the agent to adjust. If it searches for 'Apple' and gets fruit instead of tech, it sees the observation and corrects its next search. This loop is what makes agents robust."</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8265286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5115A9-0A92-50A5-077E-649378E26994}"/>
              </a:ext>
            </a:extLst>
          </p:cNvPr>
          <p:cNvSpPr>
            <a:spLocks noGrp="1"/>
          </p:cNvSpPr>
          <p:nvPr>
            <p:ph type="title"/>
          </p:nvPr>
        </p:nvSpPr>
        <p:spPr/>
        <p:txBody>
          <a:bodyPr/>
          <a:lstStyle/>
          <a:p>
            <a:pPr algn="ctr"/>
            <a:r>
              <a:rPr lang="en-IN" b="1" dirty="0"/>
              <a:t>Failure Modes &amp; Evaluation</a:t>
            </a:r>
            <a:endParaRPr lang="en-US" b="1" dirty="0"/>
          </a:p>
        </p:txBody>
      </p:sp>
      <p:sp>
        <p:nvSpPr>
          <p:cNvPr id="4" name="Rectangle 1">
            <a:extLst>
              <a:ext uri="{FF2B5EF4-FFF2-40B4-BE49-F238E27FC236}">
                <a16:creationId xmlns:a16="http://schemas.microsoft.com/office/drawing/2014/main" id="{465E2235-9166-C09E-2D06-FA834F220FB3}"/>
              </a:ext>
            </a:extLst>
          </p:cNvPr>
          <p:cNvSpPr>
            <a:spLocks noGrp="1" noChangeArrowheads="1"/>
          </p:cNvSpPr>
          <p:nvPr>
            <p:ph idx="1"/>
          </p:nvPr>
        </p:nvSpPr>
        <p:spPr bwMode="auto">
          <a:xfrm>
            <a:off x="1037229" y="1438965"/>
            <a:ext cx="10998927"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Visual:</a:t>
            </a:r>
            <a:r>
              <a:rPr kumimoji="0" lang="en-US" altLang="en-US" sz="1800" b="0" i="0" u="none" strike="noStrike" cap="none" normalizeH="0" baseline="0" dirty="0">
                <a:ln>
                  <a:noFill/>
                </a:ln>
                <a:solidFill>
                  <a:schemeClr val="tx1"/>
                </a:solidFill>
                <a:effectLst/>
                <a:latin typeface="Arial" panose="020B0604020202020204" pitchFamily="34" charset="0"/>
              </a:rPr>
              <a:t> A dashboard showing "Planning Failures" and "Tool Failures".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Planning Failures: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Invalid Tool:</a:t>
            </a:r>
            <a:r>
              <a:rPr kumimoji="0" lang="en-US" altLang="en-US" sz="1800" b="0" i="0" u="none" strike="noStrike" cap="none" normalizeH="0" baseline="0" dirty="0">
                <a:ln>
                  <a:noFill/>
                </a:ln>
                <a:solidFill>
                  <a:schemeClr val="tx1"/>
                </a:solidFill>
                <a:effectLst/>
                <a:latin typeface="Arial" panose="020B0604020202020204" pitchFamily="34" charset="0"/>
              </a:rPr>
              <a:t> Trying to call </a:t>
            </a:r>
            <a:r>
              <a:rPr kumimoji="0" lang="en-US" altLang="en-US" sz="1800" b="0" i="0" u="none" strike="noStrike" cap="none" normalizeH="0" baseline="0" dirty="0">
                <a:ln>
                  <a:noFill/>
                </a:ln>
                <a:solidFill>
                  <a:schemeClr val="tx1"/>
                </a:solidFill>
                <a:effectLst/>
                <a:latin typeface="Arial Unicode MS" panose="020B0604020202020204" pitchFamily="34" charset="-128"/>
              </a:rPr>
              <a:t>Google Search</a:t>
            </a:r>
            <a:r>
              <a:rPr kumimoji="0" lang="en-US" altLang="en-US" sz="1800" b="0" i="0" u="none" strike="noStrike" cap="none" normalizeH="0" baseline="0" dirty="0">
                <a:ln>
                  <a:noFill/>
                </a:ln>
                <a:solidFill>
                  <a:schemeClr val="tx1"/>
                </a:solidFill>
                <a:effectLst/>
              </a:rPr>
              <a:t> when it doesn't exist</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Hallucinated Parameters:</a:t>
            </a:r>
            <a:r>
              <a:rPr kumimoji="0" lang="en-US" altLang="en-US" sz="1800" b="0" i="0" u="none" strike="noStrike" cap="none" normalizeH="0" baseline="0" dirty="0">
                <a:ln>
                  <a:noFill/>
                </a:ln>
                <a:solidFill>
                  <a:schemeClr val="tx1"/>
                </a:solidFill>
                <a:effectLst/>
                <a:latin typeface="Arial" panose="020B0604020202020204" pitchFamily="34" charset="0"/>
              </a:rPr>
              <a:t> Calling </a:t>
            </a:r>
            <a:r>
              <a:rPr kumimoji="0" lang="en-US" altLang="en-US" sz="1800" b="0" i="0" u="none" strike="noStrike" cap="none" normalizeH="0" baseline="0" dirty="0" err="1">
                <a:ln>
                  <a:noFill/>
                </a:ln>
                <a:solidFill>
                  <a:schemeClr val="tx1"/>
                </a:solidFill>
                <a:effectLst/>
                <a:latin typeface="Arial Unicode MS" panose="020B0604020202020204" pitchFamily="34" charset="-128"/>
              </a:rPr>
              <a:t>lbs_to_kg</a:t>
            </a:r>
            <a:r>
              <a:rPr kumimoji="0" lang="en-US" altLang="en-US" sz="1800" b="0" i="0" u="none" strike="noStrike" cap="none" normalizeH="0" baseline="0" dirty="0">
                <a:ln>
                  <a:noFill/>
                </a:ln>
                <a:solidFill>
                  <a:schemeClr val="tx1"/>
                </a:solidFill>
                <a:effectLst/>
                <a:latin typeface="Arial Unicode MS" panose="020B0604020202020204" pitchFamily="34" charset="-128"/>
              </a:rPr>
              <a:t>(100, "pounds")</a:t>
            </a:r>
            <a:r>
              <a:rPr kumimoji="0" lang="en-US" altLang="en-US" sz="1800" b="0" i="0" u="none" strike="noStrike" cap="none" normalizeH="0" baseline="0" dirty="0">
                <a:ln>
                  <a:noFill/>
                </a:ln>
                <a:solidFill>
                  <a:schemeClr val="tx1"/>
                </a:solidFill>
                <a:effectLst/>
              </a:rPr>
              <a:t> when the function only takes one argument</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Looping:</a:t>
            </a:r>
            <a:r>
              <a:rPr kumimoji="0" lang="en-US" altLang="en-US" sz="1800" b="0" i="0" u="none" strike="noStrike" cap="none" normalizeH="0" baseline="0" dirty="0">
                <a:ln>
                  <a:noFill/>
                </a:ln>
                <a:solidFill>
                  <a:schemeClr val="tx1"/>
                </a:solidFill>
                <a:effectLst/>
                <a:latin typeface="Arial" panose="020B0604020202020204" pitchFamily="34" charset="0"/>
              </a:rPr>
              <a:t> Getting stuck in a loop without achieving the goal.</a:t>
            </a:r>
          </a:p>
          <a:p>
            <a:pPr marL="457200" marR="0" lvl="1"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Tool Failures:</a:t>
            </a:r>
            <a:r>
              <a:rPr kumimoji="0" lang="en-US" altLang="en-US" sz="1800" b="0" i="0" u="none" strike="noStrike" cap="none" normalizeH="0" baseline="0" dirty="0">
                <a:ln>
                  <a:noFill/>
                </a:ln>
                <a:solidFill>
                  <a:schemeClr val="tx1"/>
                </a:solidFill>
                <a:effectLst/>
                <a:latin typeface="Arial" panose="020B0604020202020204" pitchFamily="34" charset="0"/>
              </a:rPr>
              <a:t> The tool is called correctly, but returns wrong data (e.g., SQL query is syntactically correct but logically wrong)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Evaluation Strategy:</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Measure </a:t>
            </a:r>
            <a:r>
              <a:rPr kumimoji="0" lang="en-US" altLang="en-US" sz="1800" b="1" i="0" u="none" strike="noStrike" cap="none" normalizeH="0" baseline="0" dirty="0">
                <a:ln>
                  <a:noFill/>
                </a:ln>
                <a:solidFill>
                  <a:schemeClr val="tx1"/>
                </a:solidFill>
                <a:effectLst/>
                <a:latin typeface="Arial" panose="020B0604020202020204" pitchFamily="34" charset="0"/>
              </a:rPr>
              <a:t>Efficiency</a:t>
            </a:r>
            <a:r>
              <a:rPr kumimoji="0" lang="en-US" altLang="en-US" sz="1800" b="0" i="0" u="none" strike="noStrike" cap="none" normalizeH="0" baseline="0" dirty="0">
                <a:ln>
                  <a:noFill/>
                </a:ln>
                <a:solidFill>
                  <a:schemeClr val="tx1"/>
                </a:solidFill>
                <a:effectLst/>
                <a:latin typeface="Arial" panose="020B0604020202020204" pitchFamily="34" charset="0"/>
              </a:rPr>
              <a:t>: Steps per task, Cost per task.</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Measure </a:t>
            </a:r>
            <a:r>
              <a:rPr kumimoji="0" lang="en-US" altLang="en-US" sz="1800" b="1" i="0" u="none" strike="noStrike" cap="none" normalizeH="0" baseline="0" dirty="0">
                <a:ln>
                  <a:noFill/>
                </a:ln>
                <a:solidFill>
                  <a:schemeClr val="tx1"/>
                </a:solidFill>
                <a:effectLst/>
                <a:latin typeface="Arial" panose="020B0604020202020204" pitchFamily="34" charset="0"/>
              </a:rPr>
              <a:t>Validity</a:t>
            </a:r>
            <a:r>
              <a:rPr kumimoji="0" lang="en-US" altLang="en-US" sz="1800" b="0" i="0" u="none" strike="noStrike" cap="none" normalizeH="0" baseline="0" dirty="0">
                <a:ln>
                  <a:noFill/>
                </a:ln>
                <a:solidFill>
                  <a:schemeClr val="tx1"/>
                </a:solidFill>
                <a:effectLst/>
                <a:latin typeface="Arial" panose="020B0604020202020204" pitchFamily="34" charset="0"/>
              </a:rPr>
              <a:t>: % of valid tool calls, % of successful plans .</a:t>
            </a:r>
          </a:p>
          <a:p>
            <a:pPr marL="457200" marR="0" lvl="1"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Speaker Notes:</a:t>
            </a:r>
            <a:r>
              <a:rPr kumimoji="0" lang="en-US" altLang="en-US" sz="1800" b="0" i="0" u="none" strike="noStrike" cap="none" normalizeH="0" baseline="0" dirty="0">
                <a:ln>
                  <a:noFill/>
                </a:ln>
                <a:solidFill>
                  <a:schemeClr val="tx1"/>
                </a:solidFill>
                <a:effectLst/>
                <a:latin typeface="Arial" panose="020B0604020202020204" pitchFamily="34" charset="0"/>
              </a:rPr>
              <a:t> "How do we know if an agent is good? We look at failures. Does it try to invent tools that don't exist? Does it get stuck in infinite loops? We need to evaluate not just the final answer, but the </a:t>
            </a:r>
            <a:r>
              <a:rPr kumimoji="0" lang="en-US" altLang="en-US" sz="1800" b="0" i="1" u="none" strike="noStrike" cap="none" normalizeH="0" baseline="0" dirty="0">
                <a:ln>
                  <a:noFill/>
                </a:ln>
                <a:solidFill>
                  <a:schemeClr val="tx1"/>
                </a:solidFill>
                <a:effectLst/>
                <a:latin typeface="Arial" panose="020B0604020202020204" pitchFamily="34" charset="0"/>
              </a:rPr>
              <a:t>process</a:t>
            </a:r>
            <a:r>
              <a:rPr kumimoji="0" lang="en-US" altLang="en-US" sz="1800" b="0" i="0" u="none" strike="noStrike" cap="none" normalizeH="0" baseline="0" dirty="0">
                <a:ln>
                  <a:noFill/>
                </a:ln>
                <a:solidFill>
                  <a:schemeClr val="tx1"/>
                </a:solidFill>
                <a:effectLst/>
                <a:latin typeface="Arial" panose="020B0604020202020204" pitchFamily="34" charset="0"/>
              </a:rPr>
              <a:t>. Did it take 100 steps to do a 5-step task? That's an efficiency failure."</a:t>
            </a:r>
          </a:p>
        </p:txBody>
      </p:sp>
    </p:spTree>
    <p:extLst>
      <p:ext uri="{BB962C8B-B14F-4D97-AF65-F5344CB8AC3E}">
        <p14:creationId xmlns:p14="http://schemas.microsoft.com/office/powerpoint/2010/main" val="24080206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BAFDCF-666B-50BF-57F8-5B26CF925360}"/>
              </a:ext>
            </a:extLst>
          </p:cNvPr>
          <p:cNvSpPr>
            <a:spLocks noGrp="1"/>
          </p:cNvSpPr>
          <p:nvPr>
            <p:ph type="title"/>
          </p:nvPr>
        </p:nvSpPr>
        <p:spPr/>
        <p:txBody>
          <a:bodyPr/>
          <a:lstStyle/>
          <a:p>
            <a:pPr algn="ctr"/>
            <a:r>
              <a:rPr lang="en-IN" b="1" dirty="0"/>
              <a:t>Memory Systems</a:t>
            </a:r>
            <a:endParaRPr lang="en-US" b="1" dirty="0"/>
          </a:p>
        </p:txBody>
      </p:sp>
      <p:sp>
        <p:nvSpPr>
          <p:cNvPr id="4" name="Rectangle 1">
            <a:extLst>
              <a:ext uri="{FF2B5EF4-FFF2-40B4-BE49-F238E27FC236}">
                <a16:creationId xmlns:a16="http://schemas.microsoft.com/office/drawing/2014/main" id="{A434FC48-AEF0-ED09-8BA2-1697F8F86104}"/>
              </a:ext>
            </a:extLst>
          </p:cNvPr>
          <p:cNvSpPr>
            <a:spLocks noGrp="1" noChangeArrowheads="1"/>
          </p:cNvSpPr>
          <p:nvPr>
            <p:ph idx="1"/>
          </p:nvPr>
        </p:nvSpPr>
        <p:spPr bwMode="auto">
          <a:xfrm>
            <a:off x="1542197" y="1600638"/>
            <a:ext cx="9811603" cy="4801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Visual:</a:t>
            </a:r>
            <a:r>
              <a:rPr kumimoji="0" lang="en-US" altLang="en-US" sz="1800" b="0" i="0" u="none" strike="noStrike" cap="none" normalizeH="0" baseline="0" dirty="0">
                <a:ln>
                  <a:noFill/>
                </a:ln>
                <a:solidFill>
                  <a:schemeClr val="tx1"/>
                </a:solidFill>
                <a:effectLst/>
                <a:latin typeface="Arial" panose="020B0604020202020204" pitchFamily="34" charset="0"/>
              </a:rPr>
              <a:t> Architecture diagram showing Internal, Short-term, and Long-term memory.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Hierarchy of Memory</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800" b="1" i="0" u="none" strike="noStrike" cap="none" normalizeH="0" baseline="0" dirty="0">
                <a:ln>
                  <a:noFill/>
                </a:ln>
                <a:solidFill>
                  <a:schemeClr val="tx1"/>
                </a:solidFill>
                <a:effectLst/>
                <a:latin typeface="Arial" panose="020B0604020202020204" pitchFamily="34" charset="0"/>
              </a:rPr>
              <a:t>Internal Knowledge:</a:t>
            </a:r>
            <a:r>
              <a:rPr kumimoji="0" lang="en-US" altLang="en-US" sz="1800" b="0" i="0" u="none" strike="noStrike" cap="none" normalizeH="0" baseline="0" dirty="0">
                <a:ln>
                  <a:noFill/>
                </a:ln>
                <a:solidFill>
                  <a:schemeClr val="tx1"/>
                </a:solidFill>
                <a:effectLst/>
                <a:latin typeface="Arial" panose="020B0604020202020204" pitchFamily="34" charset="0"/>
              </a:rPr>
              <a:t> The model's training weights (Static).</a:t>
            </a:r>
          </a:p>
          <a:p>
            <a:pPr marL="457200" marR="0" lvl="1"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800" b="1" i="0" u="none" strike="noStrike" cap="none" normalizeH="0" baseline="0" dirty="0">
                <a:ln>
                  <a:noFill/>
                </a:ln>
                <a:solidFill>
                  <a:schemeClr val="tx1"/>
                </a:solidFill>
                <a:effectLst/>
                <a:latin typeface="Arial" panose="020B0604020202020204" pitchFamily="34" charset="0"/>
              </a:rPr>
              <a:t>Short-Term Memory:</a:t>
            </a:r>
            <a:r>
              <a:rPr kumimoji="0" lang="en-US" altLang="en-US" sz="1800" b="0" i="0" u="none" strike="noStrike" cap="none" normalizeH="0" baseline="0" dirty="0">
                <a:ln>
                  <a:noFill/>
                </a:ln>
                <a:solidFill>
                  <a:schemeClr val="tx1"/>
                </a:solidFill>
                <a:effectLst/>
                <a:latin typeface="Arial" panose="020B0604020202020204" pitchFamily="34" charset="0"/>
              </a:rPr>
              <a:t> The Context Window (Limited, fast access).</a:t>
            </a:r>
          </a:p>
          <a:p>
            <a:pPr marL="457200" marR="0" lvl="1"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800" b="1" i="0" u="none" strike="noStrike" cap="none" normalizeH="0" baseline="0" dirty="0">
                <a:ln>
                  <a:noFill/>
                </a:ln>
                <a:solidFill>
                  <a:schemeClr val="tx1"/>
                </a:solidFill>
                <a:effectLst/>
                <a:latin typeface="Arial" panose="020B0604020202020204" pitchFamily="34" charset="0"/>
              </a:rPr>
              <a:t>Long-Term Memory:</a:t>
            </a:r>
            <a:r>
              <a:rPr kumimoji="0" lang="en-US" altLang="en-US" sz="1800" b="0" i="0" u="none" strike="noStrike" cap="none" normalizeH="0" baseline="0" dirty="0">
                <a:ln>
                  <a:noFill/>
                </a:ln>
                <a:solidFill>
                  <a:schemeClr val="tx1"/>
                </a:solidFill>
                <a:effectLst/>
                <a:latin typeface="Arial" panose="020B0604020202020204" pitchFamily="34" charset="0"/>
              </a:rPr>
              <a:t> External databases/RAG (Unlimited, retrieval needed).</a:t>
            </a:r>
          </a:p>
          <a:p>
            <a:pPr marL="457200" marR="0" lvl="1" indent="0" algn="l" defTabSz="914400" rtl="0" eaLnBrk="0" fontAlgn="base" latinLnBrk="0" hangingPunct="0">
              <a:lnSpc>
                <a:spcPct val="100000"/>
              </a:lnSpc>
              <a:spcBef>
                <a:spcPct val="0"/>
              </a:spcBef>
              <a:spcAft>
                <a:spcPct val="0"/>
              </a:spcAft>
              <a:buClrTx/>
              <a:buSzTx/>
              <a:buFontTx/>
              <a:buAutoNum type="arabicPeriod" startAt="3"/>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Memory Management:</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Overflow:</a:t>
            </a:r>
            <a:r>
              <a:rPr kumimoji="0" lang="en-US" altLang="en-US" sz="1800" b="0" i="0" u="none" strike="noStrike" cap="none" normalizeH="0" baseline="0" dirty="0">
                <a:ln>
                  <a:noFill/>
                </a:ln>
                <a:solidFill>
                  <a:schemeClr val="tx1"/>
                </a:solidFill>
                <a:effectLst/>
                <a:latin typeface="Arial" panose="020B0604020202020204" pitchFamily="34" charset="0"/>
              </a:rPr>
              <a:t> Moving data from Context to Long-term storage when the window fills up.</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FIFO vs. Summarization:</a:t>
            </a:r>
            <a:r>
              <a:rPr kumimoji="0" lang="en-US" altLang="en-US" sz="1800" b="0" i="0" u="none" strike="noStrike" cap="none" normalizeH="0" baseline="0" dirty="0">
                <a:ln>
                  <a:noFill/>
                </a:ln>
                <a:solidFill>
                  <a:schemeClr val="tx1"/>
                </a:solidFill>
                <a:effectLst/>
                <a:latin typeface="Arial" panose="020B0604020202020204" pitchFamily="34" charset="0"/>
              </a:rPr>
              <a:t> First-In-First-Out is simple but risky (you might lose the original instruction) . Summarization is better for reducing redundancy.</a:t>
            </a:r>
          </a:p>
          <a:p>
            <a:pPr marL="457200" marR="0" lvl="1"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Speaker Notes:</a:t>
            </a:r>
            <a:r>
              <a:rPr kumimoji="0" lang="en-US" altLang="en-US" sz="1800" b="0" i="0" u="none" strike="noStrike" cap="none" normalizeH="0" baseline="0" dirty="0">
                <a:ln>
                  <a:noFill/>
                </a:ln>
                <a:solidFill>
                  <a:schemeClr val="tx1"/>
                </a:solidFill>
                <a:effectLst/>
                <a:latin typeface="Arial" panose="020B0604020202020204" pitchFamily="34" charset="0"/>
              </a:rPr>
              <a:t> "Finally, agents need memory. If you have a long conversation, the context window fills up. You can't just delete the old stuff—you might delete the user's instructions! We need systems that move short-term context into long-term storage, effectively giving the agent a permanent brain."</a:t>
            </a:r>
          </a:p>
        </p:txBody>
      </p:sp>
    </p:spTree>
    <p:extLst>
      <p:ext uri="{BB962C8B-B14F-4D97-AF65-F5344CB8AC3E}">
        <p14:creationId xmlns:p14="http://schemas.microsoft.com/office/powerpoint/2010/main" val="19621721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CF9C44-57BC-3AF9-F5AE-8AC637C97F6E}"/>
              </a:ext>
            </a:extLst>
          </p:cNvPr>
          <p:cNvSpPr>
            <a:spLocks noGrp="1"/>
          </p:cNvSpPr>
          <p:nvPr>
            <p:ph type="title"/>
          </p:nvPr>
        </p:nvSpPr>
        <p:spPr/>
        <p:txBody>
          <a:bodyPr/>
          <a:lstStyle/>
          <a:p>
            <a:pPr algn="ctr"/>
            <a:r>
              <a:rPr lang="en-US" b="1" dirty="0"/>
              <a:t>Conclusion</a:t>
            </a:r>
          </a:p>
        </p:txBody>
      </p:sp>
      <p:sp>
        <p:nvSpPr>
          <p:cNvPr id="3" name="Content Placeholder 2">
            <a:extLst>
              <a:ext uri="{FF2B5EF4-FFF2-40B4-BE49-F238E27FC236}">
                <a16:creationId xmlns:a16="http://schemas.microsoft.com/office/drawing/2014/main" id="{3E91D92C-E701-B7FD-6B75-A44C9E45C2CF}"/>
              </a:ext>
            </a:extLst>
          </p:cNvPr>
          <p:cNvSpPr>
            <a:spLocks noGrp="1"/>
          </p:cNvSpPr>
          <p:nvPr>
            <p:ph idx="1"/>
          </p:nvPr>
        </p:nvSpPr>
        <p:spPr>
          <a:xfrm flipV="1">
            <a:off x="1343167" y="9132887"/>
            <a:ext cx="10515600" cy="42323167"/>
          </a:xfrm>
        </p:spPr>
        <p:txBody>
          <a:bodyPr/>
          <a:lstStyle/>
          <a:p>
            <a:endParaRPr lang="en-US" dirty="0"/>
          </a:p>
        </p:txBody>
      </p:sp>
      <p:sp>
        <p:nvSpPr>
          <p:cNvPr id="7" name="Rectangle 4">
            <a:extLst>
              <a:ext uri="{FF2B5EF4-FFF2-40B4-BE49-F238E27FC236}">
                <a16:creationId xmlns:a16="http://schemas.microsoft.com/office/drawing/2014/main" id="{45521F86-D54A-3433-BB44-700A76E23732}"/>
              </a:ext>
            </a:extLst>
          </p:cNvPr>
          <p:cNvSpPr>
            <a:spLocks noChangeArrowheads="1"/>
          </p:cNvSpPr>
          <p:nvPr/>
        </p:nvSpPr>
        <p:spPr bwMode="auto">
          <a:xfrm>
            <a:off x="1446662" y="1514935"/>
            <a:ext cx="9758150"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Visual:</a:t>
            </a:r>
            <a:r>
              <a:rPr kumimoji="0" lang="en-US" altLang="en-US" sz="1800" b="0" i="0" u="none" strike="noStrike" cap="none" normalizeH="0" baseline="0" dirty="0">
                <a:ln>
                  <a:noFill/>
                </a:ln>
                <a:solidFill>
                  <a:schemeClr val="tx1"/>
                </a:solidFill>
                <a:effectLst/>
                <a:latin typeface="Arial" panose="020B0604020202020204" pitchFamily="34" charset="0"/>
              </a:rPr>
              <a:t> A roadmap graphic pointing towards "Autonomous Systems".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Summary:</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RAG</a:t>
            </a:r>
            <a:r>
              <a:rPr kumimoji="0" lang="en-US" altLang="en-US" sz="1800" b="0" i="0" u="none" strike="noStrike" cap="none" normalizeH="0" baseline="0" dirty="0">
                <a:ln>
                  <a:noFill/>
                </a:ln>
                <a:solidFill>
                  <a:schemeClr val="tx1"/>
                </a:solidFill>
                <a:effectLst/>
                <a:latin typeface="Arial" panose="020B0604020202020204" pitchFamily="34" charset="0"/>
              </a:rPr>
              <a:t> augments knowledge.</a:t>
            </a:r>
          </a:p>
          <a:p>
            <a:pPr marL="457200" marR="0" lvl="1"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Agents</a:t>
            </a:r>
            <a:r>
              <a:rPr kumimoji="0" lang="en-US" altLang="en-US" sz="1800" b="0" i="0" u="none" strike="noStrike" cap="none" normalizeH="0" baseline="0" dirty="0">
                <a:ln>
                  <a:noFill/>
                </a:ln>
                <a:solidFill>
                  <a:schemeClr val="tx1"/>
                </a:solidFill>
                <a:effectLst/>
                <a:latin typeface="Arial" panose="020B0604020202020204" pitchFamily="34" charset="0"/>
              </a:rPr>
              <a:t> augment capabilities through tools and planning.</a:t>
            </a:r>
          </a:p>
          <a:p>
            <a:pPr marL="457200" marR="0" lvl="1"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The Trade-off:</a:t>
            </a:r>
            <a:r>
              <a:rPr kumimoji="0" lang="en-US" altLang="en-US" sz="1800" b="0" i="0" u="none" strike="noStrike" cap="none" normalizeH="0" baseline="0" dirty="0">
                <a:ln>
                  <a:noFill/>
                </a:ln>
                <a:solidFill>
                  <a:schemeClr val="tx1"/>
                </a:solidFill>
                <a:effectLst/>
                <a:latin typeface="Arial" panose="020B0604020202020204" pitchFamily="34" charset="0"/>
              </a:rPr>
              <a:t> More tools = More capabilities = Higher risk of failure and security threats.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Future:</a:t>
            </a:r>
            <a:r>
              <a:rPr kumimoji="0" lang="en-US" altLang="en-US" sz="1800" b="0" i="0" u="none" strike="noStrike" cap="none" normalizeH="0" baseline="0" dirty="0">
                <a:ln>
                  <a:noFill/>
                </a:ln>
                <a:solidFill>
                  <a:schemeClr val="tx1"/>
                </a:solidFill>
                <a:effectLst/>
                <a:latin typeface="Arial" panose="020B0604020202020204" pitchFamily="34" charset="0"/>
              </a:rPr>
              <a:t> FM (Foundation Model) Agents and RL (Reinforcement Learning) Agents will likely </a:t>
            </a:r>
            <a:r>
              <a:rPr kumimoji="0" lang="en-US" altLang="en-US" sz="1800" b="0" i="0" u="none" strike="noStrike" cap="none" normalizeH="0" baseline="0">
                <a:ln>
                  <a:noFill/>
                </a:ln>
                <a:solidFill>
                  <a:schemeClr val="tx1"/>
                </a:solidFill>
                <a:effectLst/>
                <a:latin typeface="Arial" panose="020B0604020202020204" pitchFamily="34" charset="0"/>
              </a:rPr>
              <a:t>merge.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Speaker Notes:</a:t>
            </a:r>
            <a:r>
              <a:rPr kumimoji="0" lang="en-US" altLang="en-US" sz="1800" b="0" i="0" u="none" strike="noStrike" cap="none" normalizeH="0" baseline="0" dirty="0">
                <a:ln>
                  <a:noFill/>
                </a:ln>
                <a:solidFill>
                  <a:schemeClr val="tx1"/>
                </a:solidFill>
                <a:effectLst/>
                <a:latin typeface="Arial" panose="020B0604020202020204" pitchFamily="34" charset="0"/>
              </a:rPr>
              <a:t> "We are moving from chatbots that talk to agents that work. The potential is enormous, but so are the risks. As we build these systems, we must balance capability with safety. The future belongs to agents that can plan, reflect, and remember."</a:t>
            </a:r>
          </a:p>
        </p:txBody>
      </p:sp>
      <p:sp>
        <p:nvSpPr>
          <p:cNvPr id="9" name="Rectangle 6">
            <a:extLst>
              <a:ext uri="{FF2B5EF4-FFF2-40B4-BE49-F238E27FC236}">
                <a16:creationId xmlns:a16="http://schemas.microsoft.com/office/drawing/2014/main" id="{83E491A7-D8ED-2F03-17C6-2436D8439AE0}"/>
              </a:ext>
            </a:extLst>
          </p:cNvPr>
          <p:cNvSpPr>
            <a:spLocks noChangeArrowheads="1"/>
          </p:cNvSpPr>
          <p:nvPr/>
        </p:nvSpPr>
        <p:spPr bwMode="auto">
          <a:xfrm>
            <a:off x="504967" y="34290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35810574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26</TotalTime>
  <Words>1683</Words>
  <Application>Microsoft Macintosh PowerPoint</Application>
  <PresentationFormat>Widescreen</PresentationFormat>
  <Paragraphs>151</Paragraphs>
  <Slides>10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 Unicode MS</vt:lpstr>
      <vt:lpstr>Aptos</vt:lpstr>
      <vt:lpstr>Aptos Display</vt:lpstr>
      <vt:lpstr>Arial</vt:lpstr>
      <vt:lpstr>Google Sans Text</vt:lpstr>
      <vt:lpstr>Office Theme</vt:lpstr>
      <vt:lpstr>Beyond Static RAG—Building Autonomous Agents</vt:lpstr>
      <vt:lpstr>From Retrieval to Agency</vt:lpstr>
      <vt:lpstr>RAG for Structured Data (The SQL Agent)</vt:lpstr>
      <vt:lpstr>The Agentic Framework</vt:lpstr>
      <vt:lpstr>The Tool Inventory</vt:lpstr>
      <vt:lpstr>Planning &amp; Reasoning</vt:lpstr>
      <vt:lpstr>Reflection &amp; Error Correction</vt:lpstr>
      <vt:lpstr>Failure Modes &amp; Evaluation</vt:lpstr>
      <vt:lpstr>Memory Systems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Sreenivasulu Madichetty</dc:creator>
  <cp:lastModifiedBy>Sreenivasulu Madichetty</cp:lastModifiedBy>
  <cp:revision>19</cp:revision>
  <dcterms:created xsi:type="dcterms:W3CDTF">2026-01-28T06:55:33Z</dcterms:created>
  <dcterms:modified xsi:type="dcterms:W3CDTF">2026-01-28T07:22:20Z</dcterms:modified>
</cp:coreProperties>
</file>