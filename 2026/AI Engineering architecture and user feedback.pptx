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E6409-4551-B1EB-4949-421309E5921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605D8D5-7D11-F391-4E91-FF35A7EB33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09A9312-ACE8-E45D-A180-212CEBB6DE9B}"/>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4749FC9C-4BCD-D2FF-2269-64A1A7EB9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BFF60B-B5EE-B09F-1DE2-85B89493BECC}"/>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118563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E3DD-C1C6-9F4B-86A6-A2DD2C38777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05F46E-A8B0-B4FD-C84F-74008B1086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B81412-5D49-2995-C8AA-3C480C7FA469}"/>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F90AD231-D88E-8FD1-AB68-5817F9C1A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81AECF-A81D-A456-7A03-B1CA6D234854}"/>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281578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E06AD-1C8F-D93A-FA51-41AD95058E6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BC2AF3C-59E3-374D-B2B5-57CE1F6FD6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647370E-00B5-C665-CE18-A0D30A617C9E}"/>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C82EF77E-291C-FDFF-9E8E-E997BE0EB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CCFC8E-0CEF-8F0D-E5C3-FD75D7E94813}"/>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398149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EDF4E-0982-4F7A-BDFB-0274FDA708B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DBF0814-715E-1D7D-0325-7F4813D6C0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4C1D3F-491B-6703-7CAF-BDE35EBECBF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5EF1113-7CA5-456A-C619-47918C1DE2EB}"/>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6" name="Footer Placeholder 5">
            <a:extLst>
              <a:ext uri="{FF2B5EF4-FFF2-40B4-BE49-F238E27FC236}">
                <a16:creationId xmlns:a16="http://schemas.microsoft.com/office/drawing/2014/main" id="{6DEA23E2-0950-48DE-E9E2-59C691D00E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9F93E-7552-85CE-2F66-88FCA40B3E94}"/>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1123377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3EA5-EE27-639C-3924-F68B86FEF81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2D2C0F-BABE-77E0-BEE7-82FB3461C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9A6B3C-64CB-9593-5113-CCAF5EFA812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D83E359-D180-CD8A-E3E8-3BF24F04E1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E4A816F-CE68-CE30-C95D-FFC2637C956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14F3AC0-D5D9-D9B7-862A-91BFA051BF73}"/>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8" name="Footer Placeholder 7">
            <a:extLst>
              <a:ext uri="{FF2B5EF4-FFF2-40B4-BE49-F238E27FC236}">
                <a16:creationId xmlns:a16="http://schemas.microsoft.com/office/drawing/2014/main" id="{E4CD6F2D-133D-FA6D-164F-6E145A178B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AB6516-B0C3-ECDE-00AD-071C10C71A70}"/>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3617146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4C654-8852-34C0-E007-82E9C540A38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F925EDD-1933-8E21-7FB1-6873B5B100F2}"/>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4" name="Footer Placeholder 3">
            <a:extLst>
              <a:ext uri="{FF2B5EF4-FFF2-40B4-BE49-F238E27FC236}">
                <a16:creationId xmlns:a16="http://schemas.microsoft.com/office/drawing/2014/main" id="{3310F271-438E-EE31-247F-CF21E9FF3C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B474F7-BA0C-02D1-8F72-944E604F9FDC}"/>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351624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C15056-BF5A-8F63-4CA1-D5B6B637A208}"/>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3" name="Footer Placeholder 2">
            <a:extLst>
              <a:ext uri="{FF2B5EF4-FFF2-40B4-BE49-F238E27FC236}">
                <a16:creationId xmlns:a16="http://schemas.microsoft.com/office/drawing/2014/main" id="{1434E0C2-FAFF-8ACF-6FE8-AF118A85FF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F89CD6-561A-B5AC-0D78-AAFB122ACF93}"/>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2484378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9E30-8702-23CF-3269-F8DDE1B5B37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F3DC72E-A798-BD87-8C75-029F59D8A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C044CBA-9870-AD53-FB17-2AC4D780B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969214-06D8-17AB-2C1D-14E9F4D0E9ED}"/>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6" name="Footer Placeholder 5">
            <a:extLst>
              <a:ext uri="{FF2B5EF4-FFF2-40B4-BE49-F238E27FC236}">
                <a16:creationId xmlns:a16="http://schemas.microsoft.com/office/drawing/2014/main" id="{C2614E96-1623-A9E9-3EE4-4AAE8638A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7CC31-91DF-38D8-7FA5-C0AB4E7A30E7}"/>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1515885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9110-D2E3-C2D0-C43E-1565208C2E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391B83E-C3DE-A3B1-5A7B-DABAB6FA80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A9CF47-7933-E578-93DA-4C54FF612A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FD247B-68F1-06D6-736C-923E1AF2C8EE}"/>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6" name="Footer Placeholder 5">
            <a:extLst>
              <a:ext uri="{FF2B5EF4-FFF2-40B4-BE49-F238E27FC236}">
                <a16:creationId xmlns:a16="http://schemas.microsoft.com/office/drawing/2014/main" id="{A4716ED3-DA96-1BF9-E1F7-086D060E2C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508294-43F1-6223-C896-A3D628C93AA3}"/>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2626063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D047-9DD5-883E-B8A1-A9700344317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5A6031C-7291-73F6-0FCF-FBD77A42C5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57F25B-6E80-A21A-D2D7-BBEC751576E2}"/>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B473841C-4121-8F2F-1219-947E79E82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365B7-27BB-FD2A-E372-7A96D57CA12B}"/>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169517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748D4-149C-FC9F-9767-9BE4F594850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512585E-1FD3-B155-1844-F8AAE18F0D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C5FD12-639C-B8AA-F49E-978DF767156D}"/>
              </a:ext>
            </a:extLst>
          </p:cNvPr>
          <p:cNvSpPr>
            <a:spLocks noGrp="1"/>
          </p:cNvSpPr>
          <p:nvPr>
            <p:ph type="dt" sz="half" idx="10"/>
          </p:nvPr>
        </p:nvSpPr>
        <p:spPr/>
        <p:txBody>
          <a:body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BE2F5C3F-E554-668B-54EB-419CBE126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F6C4E9-2E97-125E-0312-7ED1DF3368EB}"/>
              </a:ext>
            </a:extLst>
          </p:cNvPr>
          <p:cNvSpPr>
            <a:spLocks noGrp="1"/>
          </p:cNvSpPr>
          <p:nvPr>
            <p:ph type="sldNum" sz="quarter" idx="12"/>
          </p:nvPr>
        </p:nvSpPr>
        <p:spPr/>
        <p:txBody>
          <a:bodyPr/>
          <a:lstStyle/>
          <a:p>
            <a:fld id="{349DB95B-A98B-C54E-A14B-ED647361F30C}" type="slidenum">
              <a:rPr lang="en-US" smtClean="0"/>
              <a:t>‹#›</a:t>
            </a:fld>
            <a:endParaRPr lang="en-US"/>
          </a:p>
        </p:txBody>
      </p:sp>
    </p:spTree>
    <p:extLst>
      <p:ext uri="{BB962C8B-B14F-4D97-AF65-F5344CB8AC3E}">
        <p14:creationId xmlns:p14="http://schemas.microsoft.com/office/powerpoint/2010/main" val="817046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B7F92-80AB-FB7F-B676-CD91331D2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2B05852-3F98-AB6A-BFBD-504328AD6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7C6577-729E-261D-BFFC-C3B94BF82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1B35A4-7A7F-C44E-9E1D-1D293199BD73}" type="datetimeFigureOut">
              <a:rPr lang="en-US" smtClean="0"/>
              <a:t>1/30/26</a:t>
            </a:fld>
            <a:endParaRPr lang="en-US"/>
          </a:p>
        </p:txBody>
      </p:sp>
      <p:sp>
        <p:nvSpPr>
          <p:cNvPr id="5" name="Footer Placeholder 4">
            <a:extLst>
              <a:ext uri="{FF2B5EF4-FFF2-40B4-BE49-F238E27FC236}">
                <a16:creationId xmlns:a16="http://schemas.microsoft.com/office/drawing/2014/main" id="{188C54A5-AD8E-7C78-0AC9-173F226A4F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05FC00-066D-CF75-16E1-3BBFBFC5CB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9DB95B-A98B-C54E-A14B-ED647361F30C}" type="slidenum">
              <a:rPr lang="en-US" smtClean="0"/>
              <a:t>‹#›</a:t>
            </a:fld>
            <a:endParaRPr lang="en-US"/>
          </a:p>
        </p:txBody>
      </p:sp>
    </p:spTree>
    <p:extLst>
      <p:ext uri="{BB962C8B-B14F-4D97-AF65-F5344CB8AC3E}">
        <p14:creationId xmlns:p14="http://schemas.microsoft.com/office/powerpoint/2010/main" val="2961391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6438-B82C-DC70-95B1-2DADAFEEC3E2}"/>
              </a:ext>
            </a:extLst>
          </p:cNvPr>
          <p:cNvSpPr>
            <a:spLocks noGrp="1"/>
          </p:cNvSpPr>
          <p:nvPr>
            <p:ph type="ctrTitle"/>
          </p:nvPr>
        </p:nvSpPr>
        <p:spPr>
          <a:xfrm>
            <a:off x="1524000" y="1122363"/>
            <a:ext cx="9144000" cy="2387600"/>
          </a:xfrm>
        </p:spPr>
        <p:txBody>
          <a:bodyPr>
            <a:normAutofit/>
          </a:bodyPr>
          <a:lstStyle/>
          <a:p>
            <a:r>
              <a:rPr lang="en-IN" sz="4000" dirty="0"/>
              <a:t>The Evolution of AI Architecture</a:t>
            </a:r>
            <a:br>
              <a:rPr lang="en-IN" sz="4000" dirty="0"/>
            </a:br>
            <a:r>
              <a:rPr kumimoji="0" lang="en-US" altLang="en-US" sz="2000" b="1" i="0" u="none" strike="noStrike" cap="none" normalizeH="0" baseline="0" dirty="0">
                <a:ln>
                  <a:noFill/>
                </a:ln>
                <a:solidFill>
                  <a:srgbClr val="92D050"/>
                </a:solidFill>
                <a:effectLst/>
                <a:latin typeface="Arial" panose="020B0604020202020204" pitchFamily="34" charset="0"/>
              </a:rPr>
              <a:t>Slide Title:</a:t>
            </a:r>
            <a:r>
              <a:rPr kumimoji="0" lang="en-US" altLang="en-US" sz="2000" b="0" i="0" u="none" strike="noStrike" cap="none" normalizeH="0" baseline="0" dirty="0">
                <a:ln>
                  <a:noFill/>
                </a:ln>
                <a:solidFill>
                  <a:srgbClr val="92D050"/>
                </a:solidFill>
                <a:effectLst/>
                <a:latin typeface="Arial" panose="020B0604020202020204" pitchFamily="34" charset="0"/>
              </a:rPr>
              <a:t> From Script to System: Architecting AI Applications &amp; The User Feedback Loop</a:t>
            </a:r>
            <a:br>
              <a:rPr kumimoji="0" lang="en-US" altLang="en-US" sz="4000" b="0" i="0" u="none" strike="noStrike" cap="none" normalizeH="0" baseline="0" dirty="0">
                <a:ln>
                  <a:noFill/>
                </a:ln>
                <a:solidFill>
                  <a:schemeClr val="tx1"/>
                </a:solidFill>
                <a:effectLst/>
                <a:latin typeface="Arial" panose="020B0604020202020204" pitchFamily="34" charset="0"/>
              </a:rPr>
            </a:br>
            <a:endParaRPr lang="en-US" sz="4000" dirty="0"/>
          </a:p>
        </p:txBody>
      </p:sp>
      <p:sp>
        <p:nvSpPr>
          <p:cNvPr id="3" name="Subtitle 2">
            <a:extLst>
              <a:ext uri="{FF2B5EF4-FFF2-40B4-BE49-F238E27FC236}">
                <a16:creationId xmlns:a16="http://schemas.microsoft.com/office/drawing/2014/main" id="{4C4F785C-877A-E9E6-4A09-0909A907E3AB}"/>
              </a:ext>
            </a:extLst>
          </p:cNvPr>
          <p:cNvSpPr>
            <a:spLocks noGrp="1"/>
          </p:cNvSpPr>
          <p:nvPr>
            <p:ph type="subTitle" idx="1"/>
          </p:nvPr>
        </p:nvSpPr>
        <p:spPr/>
        <p:txBody>
          <a:bodyPr>
            <a:normAutofit fontScale="62500" lnSpcReduction="20000"/>
          </a:bodyPr>
          <a:lstStyle/>
          <a:p>
            <a:r>
              <a:rPr lang="en-IN" b="1" dirty="0"/>
              <a:t>Visual Suggestion:</a:t>
            </a:r>
            <a:r>
              <a:rPr lang="en-IN" dirty="0"/>
              <a:t> A schematic diagram evolving from a simple circle (User) $\</a:t>
            </a:r>
            <a:r>
              <a:rPr lang="en-IN" dirty="0" err="1"/>
              <a:t>leftrightarrow</a:t>
            </a:r>
            <a:r>
              <a:rPr lang="en-IN" dirty="0"/>
              <a:t>$ Box (Model) into a complex network of Gateways, Caches, and Feedback Loops.</a:t>
            </a:r>
          </a:p>
          <a:p>
            <a:r>
              <a:rPr lang="en-IN" b="1" dirty="0"/>
              <a:t>Speaker Notes:</a:t>
            </a:r>
            <a:r>
              <a:rPr lang="en-IN" dirty="0"/>
              <a:t> "Welcome, everyone. We’ve spent the last decade perfecting our models. Now, we have to perfect the systems that hold them. Today, based on Chip Huyen’s final chapter in </a:t>
            </a:r>
            <a:r>
              <a:rPr lang="en-IN" i="1" dirty="0"/>
              <a:t>AI Engineering</a:t>
            </a:r>
            <a:r>
              <a:rPr lang="en-IN" dirty="0"/>
              <a:t>, we are moving beyond 'prompt engineering' to true 'system engineering'. We will dissect the architecture of a mature AI platform—step by step—and then dive into the most critical asset you possess: your user feedback data. Let's explore how to build systems that don't just answer queries but actually learn from them."</a:t>
            </a:r>
          </a:p>
          <a:p>
            <a:endParaRPr lang="en-US" dirty="0"/>
          </a:p>
        </p:txBody>
      </p:sp>
    </p:spTree>
    <p:extLst>
      <p:ext uri="{BB962C8B-B14F-4D97-AF65-F5344CB8AC3E}">
        <p14:creationId xmlns:p14="http://schemas.microsoft.com/office/powerpoint/2010/main" val="906202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01A5-7770-5389-4061-DA4B79E1AE24}"/>
              </a:ext>
            </a:extLst>
          </p:cNvPr>
          <p:cNvSpPr>
            <a:spLocks noGrp="1"/>
          </p:cNvSpPr>
          <p:nvPr>
            <p:ph type="title"/>
          </p:nvPr>
        </p:nvSpPr>
        <p:spPr/>
        <p:txBody>
          <a:bodyPr>
            <a:normAutofit fontScale="90000"/>
          </a:bodyPr>
          <a:lstStyle/>
          <a:p>
            <a:r>
              <a:rPr lang="en-IN" sz="3600" b="1" dirty="0"/>
              <a:t>The Starting Point: The MVP Architecture</a:t>
            </a:r>
            <a:br>
              <a:rPr lang="en-IN" b="1" dirty="0"/>
            </a:br>
            <a:r>
              <a:rPr lang="en-IN" sz="2000" b="1" dirty="0">
                <a:solidFill>
                  <a:srgbClr val="92D050"/>
                </a:solidFill>
              </a:rPr>
              <a:t>Slide Title:</a:t>
            </a:r>
            <a:r>
              <a:rPr lang="en-IN" sz="2000" dirty="0">
                <a:solidFill>
                  <a:srgbClr val="92D050"/>
                </a:solidFill>
              </a:rPr>
              <a:t> The "Hello World" of AI Apps</a:t>
            </a:r>
            <a:br>
              <a:rPr lang="en-IN" dirty="0"/>
            </a:br>
            <a:endParaRPr lang="en-US" dirty="0"/>
          </a:p>
        </p:txBody>
      </p:sp>
      <p:sp>
        <p:nvSpPr>
          <p:cNvPr id="4" name="Rectangle 1">
            <a:extLst>
              <a:ext uri="{FF2B5EF4-FFF2-40B4-BE49-F238E27FC236}">
                <a16:creationId xmlns:a16="http://schemas.microsoft.com/office/drawing/2014/main" id="{7DA53E7E-FAAA-19BE-F845-B74AB50D27DE}"/>
              </a:ext>
            </a:extLst>
          </p:cNvPr>
          <p:cNvSpPr>
            <a:spLocks noGrp="1" noChangeArrowheads="1"/>
          </p:cNvSpPr>
          <p:nvPr>
            <p:ph idx="1"/>
          </p:nvPr>
        </p:nvSpPr>
        <p:spPr bwMode="auto">
          <a:xfrm>
            <a:off x="1070811" y="1762221"/>
            <a:ext cx="10282989"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Simplest Form:</a:t>
            </a:r>
            <a:r>
              <a:rPr kumimoji="0" lang="en-US" altLang="en-US" sz="1800" b="0" i="0" u="none" strike="noStrike" cap="none" normalizeH="0" baseline="0" dirty="0">
                <a:ln>
                  <a:noFill/>
                </a:ln>
                <a:solidFill>
                  <a:schemeClr val="tx1"/>
                </a:solidFill>
                <a:effectLst/>
                <a:latin typeface="Google Sans Text"/>
              </a:rPr>
              <a:t> User sends query -&gt;  Model generates response -&gt;  User receives response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Reality:</a:t>
            </a:r>
            <a:r>
              <a:rPr kumimoji="0" lang="en-US" altLang="en-US" sz="1800" b="0" i="0" u="none" strike="noStrike" cap="none" normalizeH="0" baseline="0" dirty="0">
                <a:ln>
                  <a:noFill/>
                </a:ln>
                <a:solidFill>
                  <a:schemeClr val="tx1"/>
                </a:solidFill>
                <a:effectLst/>
                <a:latin typeface="Google Sans Text"/>
              </a:rPr>
              <a:t> No context, no guardrails, no optimization.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Limitation:</a:t>
            </a:r>
            <a:r>
              <a:rPr kumimoji="0" lang="en-US" altLang="en-US" sz="1800" b="0" i="0" u="none" strike="noStrike" cap="none" normalizeH="0" baseline="0" dirty="0">
                <a:ln>
                  <a:noFill/>
                </a:ln>
                <a:solidFill>
                  <a:schemeClr val="tx1"/>
                </a:solidFill>
                <a:effectLst/>
                <a:latin typeface="Google Sans Text"/>
              </a:rPr>
              <a:t> This works for a demo, but fails in production due to hallucinations, latency, and safety risks.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minimalist diagram (based on Figure 10-1): A stick figure user connected by a single line to a box labeled "Model API"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"Every AI engineer starts here. It’s the 'Hello World' of LLMs. You send a query, you get an answer. It feels magical. But in production, this architecture is a ticking time bomb. It has no memory, no safety net, and no cost control. This chapter is about the journey from this simple box to a resilient platform. We’re going to layer five critical components on top of this foundation."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7610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C7561-5CC3-43CF-3EAB-51161FF1D40F}"/>
              </a:ext>
            </a:extLst>
          </p:cNvPr>
          <p:cNvSpPr>
            <a:spLocks noGrp="1"/>
          </p:cNvSpPr>
          <p:nvPr>
            <p:ph type="title"/>
          </p:nvPr>
        </p:nvSpPr>
        <p:spPr/>
        <p:txBody>
          <a:bodyPr>
            <a:normAutofit fontScale="90000"/>
          </a:bodyPr>
          <a:lstStyle/>
          <a:p>
            <a:r>
              <a:rPr lang="en-IN" b="1" dirty="0"/>
              <a:t> Step 1: Context Construction (RAG &amp; Agents)</a:t>
            </a:r>
            <a:br>
              <a:rPr lang="en-IN" b="1" dirty="0"/>
            </a:br>
            <a:r>
              <a:rPr lang="en-IN" sz="2000" b="1" dirty="0">
                <a:solidFill>
                  <a:srgbClr val="92D050"/>
                </a:solidFill>
              </a:rPr>
              <a:t>Slide Title:</a:t>
            </a:r>
            <a:r>
              <a:rPr lang="en-IN" sz="2000" dirty="0">
                <a:solidFill>
                  <a:srgbClr val="92D050"/>
                </a:solidFill>
              </a:rPr>
              <a:t> Context is King: RAG and Tool Use</a:t>
            </a:r>
            <a:br>
              <a:rPr lang="en-IN" dirty="0"/>
            </a:br>
            <a:endParaRPr lang="en-US" dirty="0"/>
          </a:p>
        </p:txBody>
      </p:sp>
      <p:sp>
        <p:nvSpPr>
          <p:cNvPr id="4" name="Rectangle 1">
            <a:extLst>
              <a:ext uri="{FF2B5EF4-FFF2-40B4-BE49-F238E27FC236}">
                <a16:creationId xmlns:a16="http://schemas.microsoft.com/office/drawing/2014/main" id="{88682030-6209-2455-8EF8-226F641C6A16}"/>
              </a:ext>
            </a:extLst>
          </p:cNvPr>
          <p:cNvSpPr>
            <a:spLocks noGrp="1" noChangeArrowheads="1"/>
          </p:cNvSpPr>
          <p:nvPr>
            <p:ph idx="1"/>
          </p:nvPr>
        </p:nvSpPr>
        <p:spPr bwMode="auto">
          <a:xfrm>
            <a:off x="1143000" y="1185140"/>
            <a:ext cx="102108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Goal:</a:t>
            </a:r>
            <a:r>
              <a:rPr kumimoji="0" lang="en-US" altLang="en-US" sz="1800" b="0" i="0" u="none" strike="noStrike" cap="none" normalizeH="0" baseline="0" dirty="0">
                <a:ln>
                  <a:noFill/>
                </a:ln>
                <a:solidFill>
                  <a:schemeClr val="tx1"/>
                </a:solidFill>
                <a:effectLst/>
                <a:latin typeface="Arial" panose="020B0604020202020204" pitchFamily="34" charset="0"/>
              </a:rPr>
              <a:t> Provide the model with the necessary information to answer the query (Feature Engineering for LLMs).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Mechanisms:</a:t>
            </a:r>
            <a:r>
              <a:rPr kumimoji="0" lang="en-US" altLang="en-US" sz="1800" b="0" i="0" u="none" strike="noStrike" cap="none" normalizeH="0" baseline="0" dirty="0">
                <a:ln>
                  <a:noFill/>
                </a:ln>
                <a:solidFill>
                  <a:schemeClr val="tx1"/>
                </a:solidFill>
                <a:effectLst/>
                <a:latin typeface="Arial" panose="020B0604020202020204" pitchFamily="34" charset="0"/>
              </a:rPr>
              <a:t> Retrieval (text/image/tabular) and Tools (web search, APIs).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Variability:</a:t>
            </a:r>
            <a:r>
              <a:rPr kumimoji="0" lang="en-US" altLang="en-US" sz="1800" b="0" i="0" u="none" strike="noStrike" cap="none" normalizeH="0" baseline="0" dirty="0">
                <a:ln>
                  <a:noFill/>
                </a:ln>
                <a:solidFill>
                  <a:schemeClr val="tx1"/>
                </a:solidFill>
                <a:effectLst/>
                <a:latin typeface="Arial" panose="020B0604020202020204" pitchFamily="34" charset="0"/>
              </a:rPr>
              <a:t> Providers differ vastly in support; generic APIs have file limits, while specialized RAG solutions scale infinitely.</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Update the previous diagram (based on Figure 10-2) to include a "Context Construction" box fed by "Read-only actions" and "Databases" feeding into the Model API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 first upgrade is memory. A model without context is just a hallucination machine. We add 'Context Construction'—this is essentially feature engineering for Foundation Models. Whether you are retrieving a PDF from a vector DB or using a tool to check the weather, you are constructing the prompt dynamically. But be warned: not all APIs are built equal. A generic API might choke on 10 files, while a dedicated RAG pipeline can handle millions."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034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22AB-4412-5757-30A0-EEC3252DF0B5}"/>
              </a:ext>
            </a:extLst>
          </p:cNvPr>
          <p:cNvSpPr>
            <a:spLocks noGrp="1"/>
          </p:cNvSpPr>
          <p:nvPr>
            <p:ph type="title"/>
          </p:nvPr>
        </p:nvSpPr>
        <p:spPr>
          <a:xfrm>
            <a:off x="838200" y="421105"/>
            <a:ext cx="10515600" cy="1269583"/>
          </a:xfrm>
        </p:spPr>
        <p:txBody>
          <a:bodyPr>
            <a:normAutofit fontScale="90000"/>
          </a:bodyPr>
          <a:lstStyle/>
          <a:p>
            <a:r>
              <a:rPr lang="en-IN" b="1" dirty="0"/>
              <a:t> Step 2: Input Guardrails (</a:t>
            </a:r>
            <a:r>
              <a:rPr lang="en-IN" b="1" dirty="0" err="1"/>
              <a:t>Defense</a:t>
            </a:r>
            <a:r>
              <a:rPr lang="en-IN" b="1" dirty="0"/>
              <a:t> First)</a:t>
            </a:r>
            <a:br>
              <a:rPr lang="en-IN" b="1" dirty="0"/>
            </a:br>
            <a:r>
              <a:rPr lang="en-IN" sz="2000" dirty="0">
                <a:solidFill>
                  <a:srgbClr val="92D050"/>
                </a:solidFill>
              </a:rPr>
              <a:t>Protecting the System: Input Guardrails</a:t>
            </a:r>
            <a:br>
              <a:rPr lang="en-IN" dirty="0"/>
            </a:br>
            <a:endParaRPr lang="en-US" dirty="0"/>
          </a:p>
        </p:txBody>
      </p:sp>
      <p:sp>
        <p:nvSpPr>
          <p:cNvPr id="4" name="Rectangle 1">
            <a:extLst>
              <a:ext uri="{FF2B5EF4-FFF2-40B4-BE49-F238E27FC236}">
                <a16:creationId xmlns:a16="http://schemas.microsoft.com/office/drawing/2014/main" id="{51EBF37D-F3BD-7875-F7A7-59D2DD837F22}"/>
              </a:ext>
            </a:extLst>
          </p:cNvPr>
          <p:cNvSpPr>
            <a:spLocks noGrp="1" noChangeArrowheads="1"/>
          </p:cNvSpPr>
          <p:nvPr>
            <p:ph idx="1"/>
          </p:nvPr>
        </p:nvSpPr>
        <p:spPr bwMode="auto">
          <a:xfrm>
            <a:off x="900363" y="889845"/>
            <a:ext cx="1039127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Risk:</a:t>
            </a:r>
            <a:r>
              <a:rPr kumimoji="0" lang="en-US" altLang="en-US" sz="1800" b="0" i="0" u="none" strike="noStrike" cap="none" normalizeH="0" baseline="0" dirty="0">
                <a:ln>
                  <a:noFill/>
                </a:ln>
                <a:solidFill>
                  <a:schemeClr val="tx1"/>
                </a:solidFill>
                <a:effectLst/>
                <a:latin typeface="Arial" panose="020B0604020202020204" pitchFamily="34" charset="0"/>
              </a:rPr>
              <a:t> Leaking private info (PII) to external APIs or executing malicious prompt injections.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Leak Vectors:</a:t>
            </a:r>
            <a:r>
              <a:rPr kumimoji="0" lang="en-US" altLang="en-US" sz="1800" b="0" i="0" u="none" strike="noStrike" cap="none" normalizeH="0" baseline="0" dirty="0">
                <a:ln>
                  <a:noFill/>
                </a:ln>
                <a:solidFill>
                  <a:schemeClr val="tx1"/>
                </a:solidFill>
                <a:effectLst/>
                <a:latin typeface="Arial" panose="020B0604020202020204" pitchFamily="34" charset="0"/>
              </a:rPr>
              <a:t> Employees copying secrets, developers hardcoding internal policies, or tools retrieving sensitive DB rows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Fix:</a:t>
            </a:r>
            <a:r>
              <a:rPr kumimoji="0" lang="en-US" altLang="en-US" sz="1800" b="0" i="0" u="none" strike="noStrike" cap="none" normalizeH="0" baseline="0" dirty="0">
                <a:ln>
                  <a:noFill/>
                </a:ln>
                <a:solidFill>
                  <a:schemeClr val="tx1"/>
                </a:solidFill>
                <a:effectLst/>
                <a:latin typeface="Arial" panose="020B0604020202020204" pitchFamily="34" charset="0"/>
              </a:rPr>
              <a:t> PII Redaction/Masking. Replace sensitive data with placeholders like </a:t>
            </a:r>
            <a:r>
              <a:rPr kumimoji="0" lang="en-US" altLang="en-US" sz="18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[PHONE_NUMBER] before sending to the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1"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flow diagram (Figure 10-3) showing a query with a "secret token" being masked into </a:t>
            </a:r>
            <a:r>
              <a:rPr kumimoji="0" lang="en-US" altLang="en-US" sz="18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[ACCESS_TOKEN] before hitting the model, and unmasked afterward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1"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"Before we let the model speak, we must ensure the user isn't dangerous—and that we aren't dangerous to the user. Input guardrails are non-negotiable. We've all heard the horror stories of employees pasting company secrets into chatbots. We need automatic PII redaction. We swap real secrets for placeholders before the data ever leaves our perimeter. It’s a simple masking technique that saves you from a compliance nightmare."</a:t>
            </a:r>
          </a:p>
        </p:txBody>
      </p:sp>
    </p:spTree>
    <p:extLst>
      <p:ext uri="{BB962C8B-B14F-4D97-AF65-F5344CB8AC3E}">
        <p14:creationId xmlns:p14="http://schemas.microsoft.com/office/powerpoint/2010/main" val="228030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9645-47CE-7532-B688-522185C259D1}"/>
              </a:ext>
            </a:extLst>
          </p:cNvPr>
          <p:cNvSpPr>
            <a:spLocks noGrp="1"/>
          </p:cNvSpPr>
          <p:nvPr>
            <p:ph type="title"/>
          </p:nvPr>
        </p:nvSpPr>
        <p:spPr/>
        <p:txBody>
          <a:bodyPr>
            <a:noAutofit/>
          </a:bodyPr>
          <a:lstStyle/>
          <a:p>
            <a:r>
              <a:rPr lang="en-IN" sz="3200" b="1" dirty="0"/>
              <a:t>Slide 5: Step 2: Output Guardrails (Quality Control)</a:t>
            </a:r>
            <a:br>
              <a:rPr lang="en-IN" sz="3200" b="1" dirty="0"/>
            </a:br>
            <a:r>
              <a:rPr lang="en-IN" sz="2000" b="1" dirty="0">
                <a:solidFill>
                  <a:srgbClr val="92D050"/>
                </a:solidFill>
              </a:rPr>
              <a:t>Slide Title:</a:t>
            </a:r>
            <a:r>
              <a:rPr lang="en-IN" sz="2000" dirty="0">
                <a:solidFill>
                  <a:srgbClr val="92D050"/>
                </a:solidFill>
              </a:rPr>
              <a:t> Protecting the User: Output Guardrails</a:t>
            </a:r>
            <a:br>
              <a:rPr lang="en-IN" sz="2000" dirty="0">
                <a:solidFill>
                  <a:srgbClr val="92D050"/>
                </a:solidFill>
              </a:rPr>
            </a:br>
            <a:endParaRPr lang="en-US" sz="2000" dirty="0">
              <a:solidFill>
                <a:srgbClr val="92D050"/>
              </a:solidFill>
            </a:endParaRPr>
          </a:p>
        </p:txBody>
      </p:sp>
      <p:sp>
        <p:nvSpPr>
          <p:cNvPr id="4" name="Rectangle 1">
            <a:extLst>
              <a:ext uri="{FF2B5EF4-FFF2-40B4-BE49-F238E27FC236}">
                <a16:creationId xmlns:a16="http://schemas.microsoft.com/office/drawing/2014/main" id="{E67C2CB9-3987-1FEA-4C7B-00CF110A8B22}"/>
              </a:ext>
            </a:extLst>
          </p:cNvPr>
          <p:cNvSpPr>
            <a:spLocks noGrp="1" noChangeArrowheads="1"/>
          </p:cNvSpPr>
          <p:nvPr>
            <p:ph idx="1"/>
          </p:nvPr>
        </p:nvSpPr>
        <p:spPr bwMode="auto">
          <a:xfrm>
            <a:off x="1323474" y="1623721"/>
            <a:ext cx="10030326"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Purpose:</a:t>
            </a:r>
            <a:r>
              <a:rPr kumimoji="0" lang="en-US" altLang="en-US" sz="1800" b="0" i="0" u="none" strike="noStrike" cap="none" normalizeH="0" baseline="0" dirty="0">
                <a:ln>
                  <a:noFill/>
                </a:ln>
                <a:solidFill>
                  <a:schemeClr val="tx1"/>
                </a:solidFill>
                <a:effectLst/>
                <a:latin typeface="Google Sans Text"/>
              </a:rPr>
              <a:t> Catch failures (empty responses, malformed JSON) and policy violations (toxicity, bad advice)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Retry Logic:</a:t>
            </a:r>
            <a:r>
              <a:rPr kumimoji="0" lang="en-US" altLang="en-US" sz="1800" b="0" i="0" u="none" strike="noStrike" cap="none" normalizeH="0" baseline="0" dirty="0">
                <a:ln>
                  <a:noFill/>
                </a:ln>
                <a:solidFill>
                  <a:schemeClr val="tx1"/>
                </a:solidFill>
                <a:effectLst/>
                <a:latin typeface="Google Sans Text"/>
              </a:rPr>
              <a:t> If a response fails (e.g., bad JSON), try again. Models are probabilistic; a second try might work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Latency Trade-off:</a:t>
            </a:r>
            <a:r>
              <a:rPr kumimoji="0" lang="en-US" altLang="en-US" sz="1800" b="0" i="0" u="none" strike="noStrike" cap="none" normalizeH="0" baseline="0" dirty="0">
                <a:ln>
                  <a:noFill/>
                </a:ln>
                <a:solidFill>
                  <a:schemeClr val="tx1"/>
                </a:solidFill>
                <a:effectLst/>
                <a:latin typeface="Google Sans Text"/>
              </a:rPr>
              <a:t> Sequential retries double latency. Parallel calls (generate 2, pick 1) reduce latency but increase cost.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decision tree: Output -&gt; Check Guardrail -&gt; Fail? </a:t>
            </a:r>
            <a:r>
              <a:rPr lang="en-US" altLang="en-US" sz="1800" dirty="0">
                <a:latin typeface="Google Sans Text"/>
              </a:rPr>
              <a:t>-&gt;</a:t>
            </a:r>
            <a:r>
              <a:rPr kumimoji="0" lang="en-US" altLang="en-US" sz="1800" b="0" i="0" u="none" strike="noStrike" cap="none" normalizeH="0" baseline="0" dirty="0">
                <a:ln>
                  <a:noFill/>
                </a:ln>
                <a:solidFill>
                  <a:schemeClr val="tx1"/>
                </a:solidFill>
                <a:effectLst/>
                <a:latin typeface="Google Sans Text"/>
              </a:rPr>
              <a:t> Retry/Fallback to Human.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"Output guardrails are your quality assurance. Did the model return valid JSON? Did it start spouting racist nonsense? If it fails, what's your policy? You can retry—simply asking again often fixes the glitch. But retries kill latency. A pro tip from the book: if latency is key, send two requests in parallel and pick the winner. It costs twice as much, but it keeps your user experience snappy."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795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520EE-B990-3E32-E536-9D0833999461}"/>
              </a:ext>
            </a:extLst>
          </p:cNvPr>
          <p:cNvSpPr>
            <a:spLocks noGrp="1"/>
          </p:cNvSpPr>
          <p:nvPr>
            <p:ph type="title"/>
          </p:nvPr>
        </p:nvSpPr>
        <p:spPr/>
        <p:txBody>
          <a:bodyPr>
            <a:normAutofit fontScale="90000"/>
          </a:bodyPr>
          <a:lstStyle/>
          <a:p>
            <a:r>
              <a:rPr lang="en-IN" sz="3600" b="1" dirty="0"/>
              <a:t>Slide 6: The Guardrail vs. Latency Dilemma</a:t>
            </a:r>
            <a:br>
              <a:rPr lang="en-IN" sz="3600" b="1" dirty="0"/>
            </a:br>
            <a:r>
              <a:rPr lang="en-IN" sz="2200" b="1" dirty="0">
                <a:solidFill>
                  <a:srgbClr val="92D050"/>
                </a:solidFill>
              </a:rPr>
              <a:t>Slide Title:</a:t>
            </a:r>
            <a:r>
              <a:rPr lang="en-IN" sz="2200" dirty="0">
                <a:solidFill>
                  <a:srgbClr val="92D050"/>
                </a:solidFill>
              </a:rPr>
              <a:t> The Safety-Speed Trade-off</a:t>
            </a:r>
            <a:br>
              <a:rPr lang="en-IN" dirty="0"/>
            </a:br>
            <a:endParaRPr lang="en-US" dirty="0"/>
          </a:p>
        </p:txBody>
      </p:sp>
      <p:sp>
        <p:nvSpPr>
          <p:cNvPr id="4" name="Rectangle 1">
            <a:extLst>
              <a:ext uri="{FF2B5EF4-FFF2-40B4-BE49-F238E27FC236}">
                <a16:creationId xmlns:a16="http://schemas.microsoft.com/office/drawing/2014/main" id="{B9695000-C954-E1BA-E602-D7A04DFA6FED}"/>
              </a:ext>
            </a:extLst>
          </p:cNvPr>
          <p:cNvSpPr>
            <a:spLocks noGrp="1" noChangeArrowheads="1"/>
          </p:cNvSpPr>
          <p:nvPr>
            <p:ph idx="1"/>
          </p:nvPr>
        </p:nvSpPr>
        <p:spPr bwMode="auto">
          <a:xfrm>
            <a:off x="998620" y="1275191"/>
            <a:ext cx="10515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Conflict:</a:t>
            </a:r>
            <a:r>
              <a:rPr kumimoji="0" lang="en-US" altLang="en-US" sz="1800" b="0" i="0" u="none" strike="noStrike" cap="none" normalizeH="0" baseline="0" dirty="0">
                <a:ln>
                  <a:noFill/>
                </a:ln>
                <a:solidFill>
                  <a:schemeClr val="tx1"/>
                </a:solidFill>
                <a:effectLst/>
                <a:latin typeface="Arial" panose="020B0604020202020204" pitchFamily="34" charset="0"/>
              </a:rPr>
              <a:t> Guardrails add latency. Some teams skip them to prioritize speed, which is risky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Streaming Challenge:</a:t>
            </a:r>
            <a:r>
              <a:rPr kumimoji="0" lang="en-US" altLang="en-US" sz="1800" b="0" i="0" u="none" strike="noStrike" cap="none" normalizeH="0" baseline="0" dirty="0">
                <a:ln>
                  <a:noFill/>
                </a:ln>
                <a:solidFill>
                  <a:schemeClr val="tx1"/>
                </a:solidFill>
                <a:effectLst/>
                <a:latin typeface="Arial" panose="020B0604020202020204" pitchFamily="34" charset="0"/>
              </a:rPr>
              <a:t> In streaming mode, unsafe tokens might reach the user before the guardrail catches them.</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Architecture Update:</a:t>
            </a:r>
            <a:r>
              <a:rPr kumimoji="0" lang="en-US" altLang="en-US" sz="1800" b="0" i="0" u="none" strike="noStrike" cap="none" normalizeH="0" baseline="0" dirty="0">
                <a:ln>
                  <a:noFill/>
                </a:ln>
                <a:solidFill>
                  <a:schemeClr val="tx1"/>
                </a:solidFill>
                <a:effectLst/>
                <a:latin typeface="Arial" panose="020B0604020202020204" pitchFamily="34" charset="0"/>
              </a:rPr>
              <a:t> Place guardrails at the Model Gateway or Inference Service level for centralization.</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scale balancing "Safety" (Guardrails) and "Speed" (Latency). A warning icon for "Streaming Mode.”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"Here is the uncomfortable truth: Guardrails slow you down. I've talked to teams who disable them because they can't afford the 500ms delay. That is a dangerous game. Also, streaming makes this harder—if you stream tokens, the user might see the insult before your toxicity filter catches it. You have to design your UX to handle retrospective retraction or accept the risk."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5716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D9FF-895F-BCF1-8C34-11D0714961DF}"/>
              </a:ext>
            </a:extLst>
          </p:cNvPr>
          <p:cNvSpPr>
            <a:spLocks noGrp="1"/>
          </p:cNvSpPr>
          <p:nvPr>
            <p:ph type="title"/>
          </p:nvPr>
        </p:nvSpPr>
        <p:spPr/>
        <p:txBody>
          <a:bodyPr>
            <a:noAutofit/>
          </a:bodyPr>
          <a:lstStyle/>
          <a:p>
            <a:pPr lvl="0" eaLnBrk="0" fontAlgn="base" hangingPunct="0">
              <a:lnSpc>
                <a:spcPct val="100000"/>
              </a:lnSpc>
              <a:spcAft>
                <a:spcPct val="0"/>
              </a:spcAft>
            </a:pPr>
            <a:r>
              <a:rPr kumimoji="0" lang="en-US" alt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Step 3: The Model Router</a:t>
            </a:r>
            <a:br>
              <a:rPr kumimoji="0" lang="en-US" alt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1" i="0" u="none" strike="noStrike" cap="none" normalizeH="0" baseline="0" dirty="0">
                <a:ln>
                  <a:noFill/>
                </a:ln>
                <a:solidFill>
                  <a:srgbClr val="92D050"/>
                </a:solidFill>
                <a:effectLst/>
                <a:latin typeface="Arial" panose="020B0604020202020204" pitchFamily="34" charset="0"/>
                <a:cs typeface="Arial" panose="020B0604020202020204" pitchFamily="34" charset="0"/>
              </a:rPr>
              <a:t>Slide Title:</a:t>
            </a:r>
            <a:r>
              <a:rPr lang="en-US" altLang="en-US" sz="2000" dirty="0">
                <a:solidFill>
                  <a:srgbClr val="92D050"/>
                </a:solidFill>
                <a:latin typeface="Arial" panose="020B0604020202020204" pitchFamily="34" charset="0"/>
                <a:cs typeface="Arial" panose="020B0604020202020204" pitchFamily="34" charset="0"/>
              </a:rPr>
              <a:t> The Traffic Controller: Model Routing</a:t>
            </a:r>
            <a:br>
              <a:rPr lang="en-US" alt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966E5FAD-3D34-F124-49CD-602C2392F8D7}"/>
              </a:ext>
            </a:extLst>
          </p:cNvPr>
          <p:cNvSpPr>
            <a:spLocks noGrp="1" noChangeArrowheads="1"/>
          </p:cNvSpPr>
          <p:nvPr>
            <p:ph idx="1"/>
          </p:nvPr>
        </p:nvSpPr>
        <p:spPr bwMode="auto">
          <a:xfrm>
            <a:off x="838200" y="1455507"/>
            <a:ext cx="10299744"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Concept:</a:t>
            </a:r>
            <a:r>
              <a:rPr kumimoji="0" lang="en-US" altLang="en-US" sz="1800" b="0" i="0" u="none" strike="noStrike" cap="none" normalizeH="0" baseline="0" dirty="0">
                <a:ln>
                  <a:noFill/>
                </a:ln>
                <a:solidFill>
                  <a:schemeClr val="tx1"/>
                </a:solidFill>
                <a:effectLst/>
                <a:latin typeface="Google Sans Text"/>
              </a:rPr>
              <a:t> Don't use GPT-4 for everything. Route simple queries to cheaper models and complex ones to capable models.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Intent Classification:</a:t>
            </a:r>
            <a:r>
              <a:rPr kumimoji="0" lang="en-US" altLang="en-US" sz="1800" b="0" i="0" u="none" strike="noStrike" cap="none" normalizeH="0" baseline="0" dirty="0">
                <a:ln>
                  <a:noFill/>
                </a:ln>
                <a:solidFill>
                  <a:schemeClr val="tx1"/>
                </a:solidFill>
                <a:effectLst/>
                <a:latin typeface="Google Sans Text"/>
              </a:rPr>
              <a:t> Predict user intent (e.g., reset password vs. troubleshooting) to route to FAQs vs. Models vs. Humans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Implementation:</a:t>
            </a:r>
            <a:r>
              <a:rPr kumimoji="0" lang="en-US" altLang="en-US" sz="1800" b="0" i="0" u="none" strike="noStrike" cap="none" normalizeH="0" baseline="0" dirty="0">
                <a:ln>
                  <a:noFill/>
                </a:ln>
                <a:solidFill>
                  <a:schemeClr val="tx1"/>
                </a:solidFill>
                <a:effectLst/>
                <a:latin typeface="Google Sans Text"/>
              </a:rPr>
              <a:t> Use small models (BERT, Llama-7B) as the router. They must be fast and cheap.</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router node splitting traffic: "Password Reset" -&gt; FAQ Database; "Complex Code" -&gt; GPT-4; "Billing" -&gt; Human Agent.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"One model does not fit all. Using a massive model to answer 'how do I reset my password' is like driving a Ferrari to the mailbox. It's wasteful. We introduce a Router—usually a tiny, fast model like BERT—to classify intent. If it's a simple FAQ, send it to a database. If it's complex reasoning, send it to the big model. This is how you cut costs by 50% without hurting quality."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2338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1E172-6F2B-49DF-4294-13935DE390A2}"/>
              </a:ext>
            </a:extLst>
          </p:cNvPr>
          <p:cNvSpPr>
            <a:spLocks noGrp="1"/>
          </p:cNvSpPr>
          <p:nvPr>
            <p:ph type="title"/>
          </p:nvPr>
        </p:nvSpPr>
        <p:spPr/>
        <p:txBody>
          <a:bodyPr>
            <a:normAutofit fontScale="90000"/>
          </a:bodyPr>
          <a:lstStyle/>
          <a:p>
            <a:r>
              <a:rPr lang="en-IN" sz="3600" b="1" dirty="0"/>
              <a:t>Slide 8: Step 3: The Model Gateway</a:t>
            </a:r>
            <a:br>
              <a:rPr lang="en-IN" sz="3600" b="1" dirty="0"/>
            </a:br>
            <a:r>
              <a:rPr lang="en-IN" sz="2200" b="1" dirty="0">
                <a:solidFill>
                  <a:srgbClr val="92D050"/>
                </a:solidFill>
              </a:rPr>
              <a:t>Slide Title:</a:t>
            </a:r>
            <a:r>
              <a:rPr lang="en-IN" sz="2200" dirty="0">
                <a:solidFill>
                  <a:srgbClr val="92D050"/>
                </a:solidFill>
              </a:rPr>
              <a:t> The Unified Interface: Model Gateway</a:t>
            </a:r>
            <a:br>
              <a:rPr lang="en-IN" dirty="0"/>
            </a:br>
            <a:endParaRPr lang="en-US" dirty="0"/>
          </a:p>
        </p:txBody>
      </p:sp>
      <p:sp>
        <p:nvSpPr>
          <p:cNvPr id="4" name="Rectangle 1">
            <a:extLst>
              <a:ext uri="{FF2B5EF4-FFF2-40B4-BE49-F238E27FC236}">
                <a16:creationId xmlns:a16="http://schemas.microsoft.com/office/drawing/2014/main" id="{F38B19F2-4805-B8F6-F452-E7AB94E74AD6}"/>
              </a:ext>
            </a:extLst>
          </p:cNvPr>
          <p:cNvSpPr>
            <a:spLocks noGrp="1" noChangeArrowheads="1"/>
          </p:cNvSpPr>
          <p:nvPr>
            <p:ph idx="1"/>
          </p:nvPr>
        </p:nvSpPr>
        <p:spPr bwMode="auto">
          <a:xfrm>
            <a:off x="838200" y="902534"/>
            <a:ext cx="1030705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An intermediate layer unifying access to all models (OpenAI, Anthropic, Self-hosted)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Benefits: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a:t>
            </a:r>
            <a:r>
              <a:rPr kumimoji="0" lang="en-US" altLang="en-US" sz="1800" b="0" i="0" u="none" strike="noStrike" cap="none" normalizeH="0" baseline="0" dirty="0">
                <a:ln>
                  <a:noFill/>
                </a:ln>
                <a:solidFill>
                  <a:schemeClr val="tx1"/>
                </a:solidFill>
                <a:effectLst/>
                <a:latin typeface="Arial" panose="020B0604020202020204" pitchFamily="34" charset="0"/>
              </a:rPr>
              <a:t> Centralized API key management (no keys in code).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Resilience:</a:t>
            </a:r>
            <a:r>
              <a:rPr kumimoji="0" lang="en-US" altLang="en-US" sz="1800" b="0" i="0" u="none" strike="noStrike" cap="none" normalizeH="0" baseline="0" dirty="0">
                <a:ln>
                  <a:noFill/>
                </a:ln>
                <a:solidFill>
                  <a:schemeClr val="tx1"/>
                </a:solidFill>
                <a:effectLst/>
                <a:latin typeface="Arial" panose="020B0604020202020204" pitchFamily="34" charset="0"/>
              </a:rPr>
              <a:t> Fallback policies for rate limits or API outages.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Maintainability:</a:t>
            </a:r>
            <a:r>
              <a:rPr kumimoji="0" lang="en-US" altLang="en-US" sz="1800" b="0" i="0" u="none" strike="noStrike" cap="none" normalizeH="0" baseline="0" dirty="0">
                <a:ln>
                  <a:noFill/>
                </a:ln>
                <a:solidFill>
                  <a:schemeClr val="tx1"/>
                </a:solidFill>
                <a:effectLst/>
                <a:latin typeface="Arial" panose="020B0604020202020204" pitchFamily="34" charset="0"/>
              </a:rPr>
              <a:t> Swap providers without rewriting application code.</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Diagram (Figure 10-6) showing various apps connecting to one "Model Gateway" which then branches out to OpenAI, Google, and Self-Hosted models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"You need a Gateway. Trust me. Do not hardcode OpenAI keys into your five different microservices. A Gateway provides a single, unified API for your organization. It handles access control, cost tracking, and most importantly, fallbacks. When an API goes down—and it will—the gateway can silently switch to a backup model without your users ever knowing."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7030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D841-6B39-DE6F-1AAC-EF23398A05CC}"/>
              </a:ext>
            </a:extLst>
          </p:cNvPr>
          <p:cNvSpPr>
            <a:spLocks noGrp="1"/>
          </p:cNvSpPr>
          <p:nvPr>
            <p:ph type="title"/>
          </p:nvPr>
        </p:nvSpPr>
        <p:spPr/>
        <p:txBody>
          <a:bodyPr>
            <a:normAutofit fontScale="90000"/>
          </a:bodyPr>
          <a:lstStyle/>
          <a:p>
            <a:r>
              <a:rPr lang="en-IN" sz="3600" b="1" dirty="0"/>
              <a:t>Step 4: Exact Caching</a:t>
            </a:r>
            <a:br>
              <a:rPr lang="en-IN" sz="3600" b="1" dirty="0"/>
            </a:br>
            <a:r>
              <a:rPr lang="en-IN" sz="2200" b="1" dirty="0">
                <a:solidFill>
                  <a:srgbClr val="92D050"/>
                </a:solidFill>
              </a:rPr>
              <a:t>Slide Title:</a:t>
            </a:r>
            <a:r>
              <a:rPr lang="en-IN" sz="2200" dirty="0">
                <a:solidFill>
                  <a:srgbClr val="92D050"/>
                </a:solidFill>
              </a:rPr>
              <a:t> The Quick Win: Exact Caching</a:t>
            </a:r>
            <a:br>
              <a:rPr lang="en-IN" dirty="0"/>
            </a:br>
            <a:endParaRPr lang="en-US" dirty="0"/>
          </a:p>
        </p:txBody>
      </p:sp>
      <p:sp>
        <p:nvSpPr>
          <p:cNvPr id="4" name="Rectangle 1">
            <a:extLst>
              <a:ext uri="{FF2B5EF4-FFF2-40B4-BE49-F238E27FC236}">
                <a16:creationId xmlns:a16="http://schemas.microsoft.com/office/drawing/2014/main" id="{6D5A894D-EA4C-E695-2B59-F81B1FB5C6D6}"/>
              </a:ext>
            </a:extLst>
          </p:cNvPr>
          <p:cNvSpPr>
            <a:spLocks noGrp="1" noChangeArrowheads="1"/>
          </p:cNvSpPr>
          <p:nvPr>
            <p:ph idx="1"/>
          </p:nvPr>
        </p:nvSpPr>
        <p:spPr bwMode="auto">
          <a:xfrm>
            <a:off x="950495" y="1900720"/>
            <a:ext cx="10403305"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Mechanism:</a:t>
            </a:r>
            <a:r>
              <a:rPr kumimoji="0" lang="en-US" altLang="en-US" sz="1800" b="0" i="0" u="none" strike="noStrike" cap="none" normalizeH="0" baseline="0" dirty="0">
                <a:ln>
                  <a:noFill/>
                </a:ln>
                <a:solidFill>
                  <a:schemeClr val="tx1"/>
                </a:solidFill>
                <a:effectLst/>
                <a:latin typeface="Google Sans Text"/>
              </a:rPr>
              <a:t> If a user asks the exact same question, return the stored answer. Don't re-compute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Use Cases:</a:t>
            </a:r>
            <a:r>
              <a:rPr kumimoji="0" lang="en-US" altLang="en-US" sz="1800" b="0" i="0" u="none" strike="noStrike" cap="none" normalizeH="0" baseline="0" dirty="0">
                <a:ln>
                  <a:noFill/>
                </a:ln>
                <a:solidFill>
                  <a:schemeClr val="tx1"/>
                </a:solidFill>
                <a:effectLst/>
                <a:latin typeface="Google Sans Text"/>
              </a:rPr>
              <a:t> Multi-step reasoning chains, SQL execution, or embedding generation.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Eviction Policy:</a:t>
            </a:r>
            <a:r>
              <a:rPr kumimoji="0" lang="en-US" altLang="en-US" sz="1800" b="0" i="0" u="none" strike="noStrike" cap="none" normalizeH="0" baseline="0" dirty="0">
                <a:ln>
                  <a:noFill/>
                </a:ln>
                <a:solidFill>
                  <a:schemeClr val="tx1"/>
                </a:solidFill>
                <a:effectLst/>
                <a:latin typeface="Google Sans Text"/>
              </a:rPr>
              <a:t> Use LRU (Least Recently Used) or Time-to-Live. Don't cache time-sensitive queries like "What's the weather?".</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flowchart: Query -&gt; Cache Hit? </a:t>
            </a:r>
            <a:r>
              <a:rPr lang="en-US" altLang="en-US" sz="1800" dirty="0">
                <a:latin typeface="Google Sans Text"/>
              </a:rPr>
              <a:t>-&gt; </a:t>
            </a:r>
            <a:r>
              <a:rPr kumimoji="0" lang="en-US" altLang="en-US" sz="1800" b="0" i="0" u="none" strike="noStrike" cap="none" normalizeH="0" baseline="0" dirty="0">
                <a:ln>
                  <a:noFill/>
                </a:ln>
                <a:solidFill>
                  <a:schemeClr val="tx1"/>
                </a:solidFill>
                <a:effectLst/>
                <a:latin typeface="Google Sans Text"/>
              </a:rPr>
              <a:t> Yes (Return Result) / No (Generate &amp; Store).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"The fastest generation is no generation. Caching is old tech, but vital. If user A asks for a product summary, save it. When user B asks for the same summary 10 seconds later, serve the cache. It saves money and latency. Just be careful with time-sensitive data—you don't want to serve yesterday's weather report."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070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A1F66-D35E-5AC9-1B8A-13CAC356F135}"/>
              </a:ext>
            </a:extLst>
          </p:cNvPr>
          <p:cNvSpPr>
            <a:spLocks noGrp="1"/>
          </p:cNvSpPr>
          <p:nvPr>
            <p:ph type="title"/>
          </p:nvPr>
        </p:nvSpPr>
        <p:spPr/>
        <p:txBody>
          <a:bodyPr>
            <a:normAutofit fontScale="90000"/>
          </a:bodyPr>
          <a:lstStyle/>
          <a:p>
            <a:r>
              <a:rPr lang="en-IN" sz="3600" b="1" dirty="0"/>
              <a:t>Slide 10: Step 4: Semantic Caching (The Danger Zone)</a:t>
            </a:r>
            <a:br>
              <a:rPr lang="en-IN" dirty="0"/>
            </a:br>
            <a:r>
              <a:rPr lang="en-IN" sz="2200" b="1" dirty="0">
                <a:solidFill>
                  <a:srgbClr val="92D050"/>
                </a:solidFill>
              </a:rPr>
              <a:t>Slide Title:</a:t>
            </a:r>
            <a:r>
              <a:rPr lang="en-IN" sz="2200" dirty="0">
                <a:solidFill>
                  <a:srgbClr val="92D050"/>
                </a:solidFill>
              </a:rPr>
              <a:t> The Risky Win: Semantic Caching</a:t>
            </a:r>
            <a:endParaRPr lang="en-US" sz="2200" dirty="0"/>
          </a:p>
        </p:txBody>
      </p:sp>
      <p:sp>
        <p:nvSpPr>
          <p:cNvPr id="4" name="Rectangle 1">
            <a:extLst>
              <a:ext uri="{FF2B5EF4-FFF2-40B4-BE49-F238E27FC236}">
                <a16:creationId xmlns:a16="http://schemas.microsoft.com/office/drawing/2014/main" id="{22BC355C-3C23-4E6F-194B-E868C1448668}"/>
              </a:ext>
            </a:extLst>
          </p:cNvPr>
          <p:cNvSpPr>
            <a:spLocks noGrp="1" noChangeArrowheads="1"/>
          </p:cNvSpPr>
          <p:nvPr>
            <p:ph idx="1"/>
          </p:nvPr>
        </p:nvSpPr>
        <p:spPr bwMode="auto">
          <a:xfrm>
            <a:off x="838200" y="1462139"/>
            <a:ext cx="1051559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Concept:</a:t>
            </a:r>
            <a:r>
              <a:rPr kumimoji="0" lang="en-US" altLang="en-US" sz="1800" b="0" i="0" u="none" strike="noStrike" cap="none" normalizeH="0" baseline="0" dirty="0">
                <a:ln>
                  <a:noFill/>
                </a:ln>
                <a:solidFill>
                  <a:schemeClr val="tx1"/>
                </a:solidFill>
                <a:effectLst/>
                <a:latin typeface="Arial" panose="020B0604020202020204" pitchFamily="34" charset="0"/>
              </a:rPr>
              <a:t> Reuse answers for queries that are </a:t>
            </a:r>
            <a:r>
              <a:rPr kumimoji="0" lang="en-US" altLang="en-US" sz="1800" b="0" i="1" u="none" strike="noStrike" cap="none" normalizeH="0" baseline="0" dirty="0">
                <a:ln>
                  <a:noFill/>
                </a:ln>
                <a:solidFill>
                  <a:schemeClr val="tx1"/>
                </a:solidFill>
                <a:effectLst/>
                <a:latin typeface="Arial" panose="020B0604020202020204" pitchFamily="34" charset="0"/>
              </a:rPr>
              <a:t>similar</a:t>
            </a:r>
            <a:r>
              <a:rPr kumimoji="0" lang="en-US" altLang="en-US" sz="1800" b="0" i="0" u="none" strike="noStrike" cap="none" normalizeH="0" baseline="0" dirty="0">
                <a:ln>
                  <a:noFill/>
                </a:ln>
                <a:solidFill>
                  <a:schemeClr val="tx1"/>
                </a:solidFill>
                <a:effectLst/>
                <a:latin typeface="Arial" panose="020B0604020202020204" pitchFamily="34" charset="0"/>
              </a:rPr>
              <a:t> but not identical (e.g., "Capital of Vietnam?" vs. "What is Vietnam's capital?")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Implementation:</a:t>
            </a:r>
            <a:r>
              <a:rPr kumimoji="0" lang="en-US" altLang="en-US" sz="1800" b="0" i="0" u="none" strike="noStrike" cap="none" normalizeH="0" baseline="0" dirty="0">
                <a:ln>
                  <a:noFill/>
                </a:ln>
                <a:solidFill>
                  <a:schemeClr val="tx1"/>
                </a:solidFill>
                <a:effectLst/>
                <a:latin typeface="Arial" panose="020B0604020202020204" pitchFamily="34" charset="0"/>
              </a:rPr>
              <a:t> Vector search. If similarity score &gt; threshold, return cached answer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Risk:</a:t>
            </a:r>
            <a:r>
              <a:rPr kumimoji="0" lang="en-US" altLang="en-US" sz="1800" b="0" i="0" u="none" strike="noStrike" cap="none" normalizeH="0" baseline="0" dirty="0">
                <a:ln>
                  <a:noFill/>
                </a:ln>
                <a:solidFill>
                  <a:schemeClr val="tx1"/>
                </a:solidFill>
                <a:effectLst/>
                <a:latin typeface="Arial" panose="020B0604020202020204" pitchFamily="34" charset="0"/>
              </a:rPr>
              <a:t> High false positives. If the threshold is wrong, you serve wrong answers. It also requires an expensive vector search.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Leak Risk:</a:t>
            </a:r>
            <a:r>
              <a:rPr kumimoji="0" lang="en-US" altLang="en-US" sz="1800" b="0" i="0" u="none" strike="noStrike" cap="none" normalizeH="0" baseline="0" dirty="0">
                <a:ln>
                  <a:noFill/>
                </a:ln>
                <a:solidFill>
                  <a:schemeClr val="tx1"/>
                </a:solidFill>
                <a:effectLst/>
                <a:latin typeface="Arial" panose="020B0604020202020204" pitchFamily="34" charset="0"/>
              </a:rPr>
              <a:t> Caching a "generic" query that actually contains user-specific context (e.g., "return policy" linked to a specific user tier)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diagram comparing two query vectors in space. If distance &lt; X, link them to the same cached response.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"Semantic caching is the 'danger zone'. It sounds great—serving the same answer for 'What's the price?' and 'How much does it cost?'. But it relies on vector similarity thresholds. If you get it wrong, you serve nonsense. Worse, you risk data leaks. If User A asks about 'my order' and you cache it, User B might see User A's order details. Use this with extreme caution."</a:t>
            </a:r>
          </a:p>
        </p:txBody>
      </p:sp>
    </p:spTree>
    <p:extLst>
      <p:ext uri="{BB962C8B-B14F-4D97-AF65-F5344CB8AC3E}">
        <p14:creationId xmlns:p14="http://schemas.microsoft.com/office/powerpoint/2010/main" val="3908217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0E7DF-1A9F-8C98-9A7E-8F3DE539DC6D}"/>
              </a:ext>
            </a:extLst>
          </p:cNvPr>
          <p:cNvSpPr>
            <a:spLocks noGrp="1"/>
          </p:cNvSpPr>
          <p:nvPr>
            <p:ph type="title"/>
          </p:nvPr>
        </p:nvSpPr>
        <p:spPr/>
        <p:txBody>
          <a:bodyPr>
            <a:normAutofit/>
          </a:bodyPr>
          <a:lstStyle/>
          <a:p>
            <a:r>
              <a:rPr lang="en-IN" sz="3600" b="1" dirty="0"/>
              <a:t>Slide 11: Step 5: Agentic Patterns</a:t>
            </a:r>
            <a:br>
              <a:rPr lang="en-IN" sz="3600" b="1" dirty="0"/>
            </a:br>
            <a:r>
              <a:rPr lang="en-IN" sz="2200" b="1" dirty="0">
                <a:solidFill>
                  <a:srgbClr val="92D050"/>
                </a:solidFill>
              </a:rPr>
              <a:t>Slide Title:</a:t>
            </a:r>
            <a:r>
              <a:rPr lang="en-IN" sz="2200" dirty="0">
                <a:solidFill>
                  <a:srgbClr val="92D050"/>
                </a:solidFill>
              </a:rPr>
              <a:t> Closing the Loop: Agentic Patterns</a:t>
            </a:r>
            <a:br>
              <a:rPr lang="en-IN" sz="2200" dirty="0">
                <a:solidFill>
                  <a:srgbClr val="92D050"/>
                </a:solidFill>
              </a:rPr>
            </a:br>
            <a:endParaRPr lang="en-US" sz="2200" dirty="0">
              <a:solidFill>
                <a:srgbClr val="92D050"/>
              </a:solidFill>
            </a:endParaRPr>
          </a:p>
        </p:txBody>
      </p:sp>
      <p:sp>
        <p:nvSpPr>
          <p:cNvPr id="4" name="Rectangle 1">
            <a:extLst>
              <a:ext uri="{FF2B5EF4-FFF2-40B4-BE49-F238E27FC236}">
                <a16:creationId xmlns:a16="http://schemas.microsoft.com/office/drawing/2014/main" id="{63744C18-AD97-5616-2EB2-EA1D2E161EF6}"/>
              </a:ext>
            </a:extLst>
          </p:cNvPr>
          <p:cNvSpPr>
            <a:spLocks noGrp="1" noChangeArrowheads="1"/>
          </p:cNvSpPr>
          <p:nvPr>
            <p:ph idx="1"/>
          </p:nvPr>
        </p:nvSpPr>
        <p:spPr bwMode="auto">
          <a:xfrm>
            <a:off x="1058780" y="1900720"/>
            <a:ext cx="10295020"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Shift from Linear to Loops:</a:t>
            </a:r>
            <a:r>
              <a:rPr kumimoji="0" lang="en-US" altLang="en-US" sz="1800" b="0" i="0" u="none" strike="noStrike" cap="none" normalizeH="0" baseline="0" dirty="0">
                <a:ln>
                  <a:noFill/>
                </a:ln>
                <a:solidFill>
                  <a:schemeClr val="tx1"/>
                </a:solidFill>
                <a:effectLst/>
                <a:latin typeface="Google Sans Text"/>
              </a:rPr>
              <a:t> Instead of Query -&gt;  Response, the system can Loop: Generation -&gt;  Evaluation -&gt; Re-retrieval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Capability:</a:t>
            </a:r>
            <a:r>
              <a:rPr kumimoji="0" lang="en-US" altLang="en-US" sz="1800" b="0" i="0" u="none" strike="noStrike" cap="none" normalizeH="0" baseline="0" dirty="0">
                <a:ln>
                  <a:noFill/>
                </a:ln>
                <a:solidFill>
                  <a:schemeClr val="tx1"/>
                </a:solidFill>
                <a:effectLst/>
                <a:latin typeface="Google Sans Text"/>
              </a:rPr>
              <a:t> Allows the system to self-correct if the initial retrieval was insufficient.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a:t>
            </a:r>
            <a:r>
              <a:rPr kumimoji="0" lang="en-US" altLang="en-US" sz="1800" b="0" i="0" u="none" strike="noStrike" cap="none" normalizeH="0" baseline="0" dirty="0">
                <a:ln>
                  <a:noFill/>
                </a:ln>
                <a:solidFill>
                  <a:schemeClr val="tx1"/>
                </a:solidFill>
                <a:effectLst/>
                <a:latin typeface="Google Sans Text"/>
              </a:rPr>
              <a:t> Figure 10-9 showing a feedback loop from "Response" back into "Context Construction"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circular flow diagram showing the model output feeding back into the input for a second pass.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"Now we get complex. We move from linear pipelines to Agentic Loops. If the model generates an answer and realizes 'Wait, I'm missing info,' it can loop back, trigger a new search, update the context, and try again. This is how we solve complex tasks, but it introduces the risk of infinite loops."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8045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8117-99BD-9B9F-93FD-D17FE3FD004F}"/>
              </a:ext>
            </a:extLst>
          </p:cNvPr>
          <p:cNvSpPr>
            <a:spLocks noGrp="1"/>
          </p:cNvSpPr>
          <p:nvPr>
            <p:ph type="title"/>
          </p:nvPr>
        </p:nvSpPr>
        <p:spPr/>
        <p:txBody>
          <a:bodyPr>
            <a:normAutofit/>
          </a:bodyPr>
          <a:lstStyle/>
          <a:p>
            <a:r>
              <a:rPr lang="en-IN" sz="3600" b="1" dirty="0"/>
              <a:t>Slide 12: Step 5: Write Actions (High Stakes)</a:t>
            </a:r>
            <a:br>
              <a:rPr lang="en-IN" sz="3600" b="1" dirty="0"/>
            </a:br>
            <a:r>
              <a:rPr lang="en-IN" sz="2200" b="1" dirty="0">
                <a:solidFill>
                  <a:srgbClr val="92D050"/>
                </a:solidFill>
              </a:rPr>
              <a:t>Slide Title:</a:t>
            </a:r>
            <a:r>
              <a:rPr lang="en-IN" sz="2200" dirty="0">
                <a:solidFill>
                  <a:srgbClr val="92D050"/>
                </a:solidFill>
              </a:rPr>
              <a:t> Crossing the Rubicon: Write Actions</a:t>
            </a:r>
            <a:endParaRPr lang="en-US" dirty="0"/>
          </a:p>
        </p:txBody>
      </p:sp>
      <p:sp>
        <p:nvSpPr>
          <p:cNvPr id="4" name="Rectangle 1">
            <a:extLst>
              <a:ext uri="{FF2B5EF4-FFF2-40B4-BE49-F238E27FC236}">
                <a16:creationId xmlns:a16="http://schemas.microsoft.com/office/drawing/2014/main" id="{B1849318-EE27-97D0-B4FE-35826E25DFD8}"/>
              </a:ext>
            </a:extLst>
          </p:cNvPr>
          <p:cNvSpPr>
            <a:spLocks noGrp="1" noChangeArrowheads="1"/>
          </p:cNvSpPr>
          <p:nvPr>
            <p:ph idx="1"/>
          </p:nvPr>
        </p:nvSpPr>
        <p:spPr bwMode="auto">
          <a:xfrm>
            <a:off x="938462" y="1432196"/>
            <a:ext cx="897154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Allowing the model to change the environment (Send email, API POST, Buy stock)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 Profile:</a:t>
            </a:r>
            <a:r>
              <a:rPr kumimoji="0" lang="en-US" altLang="en-US" sz="1800" b="0" i="0" u="none" strike="noStrike" cap="none" normalizeH="0" baseline="0" dirty="0">
                <a:ln>
                  <a:noFill/>
                </a:ln>
                <a:solidFill>
                  <a:schemeClr val="tx1"/>
                </a:solidFill>
                <a:effectLst/>
                <a:latin typeface="Arial" panose="020B0604020202020204" pitchFamily="34" charset="0"/>
              </a:rPr>
              <a:t> Vastly higher risk. Hallucinations become irreversible actions.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Requirement:</a:t>
            </a:r>
            <a:r>
              <a:rPr kumimoji="0" lang="en-US" altLang="en-US" sz="1800" b="0" i="0" u="none" strike="noStrike" cap="none" normalizeH="0" baseline="0" dirty="0">
                <a:ln>
                  <a:noFill/>
                </a:ln>
                <a:solidFill>
                  <a:schemeClr val="tx1"/>
                </a:solidFill>
                <a:effectLst/>
                <a:latin typeface="Arial" panose="020B0604020202020204" pitchFamily="34" charset="0"/>
              </a:rPr>
              <a:t> Requires strict "Human-in-the-loop" approval flows for sensitive actions.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Figure 10-10, highlighting the "Write Actions" box (e.g., Update Orders) in orange/red to signify risk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 final architectural step is 'Write Actions'. This is where the AI stops just talking and starts </a:t>
            </a:r>
            <a:r>
              <a:rPr kumimoji="0" lang="en-US" altLang="en-US" sz="1800" b="0" i="1" u="none" strike="noStrike" cap="none" normalizeH="0" baseline="0" dirty="0">
                <a:ln>
                  <a:noFill/>
                </a:ln>
                <a:solidFill>
                  <a:schemeClr val="tx1"/>
                </a:solidFill>
                <a:effectLst/>
                <a:latin typeface="Arial" panose="020B0604020202020204" pitchFamily="34" charset="0"/>
              </a:rPr>
              <a:t>doing</a:t>
            </a:r>
            <a:r>
              <a:rPr kumimoji="0" lang="en-US" altLang="en-US" sz="1800" b="0" i="0" u="none" strike="noStrike" cap="none" normalizeH="0" baseline="0" dirty="0">
                <a:ln>
                  <a:noFill/>
                </a:ln>
                <a:solidFill>
                  <a:schemeClr val="tx1"/>
                </a:solidFill>
                <a:effectLst/>
                <a:latin typeface="Arial" panose="020B0604020202020204" pitchFamily="34" charset="0"/>
              </a:rPr>
              <a:t>. Sending emails, booking flights, updating databases. This unlocks massive value, but the risk profile explodes. A hallucination here isn't a typo; it's a lawsuit. You need bulletproof guardrails 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3844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6739A-4FFB-31E1-231D-D9469101CB33}"/>
              </a:ext>
            </a:extLst>
          </p:cNvPr>
          <p:cNvSpPr>
            <a:spLocks noGrp="1"/>
          </p:cNvSpPr>
          <p:nvPr>
            <p:ph type="title"/>
          </p:nvPr>
        </p:nvSpPr>
        <p:spPr/>
        <p:txBody>
          <a:bodyPr>
            <a:normAutofit fontScale="90000"/>
          </a:bodyPr>
          <a:lstStyle/>
          <a:p>
            <a:r>
              <a:rPr lang="en-IN" sz="3600" b="1" dirty="0"/>
              <a:t>Slide 13: Orchestration</a:t>
            </a:r>
            <a:br>
              <a:rPr lang="en-IN" sz="3600" b="1" dirty="0"/>
            </a:br>
            <a:r>
              <a:rPr lang="en-IN" sz="2200" b="1" dirty="0">
                <a:solidFill>
                  <a:srgbClr val="92D050"/>
                </a:solidFill>
              </a:rPr>
              <a:t>Slide Title:</a:t>
            </a:r>
            <a:r>
              <a:rPr lang="en-IN" sz="2200" dirty="0">
                <a:solidFill>
                  <a:srgbClr val="92D050"/>
                </a:solidFill>
              </a:rPr>
              <a:t> Taming Complexity: Orchestration</a:t>
            </a:r>
            <a:br>
              <a:rPr lang="en-IN" dirty="0"/>
            </a:br>
            <a:endParaRPr lang="en-US" dirty="0"/>
          </a:p>
        </p:txBody>
      </p:sp>
      <p:sp>
        <p:nvSpPr>
          <p:cNvPr id="4" name="Rectangle 1">
            <a:extLst>
              <a:ext uri="{FF2B5EF4-FFF2-40B4-BE49-F238E27FC236}">
                <a16:creationId xmlns:a16="http://schemas.microsoft.com/office/drawing/2014/main" id="{62B40DEF-D046-6535-38E7-392C229AE89C}"/>
              </a:ext>
            </a:extLst>
          </p:cNvPr>
          <p:cNvSpPr>
            <a:spLocks noGrp="1" noChangeArrowheads="1"/>
          </p:cNvSpPr>
          <p:nvPr>
            <p:ph idx="1"/>
          </p:nvPr>
        </p:nvSpPr>
        <p:spPr bwMode="auto">
          <a:xfrm>
            <a:off x="838200" y="1466924"/>
            <a:ext cx="10174704"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Role:</a:t>
            </a:r>
            <a:r>
              <a:rPr kumimoji="0" lang="en-US" altLang="en-US" sz="1800" b="0" i="0" u="none" strike="noStrike" cap="none" normalizeH="0" baseline="0" dirty="0">
                <a:ln>
                  <a:noFill/>
                </a:ln>
                <a:solidFill>
                  <a:schemeClr val="tx1"/>
                </a:solidFill>
                <a:effectLst/>
                <a:latin typeface="Google Sans Text"/>
              </a:rPr>
              <a:t> The glue that chains retrieval, prompting, generation, and guardrails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Two Functions:</a:t>
            </a:r>
            <a:r>
              <a:rPr kumimoji="0" lang="en-US" altLang="en-US" sz="1800" b="0" i="0" u="none" strike="noStrike" cap="none" normalizeH="0" baseline="0" dirty="0">
                <a:ln>
                  <a:noFill/>
                </a:ln>
                <a:solidFill>
                  <a:schemeClr val="tx1"/>
                </a:solidFill>
                <a:effectLst/>
                <a:latin typeface="Google Sans Text"/>
              </a:rPr>
              <a:t> Component definition (what tools/models exist) and Chaining (the execution flow).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Build vs. Buy:</a:t>
            </a:r>
            <a:r>
              <a:rPr kumimoji="0" lang="en-US" altLang="en-US" sz="1800" b="0" i="0" u="none" strike="noStrike" cap="none" normalizeH="0" baseline="0" dirty="0">
                <a:ln>
                  <a:noFill/>
                </a:ln>
                <a:solidFill>
                  <a:schemeClr val="tx1"/>
                </a:solidFill>
                <a:effectLst/>
                <a:latin typeface="Google Sans Text"/>
              </a:rPr>
              <a:t> Start without one. Only add tools like </a:t>
            </a:r>
            <a:r>
              <a:rPr kumimoji="0" lang="en-US" altLang="en-US" sz="1800" b="0" i="0" u="none" strike="noStrike" cap="none" normalizeH="0" baseline="0" dirty="0" err="1">
                <a:ln>
                  <a:noFill/>
                </a:ln>
                <a:solidFill>
                  <a:schemeClr val="tx1"/>
                </a:solidFill>
                <a:effectLst/>
                <a:latin typeface="Google Sans Text"/>
              </a:rPr>
              <a:t>LangChain</a:t>
            </a:r>
            <a:r>
              <a:rPr kumimoji="0" lang="en-US" altLang="en-US" sz="1800" b="0" i="0" u="none" strike="noStrike" cap="none" normalizeH="0" baseline="0" dirty="0">
                <a:ln>
                  <a:noFill/>
                </a:ln>
                <a:solidFill>
                  <a:schemeClr val="tx1"/>
                </a:solidFill>
                <a:effectLst/>
                <a:latin typeface="Google Sans Text"/>
              </a:rPr>
              <a:t>/LlamaIndex when complexity demands it. Orchestrators can abstract away critical debugging details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pipeline diagram: Step 1 (Process) -&gt; Step 2 (Retrieve) -&gt; Step 3 (Generate)  -&gt; Step 4 (Eval).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"How do you manage this mess of routers, caches, and models? Orchestrators. They define the chain of events. Tools like </a:t>
            </a:r>
            <a:r>
              <a:rPr kumimoji="0" lang="en-US" altLang="en-US" sz="1800" b="0" i="0" u="none" strike="noStrike" cap="none" normalizeH="0" baseline="0" dirty="0" err="1">
                <a:ln>
                  <a:noFill/>
                </a:ln>
                <a:solidFill>
                  <a:schemeClr val="tx1"/>
                </a:solidFill>
                <a:effectLst/>
                <a:latin typeface="Google Sans Text"/>
              </a:rPr>
              <a:t>LangChain</a:t>
            </a:r>
            <a:r>
              <a:rPr kumimoji="0" lang="en-US" altLang="en-US" sz="1800" b="0" i="0" u="none" strike="noStrike" cap="none" normalizeH="0" baseline="0" dirty="0">
                <a:ln>
                  <a:noFill/>
                </a:ln>
                <a:solidFill>
                  <a:schemeClr val="tx1"/>
                </a:solidFill>
                <a:effectLst/>
                <a:latin typeface="Google Sans Text"/>
              </a:rPr>
              <a:t> are popular, but a word of warning: don't start with them. Start simple. Orchestrators abstract away the details, and when things break—and they will—you need to understand what's happening under the hood."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0108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5E84-06C8-90A8-8658-571CCE639064}"/>
              </a:ext>
            </a:extLst>
          </p:cNvPr>
          <p:cNvSpPr>
            <a:spLocks noGrp="1"/>
          </p:cNvSpPr>
          <p:nvPr>
            <p:ph type="title"/>
          </p:nvPr>
        </p:nvSpPr>
        <p:spPr/>
        <p:txBody>
          <a:bodyPr>
            <a:normAutofit fontScale="90000"/>
          </a:bodyPr>
          <a:lstStyle/>
          <a:p>
            <a:r>
              <a:rPr lang="en-IN" sz="3600" b="1" dirty="0"/>
              <a:t>Slide 14: Observability vs. Monitoring</a:t>
            </a:r>
            <a:br>
              <a:rPr lang="en-IN" sz="3600" b="1" dirty="0"/>
            </a:br>
            <a:r>
              <a:rPr lang="en-IN" sz="2200" b="1" dirty="0">
                <a:solidFill>
                  <a:srgbClr val="92D050"/>
                </a:solidFill>
              </a:rPr>
              <a:t>Slide Title:</a:t>
            </a:r>
            <a:r>
              <a:rPr lang="en-IN" sz="2200" dirty="0">
                <a:solidFill>
                  <a:srgbClr val="92D050"/>
                </a:solidFill>
              </a:rPr>
              <a:t> Observability: Seeing Inside the Black Box</a:t>
            </a:r>
            <a:br>
              <a:rPr lang="en-IN" dirty="0"/>
            </a:br>
            <a:endParaRPr lang="en-US" dirty="0"/>
          </a:p>
        </p:txBody>
      </p:sp>
      <p:sp>
        <p:nvSpPr>
          <p:cNvPr id="4" name="Rectangle 1">
            <a:extLst>
              <a:ext uri="{FF2B5EF4-FFF2-40B4-BE49-F238E27FC236}">
                <a16:creationId xmlns:a16="http://schemas.microsoft.com/office/drawing/2014/main" id="{7D5F1BDC-8BAD-EF02-BB5D-6508B2B0B663}"/>
              </a:ext>
            </a:extLst>
          </p:cNvPr>
          <p:cNvSpPr>
            <a:spLocks noGrp="1" noChangeArrowheads="1"/>
          </p:cNvSpPr>
          <p:nvPr>
            <p:ph idx="1"/>
          </p:nvPr>
        </p:nvSpPr>
        <p:spPr bwMode="auto">
          <a:xfrm>
            <a:off x="962526" y="1877637"/>
            <a:ext cx="1039127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Monitoring:</a:t>
            </a:r>
            <a:r>
              <a:rPr kumimoji="0" lang="en-US" altLang="en-US" sz="1800" b="0" i="0" u="none" strike="noStrike" cap="none" normalizeH="0" baseline="0" dirty="0">
                <a:ln>
                  <a:noFill/>
                </a:ln>
                <a:solidFill>
                  <a:schemeClr val="tx1"/>
                </a:solidFill>
                <a:effectLst/>
                <a:latin typeface="Arial" panose="020B0604020202020204" pitchFamily="34" charset="0"/>
              </a:rPr>
              <a:t> "The system is failing." (Looking at external outputs)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Observability:</a:t>
            </a:r>
            <a:r>
              <a:rPr kumimoji="0" lang="en-US" altLang="en-US" sz="1800" b="0" i="0" u="none" strike="noStrike" cap="none" normalizeH="0" baseline="0" dirty="0">
                <a:ln>
                  <a:noFill/>
                </a:ln>
                <a:solidFill>
                  <a:schemeClr val="tx1"/>
                </a:solidFill>
                <a:effectLst/>
                <a:latin typeface="Arial" panose="020B0604020202020204" pitchFamily="34" charset="0"/>
              </a:rPr>
              <a:t> "Why is the system failing?" (Inferring internal state from outputs)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DevOps Metrics:</a:t>
            </a:r>
            <a:r>
              <a:rPr kumimoji="0" lang="en-US" altLang="en-US" sz="1800" b="0" i="0" u="none" strike="noStrike" cap="none" normalizeH="0" baseline="0" dirty="0">
                <a:ln>
                  <a:noFill/>
                </a:ln>
                <a:solidFill>
                  <a:schemeClr val="tx1"/>
                </a:solidFill>
                <a:effectLst/>
                <a:latin typeface="Arial" panose="020B0604020202020204" pitchFamily="34" charset="0"/>
              </a:rPr>
              <a:t> MTTD (Mean Time to Detection), MTTR (Mean Time to Response), CFR (Change Failure Rate)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iceberg. "Monitoring" is the tip above water. "Observability" is the deep understanding of the mass below.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"You can't fix what you can't see. We distinguish between Monitoring and Observability. Monitoring tells you </a:t>
            </a:r>
            <a:r>
              <a:rPr kumimoji="0" lang="en-US" altLang="en-US" sz="1800" b="0" i="1" u="none" strike="noStrike" cap="none" normalizeH="0" baseline="0" dirty="0">
                <a:ln>
                  <a:noFill/>
                </a:ln>
                <a:solidFill>
                  <a:schemeClr val="tx1"/>
                </a:solidFill>
                <a:effectLst/>
                <a:latin typeface="Arial" panose="020B0604020202020204" pitchFamily="34" charset="0"/>
              </a:rPr>
              <a:t>that</a:t>
            </a:r>
            <a:r>
              <a:rPr kumimoji="0" lang="en-US" altLang="en-US" sz="1800" b="0" i="0" u="none" strike="noStrike" cap="none" normalizeH="0" baseline="0" dirty="0">
                <a:ln>
                  <a:noFill/>
                </a:ln>
                <a:solidFill>
                  <a:schemeClr val="tx1"/>
                </a:solidFill>
                <a:effectLst/>
                <a:latin typeface="Arial" panose="020B0604020202020204" pitchFamily="34" charset="0"/>
              </a:rPr>
              <a:t> you are failing. Observability tells you </a:t>
            </a:r>
            <a:r>
              <a:rPr kumimoji="0" lang="en-US" altLang="en-US" sz="1800" b="0" i="1" u="none" strike="noStrike" cap="none" normalizeH="0" baseline="0" dirty="0">
                <a:ln>
                  <a:noFill/>
                </a:ln>
                <a:solidFill>
                  <a:schemeClr val="tx1"/>
                </a:solidFill>
                <a:effectLst/>
                <a:latin typeface="Arial" panose="020B0604020202020204" pitchFamily="34" charset="0"/>
              </a:rPr>
              <a:t>why</a:t>
            </a:r>
            <a:r>
              <a:rPr kumimoji="0" lang="en-US" altLang="en-US" sz="1800" b="0" i="0" u="none" strike="noStrike" cap="none" normalizeH="0" baseline="0" dirty="0">
                <a:ln>
                  <a:noFill/>
                </a:ln>
                <a:solidFill>
                  <a:schemeClr val="tx1"/>
                </a:solidFill>
                <a:effectLst/>
                <a:latin typeface="Arial" panose="020B0604020202020204" pitchFamily="34" charset="0"/>
              </a:rPr>
              <a:t>. In AI, where failures are often nondeterministic and subtle, you need deep observability. You need to know not just that the user downvoted, but what retrieval chunks were used and what the temperature setting was."</a:t>
            </a:r>
          </a:p>
        </p:txBody>
      </p:sp>
    </p:spTree>
    <p:extLst>
      <p:ext uri="{BB962C8B-B14F-4D97-AF65-F5344CB8AC3E}">
        <p14:creationId xmlns:p14="http://schemas.microsoft.com/office/powerpoint/2010/main" val="85554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9592-4376-E9ED-46E8-F1900BD24152}"/>
              </a:ext>
            </a:extLst>
          </p:cNvPr>
          <p:cNvSpPr>
            <a:spLocks noGrp="1"/>
          </p:cNvSpPr>
          <p:nvPr>
            <p:ph type="title"/>
          </p:nvPr>
        </p:nvSpPr>
        <p:spPr/>
        <p:txBody>
          <a:bodyPr>
            <a:normAutofit fontScale="90000"/>
          </a:bodyPr>
          <a:lstStyle/>
          <a:p>
            <a:r>
              <a:rPr lang="en-IN" sz="3600" b="1" dirty="0"/>
              <a:t>Slide 15: Drift Detection</a:t>
            </a:r>
            <a:br>
              <a:rPr lang="en-IN" sz="3600" b="1" dirty="0"/>
            </a:br>
            <a:r>
              <a:rPr lang="en-IN" sz="2200" b="1" dirty="0">
                <a:solidFill>
                  <a:srgbClr val="92D050"/>
                </a:solidFill>
              </a:rPr>
              <a:t>Slide Title:</a:t>
            </a:r>
            <a:r>
              <a:rPr lang="en-IN" sz="2200" dirty="0">
                <a:solidFill>
                  <a:srgbClr val="92D050"/>
                </a:solidFill>
              </a:rPr>
              <a:t> The Silent Killer: Data Drift</a:t>
            </a:r>
            <a:br>
              <a:rPr lang="en-IN" dirty="0"/>
            </a:br>
            <a:endParaRPr lang="en-US" dirty="0"/>
          </a:p>
        </p:txBody>
      </p:sp>
      <p:sp>
        <p:nvSpPr>
          <p:cNvPr id="4" name="Rectangle 1">
            <a:extLst>
              <a:ext uri="{FF2B5EF4-FFF2-40B4-BE49-F238E27FC236}">
                <a16:creationId xmlns:a16="http://schemas.microsoft.com/office/drawing/2014/main" id="{06677D5A-0CF6-B9C1-91DE-346F9A622EB3}"/>
              </a:ext>
            </a:extLst>
          </p:cNvPr>
          <p:cNvSpPr>
            <a:spLocks noGrp="1" noChangeArrowheads="1"/>
          </p:cNvSpPr>
          <p:nvPr>
            <p:ph idx="1"/>
          </p:nvPr>
        </p:nvSpPr>
        <p:spPr bwMode="auto">
          <a:xfrm>
            <a:off x="938462" y="1275191"/>
            <a:ext cx="1051559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Prompt Drift:</a:t>
            </a:r>
            <a:r>
              <a:rPr kumimoji="0" lang="en-US" altLang="en-US" sz="1800" b="0" i="0" u="none" strike="noStrike" cap="none" normalizeH="0" baseline="0" dirty="0">
                <a:ln>
                  <a:noFill/>
                </a:ln>
                <a:solidFill>
                  <a:schemeClr val="tx1"/>
                </a:solidFill>
                <a:effectLst/>
                <a:latin typeface="Arial" panose="020B0604020202020204" pitchFamily="34" charset="0"/>
              </a:rPr>
              <a:t> Accidental changes to templates or typos.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Behavior Drift:</a:t>
            </a:r>
            <a:r>
              <a:rPr kumimoji="0" lang="en-US" altLang="en-US" sz="1800" b="0" i="0" u="none" strike="noStrike" cap="none" normalizeH="0" baseline="0" dirty="0">
                <a:ln>
                  <a:noFill/>
                </a:ln>
                <a:solidFill>
                  <a:schemeClr val="tx1"/>
                </a:solidFill>
                <a:effectLst/>
                <a:latin typeface="Arial" panose="020B0604020202020204" pitchFamily="34" charset="0"/>
              </a:rPr>
              <a:t> Users adapt to the model (e.g., learning to write shorter prompts), skewing metrics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Drift:</a:t>
            </a:r>
            <a:r>
              <a:rPr kumimoji="0" lang="en-US" altLang="en-US" sz="1800" b="0" i="0" u="none" strike="noStrike" cap="none" normalizeH="0" baseline="0" dirty="0">
                <a:ln>
                  <a:noFill/>
                </a:ln>
                <a:solidFill>
                  <a:schemeClr val="tx1"/>
                </a:solidFill>
                <a:effectLst/>
                <a:latin typeface="Arial" panose="020B0604020202020204" pitchFamily="34" charset="0"/>
              </a:rPr>
              <a:t> API providers update models behind the scenes (e.g., GPT-4 March vs. June versions), often causing performance drops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line graph showing "Model Performance" dropping suddenly due to a "Hidden API Update.”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"Even if you touch nothing, your system will degrade. Why? Drift. Maybe OpenAI updated the model behind the scenes. Maybe your users learned to game the prompt. Maybe a developer fixed a typo in the system prompt that broke the logic. You need to monitor for these silent shifts."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47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23844-724B-5B93-C2B4-19BD81DC3D19}"/>
              </a:ext>
            </a:extLst>
          </p:cNvPr>
          <p:cNvSpPr>
            <a:spLocks noGrp="1"/>
          </p:cNvSpPr>
          <p:nvPr>
            <p:ph type="title"/>
          </p:nvPr>
        </p:nvSpPr>
        <p:spPr/>
        <p:txBody>
          <a:bodyPr>
            <a:normAutofit fontScale="90000"/>
          </a:bodyPr>
          <a:lstStyle/>
          <a:p>
            <a:r>
              <a:rPr lang="en-IN" sz="3100" b="1" dirty="0"/>
              <a:t>Part 2: User Feedback &amp; The Data Flywheel (Slides 16-30)</a:t>
            </a:r>
            <a:br>
              <a:rPr lang="en-IN" sz="3100" b="1" dirty="0"/>
            </a:br>
            <a:r>
              <a:rPr lang="en-IN" sz="3100" b="1" dirty="0"/>
              <a:t> The Data Flywheel</a:t>
            </a:r>
            <a:br>
              <a:rPr lang="en-IN" sz="3100" b="1" dirty="0"/>
            </a:br>
            <a:r>
              <a:rPr lang="en-IN" sz="2000" b="1" dirty="0">
                <a:solidFill>
                  <a:srgbClr val="92D050"/>
                </a:solidFill>
              </a:rPr>
              <a:t>Slide Title:</a:t>
            </a:r>
            <a:r>
              <a:rPr lang="en-IN" sz="2000" dirty="0">
                <a:solidFill>
                  <a:srgbClr val="92D050"/>
                </a:solidFill>
              </a:rPr>
              <a:t> User Feedback: The Ultimate Moat</a:t>
            </a:r>
            <a:br>
              <a:rPr lang="en-IN" sz="2000" dirty="0">
                <a:solidFill>
                  <a:srgbClr val="92D050"/>
                </a:solidFill>
              </a:rPr>
            </a:br>
            <a:endParaRPr lang="en-US" sz="2000" dirty="0">
              <a:solidFill>
                <a:srgbClr val="92D050"/>
              </a:solidFill>
            </a:endParaRPr>
          </a:p>
        </p:txBody>
      </p:sp>
      <p:sp>
        <p:nvSpPr>
          <p:cNvPr id="4" name="Rectangle 1">
            <a:extLst>
              <a:ext uri="{FF2B5EF4-FFF2-40B4-BE49-F238E27FC236}">
                <a16:creationId xmlns:a16="http://schemas.microsoft.com/office/drawing/2014/main" id="{9E345E5E-95A9-F0D8-FBB1-8FC23B5672BD}"/>
              </a:ext>
            </a:extLst>
          </p:cNvPr>
          <p:cNvSpPr>
            <a:spLocks noGrp="1" noChangeArrowheads="1"/>
          </p:cNvSpPr>
          <p:nvPr>
            <p:ph idx="1"/>
          </p:nvPr>
        </p:nvSpPr>
        <p:spPr bwMode="auto">
          <a:xfrm>
            <a:off x="962526" y="2177718"/>
            <a:ext cx="10391274"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Value:</a:t>
            </a:r>
            <a:r>
              <a:rPr kumimoji="0" lang="en-US" altLang="en-US" sz="1800" b="0" i="0" u="none" strike="noStrike" cap="none" normalizeH="0" baseline="0" dirty="0">
                <a:ln>
                  <a:noFill/>
                </a:ln>
                <a:solidFill>
                  <a:schemeClr val="tx1"/>
                </a:solidFill>
                <a:effectLst/>
                <a:latin typeface="Google Sans Text"/>
              </a:rPr>
              <a:t> User feedback is proprietary data. It creates a "Data Flywheel": more usage -&gt; more data -&gt; better models -&gt; more usage.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Competitive Advantage:</a:t>
            </a:r>
            <a:r>
              <a:rPr kumimoji="0" lang="en-US" altLang="en-US" sz="1800" b="0" i="0" u="none" strike="noStrike" cap="none" normalizeH="0" baseline="0" dirty="0">
                <a:ln>
                  <a:noFill/>
                </a:ln>
                <a:solidFill>
                  <a:schemeClr val="tx1"/>
                </a:solidFill>
                <a:effectLst/>
                <a:latin typeface="Google Sans Text"/>
              </a:rPr>
              <a:t> Data is scarce. Proprietary interaction data is the only thing competitors cannot copy.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flywheel graphic spinning. Arrows: Usage -&gt; Feedback -&gt; Improvement -&gt; Usage.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"Now, let's talk about your most valuable asset. It's not your code. It's not your prompt. It's your user data. Feedback creates a flywheel. The more people use your product, the smarter it gets, and the harder it is for a competitor to catch up. This is why you must obsess over feedback collection."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0118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5356F-30D7-2125-440E-380183D34AB4}"/>
              </a:ext>
            </a:extLst>
          </p:cNvPr>
          <p:cNvSpPr>
            <a:spLocks noGrp="1"/>
          </p:cNvSpPr>
          <p:nvPr>
            <p:ph type="title"/>
          </p:nvPr>
        </p:nvSpPr>
        <p:spPr/>
        <p:txBody>
          <a:bodyPr>
            <a:normAutofit fontScale="90000"/>
          </a:bodyPr>
          <a:lstStyle/>
          <a:p>
            <a:r>
              <a:rPr lang="en-IN" sz="3600" b="1" dirty="0"/>
              <a:t>Slide 17: Explicit vs. Implicit Feedback</a:t>
            </a:r>
            <a:br>
              <a:rPr lang="en-IN" sz="3600" b="1" dirty="0"/>
            </a:br>
            <a:r>
              <a:rPr lang="en-IN" sz="2200" b="1" dirty="0">
                <a:solidFill>
                  <a:srgbClr val="92D050"/>
                </a:solidFill>
              </a:rPr>
              <a:t>Slide Title:</a:t>
            </a:r>
            <a:r>
              <a:rPr lang="en-IN" sz="2200" dirty="0">
                <a:solidFill>
                  <a:srgbClr val="92D050"/>
                </a:solidFill>
              </a:rPr>
              <a:t> Asking vs. Observing</a:t>
            </a:r>
            <a:br>
              <a:rPr lang="en-IN" dirty="0"/>
            </a:br>
            <a:endParaRPr lang="en-US" dirty="0"/>
          </a:p>
        </p:txBody>
      </p:sp>
      <p:sp>
        <p:nvSpPr>
          <p:cNvPr id="4" name="Rectangle 1">
            <a:extLst>
              <a:ext uri="{FF2B5EF4-FFF2-40B4-BE49-F238E27FC236}">
                <a16:creationId xmlns:a16="http://schemas.microsoft.com/office/drawing/2014/main" id="{F1380F17-376F-1600-1991-734221FBD3D7}"/>
              </a:ext>
            </a:extLst>
          </p:cNvPr>
          <p:cNvSpPr>
            <a:spLocks noGrp="1" noChangeArrowheads="1"/>
          </p:cNvSpPr>
          <p:nvPr>
            <p:ph idx="1"/>
          </p:nvPr>
        </p:nvSpPr>
        <p:spPr bwMode="auto">
          <a:xfrm>
            <a:off x="637675" y="1028344"/>
            <a:ext cx="1012657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Explicit:</a:t>
            </a:r>
            <a:r>
              <a:rPr kumimoji="0" lang="en-US" altLang="en-US" sz="1800" b="0" i="0" u="none" strike="noStrike" cap="none" normalizeH="0" baseline="0" dirty="0">
                <a:ln>
                  <a:noFill/>
                </a:ln>
                <a:solidFill>
                  <a:schemeClr val="tx1"/>
                </a:solidFill>
                <a:effectLst/>
                <a:latin typeface="Arial" panose="020B0604020202020204" pitchFamily="34" charset="0"/>
              </a:rPr>
              <a:t> Thumbs up/down, star ratings, written reviews. High signal, low volume (requires user effort).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Implicit:</a:t>
            </a:r>
            <a:r>
              <a:rPr kumimoji="0" lang="en-US" altLang="en-US" sz="1800" b="0" i="0" u="none" strike="noStrike" cap="none" normalizeH="0" baseline="0" dirty="0">
                <a:ln>
                  <a:noFill/>
                </a:ln>
                <a:solidFill>
                  <a:schemeClr val="tx1"/>
                </a:solidFill>
                <a:effectLst/>
                <a:latin typeface="Arial" panose="020B0604020202020204" pitchFamily="34" charset="0"/>
              </a:rPr>
              <a:t> Inferred from actions (clicks, retention, sharing). Low signal, high volume (abundant).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Conversational Interfaces:</a:t>
            </a:r>
            <a:r>
              <a:rPr kumimoji="0" lang="en-US" altLang="en-US" sz="1800" b="0" i="0" u="none" strike="noStrike" cap="none" normalizeH="0" baseline="0" dirty="0">
                <a:ln>
                  <a:noFill/>
                </a:ln>
                <a:solidFill>
                  <a:schemeClr val="tx1"/>
                </a:solidFill>
                <a:effectLst/>
                <a:latin typeface="Arial" panose="020B0604020202020204" pitchFamily="34" charset="0"/>
              </a:rPr>
              <a:t> Unique because users can give natural language feedback directly in the workflow.</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comparison table. Explicit: "Clean, Sparse." Implicit: "Noisy, Abundant.”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 have two buckets. Explicit feedback—like a thumbs up—is clean but rare. Users are lazy; they won't click unless they are thrilled or furious. Implicit feedback is messy but everywhere. Did they copy the code? Did they share the chat? In conversational AI, we have a superpower: the user tells us what they think in plain English."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7787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7DF6-3191-0F56-2EC5-261A3CD30A38}"/>
              </a:ext>
            </a:extLst>
          </p:cNvPr>
          <p:cNvSpPr>
            <a:spLocks noGrp="1"/>
          </p:cNvSpPr>
          <p:nvPr>
            <p:ph type="title"/>
          </p:nvPr>
        </p:nvSpPr>
        <p:spPr/>
        <p:txBody>
          <a:bodyPr>
            <a:normAutofit fontScale="90000"/>
          </a:bodyPr>
          <a:lstStyle/>
          <a:p>
            <a:r>
              <a:rPr lang="en-IN" sz="3600" b="1" dirty="0"/>
              <a:t>Slide 18: Natural Language Signals: Early Termination</a:t>
            </a:r>
            <a:br>
              <a:rPr lang="en-IN" sz="3600" b="1" dirty="0"/>
            </a:br>
            <a:r>
              <a:rPr lang="en-IN" sz="2200" b="1" dirty="0">
                <a:solidFill>
                  <a:srgbClr val="92D050"/>
                </a:solidFill>
              </a:rPr>
              <a:t>Slide Title:</a:t>
            </a:r>
            <a:r>
              <a:rPr lang="en-IN" sz="2200" dirty="0">
                <a:solidFill>
                  <a:srgbClr val="92D050"/>
                </a:solidFill>
              </a:rPr>
              <a:t> Signal: "Stop!" (Early Termination)</a:t>
            </a:r>
            <a:br>
              <a:rPr lang="en-IN" dirty="0"/>
            </a:br>
            <a:endParaRPr lang="en-US" dirty="0"/>
          </a:p>
        </p:txBody>
      </p:sp>
      <p:sp>
        <p:nvSpPr>
          <p:cNvPr id="4" name="Rectangle 1">
            <a:extLst>
              <a:ext uri="{FF2B5EF4-FFF2-40B4-BE49-F238E27FC236}">
                <a16:creationId xmlns:a16="http://schemas.microsoft.com/office/drawing/2014/main" id="{2DF43EAE-E107-074C-E9CD-1D00B80358B2}"/>
              </a:ext>
            </a:extLst>
          </p:cNvPr>
          <p:cNvSpPr>
            <a:spLocks noGrp="1" noChangeArrowheads="1"/>
          </p:cNvSpPr>
          <p:nvPr>
            <p:ph idx="1"/>
          </p:nvPr>
        </p:nvSpPr>
        <p:spPr bwMode="auto">
          <a:xfrm>
            <a:off x="1335506" y="1877637"/>
            <a:ext cx="1001829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Signal:</a:t>
            </a:r>
            <a:r>
              <a:rPr kumimoji="0" lang="en-US" altLang="en-US" sz="1800" b="0" i="0" u="none" strike="noStrike" cap="none" normalizeH="0" baseline="0" dirty="0">
                <a:ln>
                  <a:noFill/>
                </a:ln>
                <a:solidFill>
                  <a:schemeClr val="tx1"/>
                </a:solidFill>
                <a:effectLst/>
                <a:latin typeface="Arial" panose="020B0604020202020204" pitchFamily="34" charset="0"/>
              </a:rPr>
              <a:t> User stops generation, exits app, or stops responding.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Meaning:</a:t>
            </a:r>
            <a:r>
              <a:rPr kumimoji="0" lang="en-US" altLang="en-US" sz="1800" b="0" i="0" u="none" strike="noStrike" cap="none" normalizeH="0" baseline="0" dirty="0">
                <a:ln>
                  <a:noFill/>
                </a:ln>
                <a:solidFill>
                  <a:schemeClr val="tx1"/>
                </a:solidFill>
                <a:effectLst/>
                <a:latin typeface="Arial" panose="020B0604020202020204" pitchFamily="34" charset="0"/>
              </a:rPr>
              <a:t> The conversation is going poorly.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Action:</a:t>
            </a:r>
            <a:r>
              <a:rPr kumimoji="0" lang="en-US" altLang="en-US" sz="1800" b="0" i="0" u="none" strike="noStrike" cap="none" normalizeH="0" baseline="0" dirty="0">
                <a:ln>
                  <a:noFill/>
                </a:ln>
                <a:solidFill>
                  <a:schemeClr val="tx1"/>
                </a:solidFill>
                <a:effectLst/>
                <a:latin typeface="Arial" panose="020B0604020202020204" pitchFamily="34" charset="0"/>
              </a:rPr>
              <a:t> Track how often users interrupt the model. High interruption rates = low satisfaction.</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chat interface showing a user clicking a "Stop Generating" button mid-sentence.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"When a user hits 'Stop Generating', they are shouting 'You are wasting my time.' This is a powerful negative signal. If your 'Stop' rate is climbing, your latency is too high or your quality is too 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534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EE39F-8388-7F72-F8A5-6F1CB22C6576}"/>
              </a:ext>
            </a:extLst>
          </p:cNvPr>
          <p:cNvSpPr>
            <a:spLocks noGrp="1"/>
          </p:cNvSpPr>
          <p:nvPr>
            <p:ph type="title"/>
          </p:nvPr>
        </p:nvSpPr>
        <p:spPr/>
        <p:txBody>
          <a:bodyPr>
            <a:normAutofit fontScale="90000"/>
          </a:bodyPr>
          <a:lstStyle/>
          <a:p>
            <a:r>
              <a:rPr lang="en-IN" sz="3600" b="1" dirty="0"/>
              <a:t>Slide 19: Natural Language Signals: Error Correction</a:t>
            </a:r>
            <a:br>
              <a:rPr lang="en-IN" sz="3600" b="1" dirty="0"/>
            </a:br>
            <a:r>
              <a:rPr lang="en-IN" sz="2200" b="1" dirty="0">
                <a:solidFill>
                  <a:srgbClr val="92D050"/>
                </a:solidFill>
              </a:rPr>
              <a:t>Slide Title:</a:t>
            </a:r>
            <a:r>
              <a:rPr lang="en-IN" sz="2200" dirty="0">
                <a:solidFill>
                  <a:srgbClr val="92D050"/>
                </a:solidFill>
              </a:rPr>
              <a:t> Signal: "No, I meant..." (Error Correction)</a:t>
            </a:r>
            <a:br>
              <a:rPr lang="en-IN" dirty="0"/>
            </a:br>
            <a:endParaRPr lang="en-US" dirty="0"/>
          </a:p>
        </p:txBody>
      </p:sp>
      <p:sp>
        <p:nvSpPr>
          <p:cNvPr id="4" name="Rectangle 1">
            <a:extLst>
              <a:ext uri="{FF2B5EF4-FFF2-40B4-BE49-F238E27FC236}">
                <a16:creationId xmlns:a16="http://schemas.microsoft.com/office/drawing/2014/main" id="{1CA2A660-0430-D18F-87EA-E86EF79608E8}"/>
              </a:ext>
            </a:extLst>
          </p:cNvPr>
          <p:cNvSpPr>
            <a:spLocks noGrp="1" noChangeArrowheads="1"/>
          </p:cNvSpPr>
          <p:nvPr>
            <p:ph idx="1"/>
          </p:nvPr>
        </p:nvSpPr>
        <p:spPr bwMode="auto">
          <a:xfrm>
            <a:off x="1034716" y="2039220"/>
            <a:ext cx="10319083"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Signal:</a:t>
            </a:r>
            <a:r>
              <a:rPr kumimoji="0" lang="en-US" altLang="en-US" sz="1800" b="0" i="0" u="none" strike="noStrike" cap="none" normalizeH="0" baseline="0" dirty="0">
                <a:ln>
                  <a:noFill/>
                </a:ln>
                <a:solidFill>
                  <a:schemeClr val="tx1"/>
                </a:solidFill>
                <a:effectLst/>
                <a:latin typeface="Google Sans Text"/>
              </a:rPr>
              <a:t> Messages starting with "No," "Actually," or rephrased queries.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Example:</a:t>
            </a:r>
            <a:r>
              <a:rPr kumimoji="0" lang="en-US" altLang="en-US" sz="1800" b="0" i="0" u="none" strike="noStrike" cap="none" normalizeH="0" baseline="0" dirty="0">
                <a:ln>
                  <a:noFill/>
                </a:ln>
                <a:solidFill>
                  <a:schemeClr val="tx1"/>
                </a:solidFill>
                <a:effectLst/>
                <a:latin typeface="Google Sans Text"/>
              </a:rPr>
              <a:t> User asks for "Mission Bay weather"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Model gives SF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User corrects "Mission Bay San Diego"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Action:</a:t>
            </a:r>
            <a:r>
              <a:rPr kumimoji="0" lang="en-US" altLang="en-US" sz="1800" b="0" i="0" u="none" strike="noStrike" cap="none" normalizeH="0" baseline="0" dirty="0">
                <a:ln>
                  <a:noFill/>
                </a:ln>
                <a:solidFill>
                  <a:schemeClr val="tx1"/>
                </a:solidFill>
                <a:effectLst/>
                <a:latin typeface="Google Sans Text"/>
              </a:rPr>
              <a:t> Use these pairs (bad response + correction) as negative training examples.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Screenshot of Figure 10-12 (Weather example) showing the rephrase loop.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"When a user corrects the model, they are doing your work for you. They are labeling the data. 'No, I meant the other Mission Bay.' This is gold. It tells you exactly where the ambiguity lies and how to fix the routing."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6773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C9799-C9F6-B772-FEED-66BD537C1EED}"/>
              </a:ext>
            </a:extLst>
          </p:cNvPr>
          <p:cNvSpPr>
            <a:spLocks noGrp="1"/>
          </p:cNvSpPr>
          <p:nvPr>
            <p:ph type="title"/>
          </p:nvPr>
        </p:nvSpPr>
        <p:spPr/>
        <p:txBody>
          <a:bodyPr>
            <a:noAutofit/>
          </a:bodyPr>
          <a:lstStyle/>
          <a:p>
            <a:r>
              <a:rPr lang="en-IN" sz="2800" b="1" dirty="0">
                <a:latin typeface="Arial" panose="020B0604020202020204" pitchFamily="34" charset="0"/>
                <a:cs typeface="Arial" panose="020B0604020202020204" pitchFamily="34" charset="0"/>
              </a:rPr>
              <a:t>Slide 20: Natural Language Signals: Sentiment &amp; Refusals</a:t>
            </a:r>
            <a:br>
              <a:rPr lang="en-IN" sz="32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Signal: Sentiment and Refusals</a:t>
            </a:r>
            <a:br>
              <a:rPr lang="en-IN"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C8FBBD08-421C-590F-4D57-C081EAEA4B01}"/>
              </a:ext>
            </a:extLst>
          </p:cNvPr>
          <p:cNvSpPr>
            <a:spLocks noGrp="1" noChangeArrowheads="1"/>
          </p:cNvSpPr>
          <p:nvPr>
            <p:ph idx="1"/>
          </p:nvPr>
        </p:nvSpPr>
        <p:spPr bwMode="auto">
          <a:xfrm>
            <a:off x="1275907" y="1900721"/>
            <a:ext cx="10077893"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Sentiment:</a:t>
            </a:r>
            <a:r>
              <a:rPr kumimoji="0" lang="en-US" altLang="en-US" sz="1800" b="0" i="0" u="none" strike="noStrike" cap="none" normalizeH="0" baseline="0" dirty="0">
                <a:ln>
                  <a:noFill/>
                </a:ln>
                <a:solidFill>
                  <a:schemeClr val="tx1"/>
                </a:solidFill>
                <a:effectLst/>
                <a:latin typeface="Google Sans Text"/>
              </a:rPr>
              <a:t> Expressions of frustration ("Ugh", "You are wrong") or gratitude.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Refusal Rate:</a:t>
            </a:r>
            <a:r>
              <a:rPr kumimoji="0" lang="en-US" altLang="en-US" sz="1800" b="0" i="0" u="none" strike="noStrike" cap="none" normalizeH="0" baseline="0" dirty="0">
                <a:ln>
                  <a:noFill/>
                </a:ln>
                <a:solidFill>
                  <a:schemeClr val="tx1"/>
                </a:solidFill>
                <a:effectLst/>
                <a:latin typeface="Google Sans Text"/>
              </a:rPr>
              <a:t> If the model says "As an AI, I cannot...", the user is likely unhappy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Analysis:</a:t>
            </a:r>
            <a:r>
              <a:rPr kumimoji="0" lang="en-US" altLang="en-US" sz="1800" b="0" i="0" u="none" strike="noStrike" cap="none" normalizeH="0" baseline="0" dirty="0">
                <a:ln>
                  <a:noFill/>
                </a:ln>
                <a:solidFill>
                  <a:schemeClr val="tx1"/>
                </a:solidFill>
                <a:effectLst/>
                <a:latin typeface="Google Sans Text"/>
              </a:rPr>
              <a:t> Monitor the sentiment arc of a conversation (e.g., angry start -&gt; happy end = success).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Visual Suggestion:</a:t>
            </a:r>
            <a:r>
              <a:rPr kumimoji="0" lang="en-US" altLang="en-US" sz="1800" b="0" i="0" u="none" strike="noStrike" cap="none" normalizeH="0" baseline="0" dirty="0">
                <a:ln>
                  <a:noFill/>
                </a:ln>
                <a:solidFill>
                  <a:schemeClr val="tx1"/>
                </a:solidFill>
                <a:effectLst/>
                <a:latin typeface="Google Sans Text"/>
              </a:rPr>
              <a:t> A sentiment trend line graph overlaying a chat log.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Speaker Notes:</a:t>
            </a:r>
            <a:r>
              <a:rPr kumimoji="0" lang="en-US" altLang="en-US" sz="1800" b="0" i="0" u="none" strike="noStrike" cap="none" normalizeH="0" baseline="0" dirty="0">
                <a:ln>
                  <a:noFill/>
                </a:ln>
                <a:solidFill>
                  <a:schemeClr val="tx1"/>
                </a:solidFill>
                <a:effectLst/>
                <a:latin typeface="Google Sans Text"/>
              </a:rPr>
              <a:t> "Track the 'I'm sorry' rate. If your model apologizes constantly, your guardrails are too tight. Also, look at sentiment. A conversation that starts angry and ends happy is a triumph. A conversation that ends with 'Ugh' is a failure."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3673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6102-E156-8E28-0CDF-853AD4625167}"/>
              </a:ext>
            </a:extLst>
          </p:cNvPr>
          <p:cNvSpPr>
            <a:spLocks noGrp="1"/>
          </p:cNvSpPr>
          <p:nvPr>
            <p:ph type="title"/>
          </p:nvPr>
        </p:nvSpPr>
        <p:spPr/>
        <p:txBody>
          <a:bodyPr>
            <a:normAutofit fontScale="90000"/>
          </a:bodyPr>
          <a:lstStyle/>
          <a:p>
            <a:r>
              <a:rPr lang="en-IN" sz="3100" b="1" dirty="0">
                <a:latin typeface="Arial" panose="020B0604020202020204" pitchFamily="34" charset="0"/>
                <a:cs typeface="Arial" panose="020B0604020202020204" pitchFamily="34" charset="0"/>
              </a:rPr>
              <a:t>Slide 21: </a:t>
            </a:r>
            <a:r>
              <a:rPr lang="en-IN" sz="3100" b="1" dirty="0" err="1">
                <a:latin typeface="Arial" panose="020B0604020202020204" pitchFamily="34" charset="0"/>
                <a:cs typeface="Arial" panose="020B0604020202020204" pitchFamily="34" charset="0"/>
              </a:rPr>
              <a:t>Behavioral</a:t>
            </a:r>
            <a:r>
              <a:rPr lang="en-IN" sz="3100" b="1" dirty="0">
                <a:latin typeface="Arial" panose="020B0604020202020204" pitchFamily="34" charset="0"/>
                <a:cs typeface="Arial" panose="020B0604020202020204" pitchFamily="34" charset="0"/>
              </a:rPr>
              <a:t> Signals: Regeneration</a:t>
            </a:r>
            <a:br>
              <a:rPr lang="en-IN" sz="3100" b="1" dirty="0">
                <a:latin typeface="Arial" panose="020B0604020202020204" pitchFamily="34" charset="0"/>
                <a:cs typeface="Arial" panose="020B0604020202020204" pitchFamily="34" charset="0"/>
              </a:rPr>
            </a:br>
            <a:r>
              <a:rPr lang="en-IN" sz="2200" b="1" dirty="0">
                <a:solidFill>
                  <a:srgbClr val="92D050"/>
                </a:solidFill>
                <a:latin typeface="Arial" panose="020B0604020202020204" pitchFamily="34" charset="0"/>
                <a:cs typeface="Arial" panose="020B0604020202020204" pitchFamily="34" charset="0"/>
              </a:rPr>
              <a:t>Slide Title:</a:t>
            </a:r>
            <a:r>
              <a:rPr lang="en-IN" sz="2200" dirty="0">
                <a:solidFill>
                  <a:srgbClr val="92D050"/>
                </a:solidFill>
                <a:latin typeface="Arial" panose="020B0604020202020204" pitchFamily="34" charset="0"/>
                <a:cs typeface="Arial" panose="020B0604020202020204" pitchFamily="34" charset="0"/>
              </a:rPr>
              <a:t> Signal: The "Retry" Button (Regeneration)</a:t>
            </a:r>
            <a:br>
              <a:rPr lang="en-IN" dirty="0"/>
            </a:br>
            <a:endParaRPr lang="en-US" dirty="0"/>
          </a:p>
        </p:txBody>
      </p:sp>
      <p:sp>
        <p:nvSpPr>
          <p:cNvPr id="4" name="Rectangle 1">
            <a:extLst>
              <a:ext uri="{FF2B5EF4-FFF2-40B4-BE49-F238E27FC236}">
                <a16:creationId xmlns:a16="http://schemas.microsoft.com/office/drawing/2014/main" id="{191FEEB9-35CB-F091-9B3B-4DB5DF0C6760}"/>
              </a:ext>
            </a:extLst>
          </p:cNvPr>
          <p:cNvSpPr>
            <a:spLocks noGrp="1" noChangeArrowheads="1"/>
          </p:cNvSpPr>
          <p:nvPr>
            <p:ph idx="1"/>
          </p:nvPr>
        </p:nvSpPr>
        <p:spPr bwMode="auto">
          <a:xfrm>
            <a:off x="1155032" y="1739137"/>
            <a:ext cx="1019876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Signal:</a:t>
            </a:r>
            <a:r>
              <a:rPr kumimoji="0" lang="en-US" altLang="en-US" sz="1800" b="0" i="0" u="none" strike="noStrike" cap="none" normalizeH="0" baseline="0" dirty="0">
                <a:ln>
                  <a:noFill/>
                </a:ln>
                <a:solidFill>
                  <a:schemeClr val="tx1"/>
                </a:solidFill>
                <a:effectLst/>
                <a:latin typeface="Arial" panose="020B0604020202020204" pitchFamily="34" charset="0"/>
              </a:rPr>
              <a:t> User clicks "Regenerate".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Ambiguity:</a:t>
            </a:r>
            <a:r>
              <a:rPr kumimoji="0" lang="en-US" altLang="en-US" sz="1800" b="0" i="0" u="none" strike="noStrike" cap="none" normalizeH="0" baseline="0" dirty="0">
                <a:ln>
                  <a:noFill/>
                </a:ln>
                <a:solidFill>
                  <a:schemeClr val="tx1"/>
                </a:solidFill>
                <a:effectLst/>
                <a:latin typeface="Arial" panose="020B0604020202020204" pitchFamily="34" charset="0"/>
              </a:rPr>
              <a:t> Could mean the first answer was bad, OR the user just wants variety (common in creative tasks)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Billing Impact:</a:t>
            </a:r>
            <a:r>
              <a:rPr kumimoji="0" lang="en-US" altLang="en-US" sz="1800" b="0" i="0" u="none" strike="noStrike" cap="none" normalizeH="0" baseline="0" dirty="0">
                <a:ln>
                  <a:noFill/>
                </a:ln>
                <a:solidFill>
                  <a:schemeClr val="tx1"/>
                </a:solidFill>
                <a:effectLst/>
                <a:latin typeface="Arial" panose="020B0604020202020204" pitchFamily="34" charset="0"/>
              </a:rPr>
              <a:t> Usage-based billing reduces "idle curiosity" regenerations, making the signal stronger.</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UI button "Regenerate" with a question mark "Dissatisfaction or Curiosity?".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"Regeneration is tricky. In Midjourney, I regenerate to see cool variations. In ChatGPT, I regenerate because the first answer was wrong. You must understand your domain. If you charge per token, a regeneration is a very strong negative signal—the user is paying twice to get it right."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9638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8CA72-EBA7-3279-CED5-ACF72930F7AA}"/>
              </a:ext>
            </a:extLst>
          </p:cNvPr>
          <p:cNvSpPr>
            <a:spLocks noGrp="1"/>
          </p:cNvSpPr>
          <p:nvPr>
            <p:ph type="title"/>
          </p:nvPr>
        </p:nvSpPr>
        <p:spPr/>
        <p:txBody>
          <a:bodyPr>
            <a:normAutofit fontScale="90000"/>
          </a:bodyPr>
          <a:lstStyle/>
          <a:p>
            <a:r>
              <a:rPr lang="en-IN" sz="3100" b="1" dirty="0">
                <a:latin typeface="Arial" panose="020B0604020202020204" pitchFamily="34" charset="0"/>
                <a:cs typeface="Arial" panose="020B0604020202020204" pitchFamily="34" charset="0"/>
              </a:rPr>
              <a:t>Slide 22: </a:t>
            </a:r>
            <a:r>
              <a:rPr lang="en-IN" sz="3100" b="1" dirty="0" err="1">
                <a:latin typeface="Arial" panose="020B0604020202020204" pitchFamily="34" charset="0"/>
                <a:cs typeface="Arial" panose="020B0604020202020204" pitchFamily="34" charset="0"/>
              </a:rPr>
              <a:t>Behavioral</a:t>
            </a:r>
            <a:r>
              <a:rPr lang="en-IN" sz="3100" b="1" dirty="0">
                <a:latin typeface="Arial" panose="020B0604020202020204" pitchFamily="34" charset="0"/>
                <a:cs typeface="Arial" panose="020B0604020202020204" pitchFamily="34" charset="0"/>
              </a:rPr>
              <a:t> Signals: Organization</a:t>
            </a:r>
            <a:br>
              <a:rPr lang="en-IN" sz="3100" b="1" dirty="0">
                <a:latin typeface="Arial" panose="020B0604020202020204" pitchFamily="34" charset="0"/>
                <a:cs typeface="Arial" panose="020B0604020202020204" pitchFamily="34" charset="0"/>
              </a:rPr>
            </a:br>
            <a:r>
              <a:rPr lang="en-IN" sz="2200" b="1" dirty="0">
                <a:solidFill>
                  <a:srgbClr val="92D050"/>
                </a:solidFill>
                <a:latin typeface="Arial" panose="020B0604020202020204" pitchFamily="34" charset="0"/>
                <a:cs typeface="Arial" panose="020B0604020202020204" pitchFamily="34" charset="0"/>
              </a:rPr>
              <a:t>Slide Title:</a:t>
            </a:r>
            <a:r>
              <a:rPr lang="en-IN" sz="2200" dirty="0">
                <a:solidFill>
                  <a:srgbClr val="92D050"/>
                </a:solidFill>
                <a:latin typeface="Arial" panose="020B0604020202020204" pitchFamily="34" charset="0"/>
                <a:cs typeface="Arial" panose="020B0604020202020204" pitchFamily="34" charset="0"/>
              </a:rPr>
              <a:t> Signal: Copy, Share, Delete</a:t>
            </a:r>
            <a:br>
              <a:rPr lang="en-IN" dirty="0"/>
            </a:br>
            <a:endParaRPr lang="en-US" dirty="0"/>
          </a:p>
        </p:txBody>
      </p:sp>
      <p:sp>
        <p:nvSpPr>
          <p:cNvPr id="6" name="Rectangle 3">
            <a:extLst>
              <a:ext uri="{FF2B5EF4-FFF2-40B4-BE49-F238E27FC236}">
                <a16:creationId xmlns:a16="http://schemas.microsoft.com/office/drawing/2014/main" id="{E0EED091-1F5D-5DC2-E3CD-76F9B1EF01C3}"/>
              </a:ext>
            </a:extLst>
          </p:cNvPr>
          <p:cNvSpPr>
            <a:spLocks noGrp="1" noChangeArrowheads="1"/>
          </p:cNvSpPr>
          <p:nvPr>
            <p:ph idx="1"/>
          </p:nvPr>
        </p:nvSpPr>
        <p:spPr bwMode="auto">
          <a:xfrm>
            <a:off x="838199" y="1739138"/>
            <a:ext cx="84381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Delete:</a:t>
            </a:r>
            <a:r>
              <a:rPr kumimoji="0" lang="en-US" altLang="en-US" sz="1800" b="0" i="0" u="none" strike="noStrike" cap="none" normalizeH="0" baseline="0" dirty="0">
                <a:ln>
                  <a:noFill/>
                </a:ln>
                <a:solidFill>
                  <a:schemeClr val="tx1"/>
                </a:solidFill>
                <a:effectLst/>
                <a:latin typeface="Arial" panose="020B0604020202020204" pitchFamily="34" charset="0"/>
              </a:rPr>
              <a:t> Strong negative signal (unless privacy-related).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Rename:</a:t>
            </a:r>
            <a:r>
              <a:rPr kumimoji="0" lang="en-US" altLang="en-US" sz="1800" b="0" i="0" u="none" strike="noStrike" cap="none" normalizeH="0" baseline="0" dirty="0">
                <a:ln>
                  <a:noFill/>
                </a:ln>
                <a:solidFill>
                  <a:schemeClr val="tx1"/>
                </a:solidFill>
                <a:effectLst/>
                <a:latin typeface="Arial" panose="020B0604020202020204" pitchFamily="34" charset="0"/>
              </a:rPr>
              <a:t> Positive signal (user cares enough to organize it).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Copy/Edit:</a:t>
            </a:r>
            <a:r>
              <a:rPr kumimoji="0" lang="en-US" altLang="en-US" sz="1800" b="0" i="0" u="none" strike="noStrike" cap="none" normalizeH="0" baseline="0" dirty="0">
                <a:ln>
                  <a:noFill/>
                </a:ln>
                <a:solidFill>
                  <a:schemeClr val="tx1"/>
                </a:solidFill>
                <a:effectLst/>
                <a:latin typeface="Arial" panose="020B0604020202020204" pitchFamily="34" charset="0"/>
              </a:rPr>
              <a:t> If a user edits code, the original was "losing" and the edit is "winning" preference data.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Icons for "Copy", "Delete", "Edit" with "Good/Bad" indicators.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"Look at the meta-actions. Deleting a chat usually means 'garbage'. Renaming it means 'keeper'. If a user copies your code output and edits it in the IDE, capture that edit! That delta is the difference between your model and the truth."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6542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D04F-B9C3-72DB-267D-AAF5D45F545C}"/>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23: Feedback Design: Timing is Everything</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When to Ask for Feedback</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BCA43D1A-A3C2-F3B5-5C6B-475508BFD5E0}"/>
              </a:ext>
            </a:extLst>
          </p:cNvPr>
          <p:cNvSpPr>
            <a:spLocks noGrp="1" noChangeArrowheads="1"/>
          </p:cNvSpPr>
          <p:nvPr>
            <p:ph idx="1"/>
          </p:nvPr>
        </p:nvSpPr>
        <p:spPr bwMode="auto">
          <a:xfrm>
            <a:off x="838200" y="1372038"/>
            <a:ext cx="986188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Rule:</a:t>
            </a:r>
            <a:r>
              <a:rPr kumimoji="0" lang="en-US" altLang="en-US" sz="1800" b="0" i="0" u="none" strike="noStrike" cap="none" normalizeH="0" baseline="0" dirty="0">
                <a:ln>
                  <a:noFill/>
                </a:ln>
                <a:solidFill>
                  <a:schemeClr val="tx1"/>
                </a:solidFill>
                <a:effectLst/>
                <a:latin typeface="Arial" panose="020B0604020202020204" pitchFamily="34" charset="0"/>
              </a:rPr>
              <a:t> Non-intrusive. Don't block workflow.</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Moments: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Start:</a:t>
            </a:r>
            <a:r>
              <a:rPr kumimoji="0" lang="en-US" altLang="en-US" sz="1800" b="0" i="0" u="none" strike="noStrike" cap="none" normalizeH="0" baseline="0" dirty="0">
                <a:ln>
                  <a:noFill/>
                </a:ln>
                <a:solidFill>
                  <a:schemeClr val="tx1"/>
                </a:solidFill>
                <a:effectLst/>
                <a:latin typeface="Arial" panose="020B0604020202020204" pitchFamily="34" charset="0"/>
              </a:rPr>
              <a:t> Calibration (e.g., </a:t>
            </a:r>
            <a:r>
              <a:rPr kumimoji="0" lang="en-US" altLang="en-US" sz="1800" b="0" i="0" u="none" strike="noStrike" cap="none" normalizeH="0" baseline="0" dirty="0" err="1">
                <a:ln>
                  <a:noFill/>
                </a:ln>
                <a:solidFill>
                  <a:schemeClr val="tx1"/>
                </a:solidFill>
                <a:effectLst/>
                <a:latin typeface="Arial" panose="020B0604020202020204" pitchFamily="34" charset="0"/>
              </a:rPr>
              <a:t>FaceID</a:t>
            </a:r>
            <a:r>
              <a:rPr kumimoji="0" lang="en-US" altLang="en-US" sz="1800" b="0" i="0" u="none" strike="noStrike" cap="none" normalizeH="0" baseline="0" dirty="0">
                <a:ln>
                  <a:noFill/>
                </a:ln>
                <a:solidFill>
                  <a:schemeClr val="tx1"/>
                </a:solidFill>
                <a:effectLst/>
                <a:latin typeface="Arial" panose="020B0604020202020204" pitchFamily="34" charset="0"/>
              </a:rPr>
              <a:t> setup).</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Failure:</a:t>
            </a:r>
            <a:r>
              <a:rPr kumimoji="0" lang="en-US" altLang="en-US" sz="1800" b="0" i="0" u="none" strike="noStrike" cap="none" normalizeH="0" baseline="0" dirty="0">
                <a:ln>
                  <a:noFill/>
                </a:ln>
                <a:solidFill>
                  <a:schemeClr val="tx1"/>
                </a:solidFill>
                <a:effectLst/>
                <a:latin typeface="Arial" panose="020B0604020202020204" pitchFamily="34" charset="0"/>
              </a:rPr>
              <a:t> When the model refuses or users regenerate.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Low Confidence:</a:t>
            </a:r>
            <a:r>
              <a:rPr kumimoji="0" lang="en-US" altLang="en-US" sz="1800" b="0" i="0" u="none" strike="noStrike" cap="none" normalizeH="0" baseline="0" dirty="0">
                <a:ln>
                  <a:noFill/>
                </a:ln>
                <a:solidFill>
                  <a:schemeClr val="tx1"/>
                </a:solidFill>
                <a:effectLst/>
                <a:latin typeface="Arial" panose="020B0604020202020204" pitchFamily="34" charset="0"/>
              </a:rPr>
              <a:t> When the model isn't sure, show options.</a:t>
            </a:r>
          </a:p>
          <a:p>
            <a:pPr marL="914400" marR="0" lvl="2"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timeline of a user journey highlighting "Calibration" and "Error" points as feedback opportunities.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"Don't annoy your users. Ask for feedback only when it matters. Ask at the start for calibration. Ask when they are frustrated. And ask when the model itself is unsure. This is 'uncertainty sampling'—asking humans to label the hardest examples."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63895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1469-A475-0A66-5D32-411346DD6564}"/>
              </a:ext>
            </a:extLst>
          </p:cNvPr>
          <p:cNvSpPr>
            <a:spLocks noGrp="1"/>
          </p:cNvSpPr>
          <p:nvPr>
            <p:ph type="title"/>
          </p:nvPr>
        </p:nvSpPr>
        <p:spPr/>
        <p:txBody>
          <a:bodyPr>
            <a:normAutofit fontScale="90000"/>
          </a:bodyPr>
          <a:lstStyle/>
          <a:p>
            <a:r>
              <a:rPr lang="en-IN" sz="3100" b="1" dirty="0">
                <a:latin typeface="Arial" panose="020B0604020202020204" pitchFamily="34" charset="0"/>
                <a:cs typeface="Arial" panose="020B0604020202020204" pitchFamily="34" charset="0"/>
              </a:rPr>
              <a:t>Slide 24: UX Patterns: Human-AI Collaboration</a:t>
            </a:r>
            <a:br>
              <a:rPr lang="en-IN" sz="3100" b="1" dirty="0">
                <a:latin typeface="Arial" panose="020B0604020202020204" pitchFamily="34" charset="0"/>
                <a:cs typeface="Arial" panose="020B0604020202020204" pitchFamily="34" charset="0"/>
              </a:rPr>
            </a:br>
            <a:r>
              <a:rPr lang="en-IN" sz="2200" b="1" dirty="0">
                <a:solidFill>
                  <a:srgbClr val="92D050"/>
                </a:solidFill>
                <a:latin typeface="Arial" panose="020B0604020202020204" pitchFamily="34" charset="0"/>
                <a:cs typeface="Arial" panose="020B0604020202020204" pitchFamily="34" charset="0"/>
              </a:rPr>
              <a:t>Slide Title:</a:t>
            </a:r>
            <a:r>
              <a:rPr lang="en-IN" sz="2200" dirty="0">
                <a:solidFill>
                  <a:srgbClr val="92D050"/>
                </a:solidFill>
                <a:latin typeface="Arial" panose="020B0604020202020204" pitchFamily="34" charset="0"/>
                <a:cs typeface="Arial" panose="020B0604020202020204" pitchFamily="34" charset="0"/>
              </a:rPr>
              <a:t> UX Pattern: Inpainting and Collaboration</a:t>
            </a:r>
            <a:br>
              <a:rPr lang="en-IN" dirty="0"/>
            </a:br>
            <a:endParaRPr lang="en-US" dirty="0"/>
          </a:p>
        </p:txBody>
      </p:sp>
      <p:sp>
        <p:nvSpPr>
          <p:cNvPr id="4" name="Rectangle 1">
            <a:extLst>
              <a:ext uri="{FF2B5EF4-FFF2-40B4-BE49-F238E27FC236}">
                <a16:creationId xmlns:a16="http://schemas.microsoft.com/office/drawing/2014/main" id="{5FC4A437-0BCA-8CFF-0431-21752BEA0645}"/>
              </a:ext>
            </a:extLst>
          </p:cNvPr>
          <p:cNvSpPr>
            <a:spLocks noGrp="1" noChangeArrowheads="1"/>
          </p:cNvSpPr>
          <p:nvPr>
            <p:ph idx="1"/>
          </p:nvPr>
        </p:nvSpPr>
        <p:spPr bwMode="auto">
          <a:xfrm>
            <a:off x="838200" y="1390221"/>
            <a:ext cx="887529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Collaborative Correction:</a:t>
            </a:r>
            <a:r>
              <a:rPr kumimoji="0" lang="en-US" altLang="en-US" sz="1800" b="0" i="0" u="none" strike="noStrike" cap="none" normalizeH="0" baseline="0" dirty="0">
                <a:ln>
                  <a:noFill/>
                </a:ln>
                <a:solidFill>
                  <a:schemeClr val="tx1"/>
                </a:solidFill>
                <a:effectLst/>
                <a:latin typeface="Arial" panose="020B0604020202020204" pitchFamily="34" charset="0"/>
              </a:rPr>
              <a:t> Let users fix specific mistakes instead of regenerating everything.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DALL-E Inpainting. User selects a region (e.g., a sad cat) and prompts "Make it happy"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Benefit:</a:t>
            </a:r>
            <a:r>
              <a:rPr kumimoji="0" lang="en-US" altLang="en-US" sz="1800" b="0" i="0" u="none" strike="noStrike" cap="none" normalizeH="0" baseline="0" dirty="0">
                <a:ln>
                  <a:noFill/>
                </a:ln>
                <a:solidFill>
                  <a:schemeClr val="tx1"/>
                </a:solidFill>
                <a:effectLst/>
                <a:latin typeface="Arial" panose="020B0604020202020204" pitchFamily="34" charset="0"/>
              </a:rPr>
              <a:t> High-quality, granular feedback data.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Figure 10-14 showing the DALL-E inpainting workflow on a cat image.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 best feedback mechanism looks like a feature. DALL-E's inpainting is brilliant. It lets the user fix just the eyes of the cat without redrawing the tail. For the user, it's control. For you, it's granular, localized error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440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6B5E2-2484-FB6F-485F-42CA1C6C8B80}"/>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25: UX Patterns: Comparative Feedback</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UX Pattern: Side-by-Side Comparison</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7B08C725-DBC8-96D4-6C03-67C93812E3DA}"/>
              </a:ext>
            </a:extLst>
          </p:cNvPr>
          <p:cNvSpPr>
            <a:spLocks noGrp="1" noChangeArrowheads="1"/>
          </p:cNvSpPr>
          <p:nvPr>
            <p:ph idx="1"/>
          </p:nvPr>
        </p:nvSpPr>
        <p:spPr bwMode="auto">
          <a:xfrm>
            <a:off x="986589" y="1847694"/>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Concept:</a:t>
            </a:r>
            <a:r>
              <a:rPr kumimoji="0" lang="en-US" altLang="en-US" sz="1800" b="0" i="0" u="none" strike="noStrike" cap="none" normalizeH="0" baseline="0" dirty="0">
                <a:ln>
                  <a:noFill/>
                </a:ln>
                <a:solidFill>
                  <a:schemeClr val="tx1"/>
                </a:solidFill>
                <a:effectLst/>
                <a:latin typeface="Arial" panose="020B0604020202020204" pitchFamily="34" charset="0"/>
              </a:rPr>
              <a:t> Show two responses, ask user to pick the best.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Value:</a:t>
            </a:r>
            <a:r>
              <a:rPr kumimoji="0" lang="en-US" altLang="en-US" sz="1800" b="0" i="0" u="none" strike="noStrike" cap="none" normalizeH="0" baseline="0" dirty="0">
                <a:ln>
                  <a:noFill/>
                </a:ln>
                <a:solidFill>
                  <a:schemeClr val="tx1"/>
                </a:solidFill>
                <a:effectLst/>
                <a:latin typeface="Arial" panose="020B0604020202020204" pitchFamily="34" charset="0"/>
              </a:rPr>
              <a:t> Gold standard for RLHF (Reinforcement Learning from Human Feedback).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Challenge:</a:t>
            </a:r>
            <a:r>
              <a:rPr kumimoji="0" lang="en-US" altLang="en-US" sz="1800" b="0" i="0" u="none" strike="noStrike" cap="none" normalizeH="0" baseline="0" dirty="0">
                <a:ln>
                  <a:noFill/>
                </a:ln>
                <a:solidFill>
                  <a:schemeClr val="tx1"/>
                </a:solidFill>
                <a:effectLst/>
                <a:latin typeface="Arial" panose="020B0604020202020204" pitchFamily="34" charset="0"/>
              </a:rPr>
              <a:t> Cognitive load. Users hate reading two essays.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Solution:</a:t>
            </a:r>
            <a:r>
              <a:rPr kumimoji="0" lang="en-US" altLang="en-US" sz="1800" b="0" i="0" u="none" strike="noStrike" cap="none" normalizeH="0" baseline="0" dirty="0">
                <a:ln>
                  <a:noFill/>
                </a:ln>
                <a:solidFill>
                  <a:schemeClr val="tx1"/>
                </a:solidFill>
                <a:effectLst/>
                <a:latin typeface="Arial" panose="020B0604020202020204" pitchFamily="34" charset="0"/>
              </a:rPr>
              <a:t> Google Gemini method—show partial drafts to lower effort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Figure 10-15 (ChatGPT side-by-side) and Figure 10-16 (Gemini partial drafts)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"Asking 'Is this good?' is hard. Asking 'Is A better than B?' is easy. Comparative feedback is the fuel for RLHF. But don't make them read two novels. Gemini collapses the drafts so users just click the one that looks promising. Reduce the friction."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429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ADCFB-5F4B-70C8-CD70-5DA518C70A0B}"/>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26: UX Patterns: Integrated Feedback</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UX Pattern: The "Ghost Text" (Copilot)</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277FC7B7-237B-4B4C-F5E9-70B0FD8487C6}"/>
              </a:ext>
            </a:extLst>
          </p:cNvPr>
          <p:cNvSpPr>
            <a:spLocks noGrp="1" noChangeArrowheads="1"/>
          </p:cNvSpPr>
          <p:nvPr>
            <p:ph idx="1"/>
          </p:nvPr>
        </p:nvSpPr>
        <p:spPr bwMode="auto">
          <a:xfrm>
            <a:off x="838200" y="1582342"/>
            <a:ext cx="99822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Method:</a:t>
            </a:r>
            <a:r>
              <a:rPr kumimoji="0" lang="en-US" altLang="en-US" sz="1800" b="0" i="0" u="none" strike="noStrike" cap="none" normalizeH="0" baseline="0" dirty="0">
                <a:ln>
                  <a:noFill/>
                </a:ln>
                <a:solidFill>
                  <a:schemeClr val="tx1"/>
                </a:solidFill>
                <a:effectLst/>
                <a:latin typeface="Arial" panose="020B0604020202020204" pitchFamily="34" charset="0"/>
              </a:rPr>
              <a:t> Feedback integrated into the core action.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GitHub Copilot. "Tab" to accept = Positive. Keep typing to ignore = Negative.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a:t>
            </a:r>
            <a:r>
              <a:rPr kumimoji="0" lang="en-US" altLang="en-US" sz="1800" b="0" i="0" u="none" strike="noStrike" cap="none" normalizeH="0" baseline="0" dirty="0">
                <a:ln>
                  <a:noFill/>
                </a:ln>
                <a:solidFill>
                  <a:schemeClr val="tx1"/>
                </a:solidFill>
                <a:effectLst/>
                <a:latin typeface="Arial" panose="020B0604020202020204" pitchFamily="34" charset="0"/>
              </a:rPr>
              <a:t> Zero friction. Every interaction is a label.</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Figure 10-19 showing Copilot's "ghost text" code suggestion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"GitHub Copilot has the best feedback loop in history. You press Tab, they get a +1. You keep typing, they get a -1. It is invisible, frictionless, and captures every single keystroke. This is the holy grail of feedback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1249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C5C75-D335-E069-5AE0-32604AAA69B6}"/>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27: The Bias Trap: Leniency &amp; Randomness</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Data Hazard: Feedback Biases</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4BDC251C-E6B0-E519-32C3-EEAE5F105C6C}"/>
              </a:ext>
            </a:extLst>
          </p:cNvPr>
          <p:cNvSpPr>
            <a:spLocks noGrp="1" noChangeArrowheads="1"/>
          </p:cNvSpPr>
          <p:nvPr>
            <p:ph idx="1"/>
          </p:nvPr>
        </p:nvSpPr>
        <p:spPr bwMode="auto">
          <a:xfrm>
            <a:off x="838200" y="2016136"/>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Leniency Bias:</a:t>
            </a:r>
            <a:r>
              <a:rPr kumimoji="0" lang="en-US" altLang="en-US" sz="1800" b="0" i="0" u="none" strike="noStrike" cap="none" normalizeH="0" baseline="0" dirty="0">
                <a:ln>
                  <a:noFill/>
                </a:ln>
                <a:solidFill>
                  <a:schemeClr val="tx1"/>
                </a:solidFill>
                <a:effectLst/>
                <a:latin typeface="Arial" panose="020B0604020202020204" pitchFamily="34" charset="0"/>
              </a:rPr>
              <a:t> Users rate positively to be "nice" or avoid friction. (Uber 4.8 star average)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Randomness:</a:t>
            </a:r>
            <a:r>
              <a:rPr kumimoji="0" lang="en-US" altLang="en-US" sz="1800" b="0" i="0" u="none" strike="noStrike" cap="none" normalizeH="0" baseline="0" dirty="0">
                <a:ln>
                  <a:noFill/>
                </a:ln>
                <a:solidFill>
                  <a:schemeClr val="tx1"/>
                </a:solidFill>
                <a:effectLst/>
                <a:latin typeface="Arial" panose="020B0604020202020204" pitchFamily="34" charset="0"/>
              </a:rPr>
              <a:t> Users clicking randomly to make the popup go away.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Position Bias:</a:t>
            </a:r>
            <a:r>
              <a:rPr kumimoji="0" lang="en-US" altLang="en-US" sz="1800" b="0" i="0" u="none" strike="noStrike" cap="none" normalizeH="0" baseline="0" dirty="0">
                <a:ln>
                  <a:noFill/>
                </a:ln>
                <a:solidFill>
                  <a:schemeClr val="tx1"/>
                </a:solidFill>
                <a:effectLst/>
                <a:latin typeface="Arial" panose="020B0604020202020204" pitchFamily="34" charset="0"/>
              </a:rPr>
              <a:t> Users prefer the first option shown.</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graph showing a skewed rating distribution (mostly 5 stars) labeled "Leniency Bias.”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"Data isn't truth; it's behavior. Users lie. They give 5 stars because they feel bad for the Uber driver. They click the first option because they are lazy (Position Bias). If you train on this raw data without de-biasing, you train a biased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8523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967A-CD1C-7BE0-74BF-A63AF563953E}"/>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28: Degenerate Feedback Loops</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The "Cat Photo" Problem: Degenerate Loops</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7230F6FC-28D7-5CBD-4E2C-5CAAD1E056E2}"/>
              </a:ext>
            </a:extLst>
          </p:cNvPr>
          <p:cNvSpPr>
            <a:spLocks noGrp="1" noChangeArrowheads="1"/>
          </p:cNvSpPr>
          <p:nvPr>
            <p:ph idx="1"/>
          </p:nvPr>
        </p:nvSpPr>
        <p:spPr bwMode="auto">
          <a:xfrm>
            <a:off x="838200" y="1323639"/>
            <a:ext cx="10515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Predictions influence feedback, which influences the next model, amplifying bias.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Scenario: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Users like cat photos.</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System shows more cats.</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Cat lovers flock to app.</a:t>
            </a:r>
          </a:p>
          <a:p>
            <a:pPr marL="914400" marR="0" lvl="2"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App becomes only about cats.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Sycophancy:</a:t>
            </a:r>
            <a:r>
              <a:rPr kumimoji="0" lang="en-US" altLang="en-US" sz="1800" b="0" i="0" u="none" strike="noStrike" cap="none" normalizeH="0" baseline="0" dirty="0">
                <a:ln>
                  <a:noFill/>
                </a:ln>
                <a:solidFill>
                  <a:schemeClr val="tx1"/>
                </a:solidFill>
                <a:effectLst/>
                <a:latin typeface="Arial" panose="020B0604020202020204" pitchFamily="34" charset="0"/>
              </a:rPr>
              <a:t> Models learn to agree with the user rather than tell the truth.</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loop diagram showing "Bias" amplifying with each cycle until the output is homogeneous.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"Be careful what you optimize for. If you optimize purely for clicks, you get clickbait. This is the 'Degenerate Feedback Loop.' If your model agrees with the user just to get a thumbs up, it becomes a sycophant—a liar. It will reinforce the user's wrong beliefs just to get a reward. You must balance feedback with ground truth."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2064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E3B7-90FC-DAFB-7D17-BBF872F505DB}"/>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29: Privacy and Data Donation</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Ethics: Privacy &amp; Data Donation</a:t>
            </a:r>
            <a:br>
              <a:rPr lang="en-IN" sz="2000" dirty="0">
                <a:solidFill>
                  <a:srgbClr val="92D050"/>
                </a:solidFill>
                <a:latin typeface="Arial" panose="020B0604020202020204" pitchFamily="34" charset="0"/>
                <a:cs typeface="Arial" panose="020B0604020202020204" pitchFamily="34" charset="0"/>
              </a:rPr>
            </a:br>
            <a:endParaRPr lang="en-US" sz="2000" dirty="0">
              <a:solidFill>
                <a:srgbClr val="92D050"/>
              </a:solidFill>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328B3B6C-86A2-310B-D4EA-797AFCA0B967}"/>
              </a:ext>
            </a:extLst>
          </p:cNvPr>
          <p:cNvSpPr>
            <a:spLocks noGrp="1" noChangeArrowheads="1"/>
          </p:cNvSpPr>
          <p:nvPr>
            <p:ph idx="1"/>
          </p:nvPr>
        </p:nvSpPr>
        <p:spPr bwMode="auto">
          <a:xfrm>
            <a:off x="926432" y="1877637"/>
            <a:ext cx="1042736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Problem:</a:t>
            </a:r>
            <a:r>
              <a:rPr kumimoji="0" lang="en-US" altLang="en-US" sz="1800" b="0" i="0" u="none" strike="noStrike" cap="none" normalizeH="0" baseline="0" dirty="0">
                <a:ln>
                  <a:noFill/>
                </a:ln>
                <a:solidFill>
                  <a:schemeClr val="tx1"/>
                </a:solidFill>
                <a:effectLst/>
                <a:latin typeface="Arial" panose="020B0604020202020204" pitchFamily="34" charset="0"/>
              </a:rPr>
              <a:t> Standalone apps (ChatGPT) lack context on how output is used (e.g., was the email sent?).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Context Requirement:</a:t>
            </a:r>
            <a:r>
              <a:rPr kumimoji="0" lang="en-US" altLang="en-US" sz="1800" b="0" i="0" u="none" strike="noStrike" cap="none" normalizeH="0" baseline="0" dirty="0">
                <a:ln>
                  <a:noFill/>
                </a:ln>
                <a:solidFill>
                  <a:schemeClr val="tx1"/>
                </a:solidFill>
                <a:effectLst/>
                <a:latin typeface="Arial" panose="020B0604020202020204" pitchFamily="34" charset="0"/>
              </a:rPr>
              <a:t> To debug, you need the conversation history, which is sensitive.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Solution:</a:t>
            </a:r>
            <a:r>
              <a:rPr kumimoji="0" lang="en-US" altLang="en-US" sz="1800" b="0" i="0" u="none" strike="noStrike" cap="none" normalizeH="0" baseline="0" dirty="0">
                <a:ln>
                  <a:noFill/>
                </a:ln>
                <a:solidFill>
                  <a:schemeClr val="tx1"/>
                </a:solidFill>
                <a:effectLst/>
                <a:latin typeface="Arial" panose="020B0604020202020204" pitchFamily="34" charset="0"/>
              </a:rPr>
              <a:t> Data Donation. Explicitly ask users to "Share chat for debugging" when they report a bug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mockup of a "Send Feedback" modal with a checkbox: "Include conversation history to help us debug.”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"You need context to fix bugs, but context is private. You can't just spy on users. The solution is 'Data Donation.' When a user complains, ask them: 'Can we see the last 5 messages to fix this?' Most will say yes. It respects privacy while giving you the data you need.</a:t>
            </a:r>
          </a:p>
        </p:txBody>
      </p:sp>
    </p:spTree>
    <p:extLst>
      <p:ext uri="{BB962C8B-B14F-4D97-AF65-F5344CB8AC3E}">
        <p14:creationId xmlns:p14="http://schemas.microsoft.com/office/powerpoint/2010/main" val="309610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DD2C-2E1D-454A-113B-994F637BCD43}"/>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Slide 30: Conclusion</a:t>
            </a:r>
            <a:br>
              <a:rPr lang="en-IN" sz="2800" b="1" dirty="0">
                <a:latin typeface="Arial" panose="020B0604020202020204" pitchFamily="34" charset="0"/>
                <a:cs typeface="Arial" panose="020B0604020202020204" pitchFamily="34" charset="0"/>
              </a:rPr>
            </a:br>
            <a:r>
              <a:rPr lang="en-IN" sz="2000" b="1" dirty="0">
                <a:solidFill>
                  <a:srgbClr val="92D050"/>
                </a:solidFill>
                <a:latin typeface="Arial" panose="020B0604020202020204" pitchFamily="34" charset="0"/>
                <a:cs typeface="Arial" panose="020B0604020202020204" pitchFamily="34" charset="0"/>
              </a:rPr>
              <a:t>Slide Title:</a:t>
            </a:r>
            <a:r>
              <a:rPr lang="en-IN" sz="2000" dirty="0">
                <a:solidFill>
                  <a:srgbClr val="92D050"/>
                </a:solidFill>
                <a:latin typeface="Arial" panose="020B0604020202020204" pitchFamily="34" charset="0"/>
                <a:cs typeface="Arial" panose="020B0604020202020204" pitchFamily="34" charset="0"/>
              </a:rPr>
              <a:t> Conclusion: System Thinking</a:t>
            </a:r>
            <a:br>
              <a:rPr lang="en-IN"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3F8F17CE-964A-3131-F868-C72E1BCEEFAA}"/>
              </a:ext>
            </a:extLst>
          </p:cNvPr>
          <p:cNvSpPr>
            <a:spLocks noGrp="1" noChangeArrowheads="1"/>
          </p:cNvSpPr>
          <p:nvPr>
            <p:ph idx="1"/>
          </p:nvPr>
        </p:nvSpPr>
        <p:spPr bwMode="auto">
          <a:xfrm>
            <a:off x="725905" y="1690688"/>
            <a:ext cx="1035517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a:t>
            </a:r>
            <a:r>
              <a:rPr kumimoji="0" lang="en-US" altLang="en-US" sz="1800" b="0" i="0" u="none" strike="noStrike" cap="none" normalizeH="0" baseline="0" dirty="0">
                <a:ln>
                  <a:noFill/>
                </a:ln>
                <a:solidFill>
                  <a:schemeClr val="tx1"/>
                </a:solidFill>
                <a:effectLst/>
                <a:latin typeface="Arial" panose="020B0604020202020204" pitchFamily="34" charset="0"/>
              </a:rPr>
              <a:t> We moved from a simple API call to a complex system of Guardrails, Routers, Gateways, and Feedback Loops.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Takeaway:</a:t>
            </a:r>
            <a:r>
              <a:rPr kumimoji="0" lang="en-US" altLang="en-US" sz="1800" b="0" i="0" u="none" strike="noStrike" cap="none" normalizeH="0" baseline="0" dirty="0">
                <a:ln>
                  <a:noFill/>
                </a:ln>
                <a:solidFill>
                  <a:schemeClr val="tx1"/>
                </a:solidFill>
                <a:effectLst/>
                <a:latin typeface="Arial" panose="020B0604020202020204" pitchFamily="34" charset="0"/>
              </a:rPr>
              <a:t> AI challenges are System Problems. Solution requires looking at the whole architecture.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Final Thought:</a:t>
            </a:r>
            <a:r>
              <a:rPr kumimoji="0" lang="en-US" altLang="en-US" sz="1800" b="0" i="0" u="none" strike="noStrike" cap="none" normalizeH="0" baseline="0" dirty="0">
                <a:ln>
                  <a:noFill/>
                </a:ln>
                <a:solidFill>
                  <a:schemeClr val="tx1"/>
                </a:solidFill>
                <a:effectLst/>
                <a:latin typeface="Arial" panose="020B0604020202020204" pitchFamily="34" charset="0"/>
              </a:rPr>
              <a:t> "The hardest part isn't finding answers, but asking the right questions.".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The final, complex architecture diagram (Figure 10-10) fully assembled.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"To wrap up: AI engineering is no longer just about the model. It is about the system. It is about the router that saves you money, the guardrail that saves your reputation, and the feedback loop that secures your future. Build the system, respect the user, and the intelligence will follow. Thank you."</a:t>
            </a:r>
          </a:p>
        </p:txBody>
      </p:sp>
    </p:spTree>
    <p:extLst>
      <p:ext uri="{BB962C8B-B14F-4D97-AF65-F5344CB8AC3E}">
        <p14:creationId xmlns:p14="http://schemas.microsoft.com/office/powerpoint/2010/main" val="39792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TotalTime>
  <Words>5056</Words>
  <Application>Microsoft Macintosh PowerPoint</Application>
  <PresentationFormat>Widescreen</PresentationFormat>
  <Paragraphs>343</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Google Sans Text</vt:lpstr>
      <vt:lpstr>Office Theme</vt:lpstr>
      <vt:lpstr>The Evolution of AI Architecture Slide Title: From Script to System: Architecting AI Applications &amp; The User Feedback Loop </vt:lpstr>
      <vt:lpstr>The Starting Point: The MVP Architecture Slide Title: The "Hello World" of AI Apps </vt:lpstr>
      <vt:lpstr> Step 1: Context Construction (RAG &amp; Agents) Slide Title: Context is King: RAG and Tool Use </vt:lpstr>
      <vt:lpstr> Step 2: Input Guardrails (Defense First) Protecting the System: Input Guardrails </vt:lpstr>
      <vt:lpstr>Slide 5: Step 2: Output Guardrails (Quality Control) Slide Title: Protecting the User: Output Guardrails </vt:lpstr>
      <vt:lpstr>Slide 6: The Guardrail vs. Latency Dilemma Slide Title: The Safety-Speed Trade-off </vt:lpstr>
      <vt:lpstr> Step 3: The Model Router Slide Title: The Traffic Controller: Model Routing </vt:lpstr>
      <vt:lpstr>Slide 8: Step 3: The Model Gateway Slide Title: The Unified Interface: Model Gateway </vt:lpstr>
      <vt:lpstr>Step 4: Exact Caching Slide Title: The Quick Win: Exact Caching </vt:lpstr>
      <vt:lpstr>Slide 10: Step 4: Semantic Caching (The Danger Zone) Slide Title: The Risky Win: Semantic Caching</vt:lpstr>
      <vt:lpstr>Slide 11: Step 5: Agentic Patterns Slide Title: Closing the Loop: Agentic Patterns </vt:lpstr>
      <vt:lpstr>Slide 12: Step 5: Write Actions (High Stakes) Slide Title: Crossing the Rubicon: Write Actions</vt:lpstr>
      <vt:lpstr>Slide 13: Orchestration Slide Title: Taming Complexity: Orchestration </vt:lpstr>
      <vt:lpstr>Slide 14: Observability vs. Monitoring Slide Title: Observability: Seeing Inside the Black Box </vt:lpstr>
      <vt:lpstr>Slide 15: Drift Detection Slide Title: The Silent Killer: Data Drift </vt:lpstr>
      <vt:lpstr>Part 2: User Feedback &amp; The Data Flywheel (Slides 16-30)  The Data Flywheel Slide Title: User Feedback: The Ultimate Moat </vt:lpstr>
      <vt:lpstr>Slide 17: Explicit vs. Implicit Feedback Slide Title: Asking vs. Observing </vt:lpstr>
      <vt:lpstr>Slide 18: Natural Language Signals: Early Termination Slide Title: Signal: "Stop!" (Early Termination) </vt:lpstr>
      <vt:lpstr>Slide 19: Natural Language Signals: Error Correction Slide Title: Signal: "No, I meant..." (Error Correction) </vt:lpstr>
      <vt:lpstr>Slide 20: Natural Language Signals: Sentiment &amp; Refusals Slide Title: Signal: Sentiment and Refusals </vt:lpstr>
      <vt:lpstr>Slide 21: Behavioral Signals: Regeneration Slide Title: Signal: The "Retry" Button (Regeneration) </vt:lpstr>
      <vt:lpstr>Slide 22: Behavioral Signals: Organization Slide Title: Signal: Copy, Share, Delete </vt:lpstr>
      <vt:lpstr>Slide 23: Feedback Design: Timing is Everything Slide Title: When to Ask for Feedback </vt:lpstr>
      <vt:lpstr>Slide 24: UX Patterns: Human-AI Collaboration Slide Title: UX Pattern: Inpainting and Collaboration </vt:lpstr>
      <vt:lpstr>Slide 25: UX Patterns: Comparative Feedback Slide Title: UX Pattern: Side-by-Side Comparison </vt:lpstr>
      <vt:lpstr>Slide 26: UX Patterns: Integrated Feedback Slide Title: UX Pattern: The "Ghost Text" (Copilot) </vt:lpstr>
      <vt:lpstr>Slide 27: The Bias Trap: Leniency &amp; Randomness Slide Title: Data Hazard: Feedback Biases </vt:lpstr>
      <vt:lpstr>Slide 28: Degenerate Feedback Loops Slide Title: The "Cat Photo" Problem: Degenerate Loops </vt:lpstr>
      <vt:lpstr>Slide 29: Privacy and Data Donation Slide Title: Ethics: Privacy &amp; Data Donation </vt:lpstr>
      <vt:lpstr>Slide 30: Conclusion Slide Title: Conclusion: System Thinking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Sreenivasulu Madichetty</dc:creator>
  <cp:lastModifiedBy>Sreenivasulu Madichetty</cp:lastModifiedBy>
  <cp:revision>70</cp:revision>
  <dcterms:created xsi:type="dcterms:W3CDTF">2026-01-29T10:06:46Z</dcterms:created>
  <dcterms:modified xsi:type="dcterms:W3CDTF">2026-01-30T06:47:03Z</dcterms:modified>
</cp:coreProperties>
</file>