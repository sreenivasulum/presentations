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28"/>
  </p:normalViewPr>
  <p:slideViewPr>
    <p:cSldViewPr snapToGrid="0">
      <p:cViewPr varScale="1">
        <p:scale>
          <a:sx n="104" d="100"/>
          <a:sy n="104" d="100"/>
        </p:scale>
        <p:origin x="232" y="5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1D327-9B9A-C5B5-25F3-41F2B4EC149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BEDDF9FC-A492-5148-B78C-24569054B7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6F3928F-5A89-CB69-509D-6D7BDA6ACFC0}"/>
              </a:ext>
            </a:extLst>
          </p:cNvPr>
          <p:cNvSpPr>
            <a:spLocks noGrp="1"/>
          </p:cNvSpPr>
          <p:nvPr>
            <p:ph type="dt" sz="half" idx="10"/>
          </p:nvPr>
        </p:nvSpPr>
        <p:spPr/>
        <p:txBody>
          <a:bodyPr/>
          <a:lstStyle/>
          <a:p>
            <a:fld id="{9D8AFA96-3D65-BB47-89A9-E753F9A19A02}" type="datetimeFigureOut">
              <a:rPr lang="en-US" smtClean="0"/>
              <a:t>1/28/26</a:t>
            </a:fld>
            <a:endParaRPr lang="en-US"/>
          </a:p>
        </p:txBody>
      </p:sp>
      <p:sp>
        <p:nvSpPr>
          <p:cNvPr id="5" name="Footer Placeholder 4">
            <a:extLst>
              <a:ext uri="{FF2B5EF4-FFF2-40B4-BE49-F238E27FC236}">
                <a16:creationId xmlns:a16="http://schemas.microsoft.com/office/drawing/2014/main" id="{6DF16D9E-3EBF-33A8-935E-D2C67CA6E4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E0C115-BC33-F291-82DC-480925EC4C8F}"/>
              </a:ext>
            </a:extLst>
          </p:cNvPr>
          <p:cNvSpPr>
            <a:spLocks noGrp="1"/>
          </p:cNvSpPr>
          <p:nvPr>
            <p:ph type="sldNum" sz="quarter" idx="12"/>
          </p:nvPr>
        </p:nvSpPr>
        <p:spPr/>
        <p:txBody>
          <a:bodyPr/>
          <a:lstStyle/>
          <a:p>
            <a:fld id="{1ED9FE6A-E064-3946-BBB8-4424FE5EA18F}" type="slidenum">
              <a:rPr lang="en-US" smtClean="0"/>
              <a:t>‹#›</a:t>
            </a:fld>
            <a:endParaRPr lang="en-US"/>
          </a:p>
        </p:txBody>
      </p:sp>
    </p:spTree>
    <p:extLst>
      <p:ext uri="{BB962C8B-B14F-4D97-AF65-F5344CB8AC3E}">
        <p14:creationId xmlns:p14="http://schemas.microsoft.com/office/powerpoint/2010/main" val="3452293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DCBFD-D323-8F50-4464-D3FDBDACB7A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697BE67-2C29-ADB6-03BE-23E2BB52B56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2898A31-B4A3-534B-5D00-3B302FE0CB33}"/>
              </a:ext>
            </a:extLst>
          </p:cNvPr>
          <p:cNvSpPr>
            <a:spLocks noGrp="1"/>
          </p:cNvSpPr>
          <p:nvPr>
            <p:ph type="dt" sz="half" idx="10"/>
          </p:nvPr>
        </p:nvSpPr>
        <p:spPr/>
        <p:txBody>
          <a:bodyPr/>
          <a:lstStyle/>
          <a:p>
            <a:fld id="{9D8AFA96-3D65-BB47-89A9-E753F9A19A02}" type="datetimeFigureOut">
              <a:rPr lang="en-US" smtClean="0"/>
              <a:t>1/28/26</a:t>
            </a:fld>
            <a:endParaRPr lang="en-US"/>
          </a:p>
        </p:txBody>
      </p:sp>
      <p:sp>
        <p:nvSpPr>
          <p:cNvPr id="5" name="Footer Placeholder 4">
            <a:extLst>
              <a:ext uri="{FF2B5EF4-FFF2-40B4-BE49-F238E27FC236}">
                <a16:creationId xmlns:a16="http://schemas.microsoft.com/office/drawing/2014/main" id="{771B5996-DBE5-9754-F562-110E0D16D6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9C50C9-0F28-11B9-5C38-F470CFE3F822}"/>
              </a:ext>
            </a:extLst>
          </p:cNvPr>
          <p:cNvSpPr>
            <a:spLocks noGrp="1"/>
          </p:cNvSpPr>
          <p:nvPr>
            <p:ph type="sldNum" sz="quarter" idx="12"/>
          </p:nvPr>
        </p:nvSpPr>
        <p:spPr/>
        <p:txBody>
          <a:bodyPr/>
          <a:lstStyle/>
          <a:p>
            <a:fld id="{1ED9FE6A-E064-3946-BBB8-4424FE5EA18F}" type="slidenum">
              <a:rPr lang="en-US" smtClean="0"/>
              <a:t>‹#›</a:t>
            </a:fld>
            <a:endParaRPr lang="en-US"/>
          </a:p>
        </p:txBody>
      </p:sp>
    </p:spTree>
    <p:extLst>
      <p:ext uri="{BB962C8B-B14F-4D97-AF65-F5344CB8AC3E}">
        <p14:creationId xmlns:p14="http://schemas.microsoft.com/office/powerpoint/2010/main" val="1210384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7AA47E-3444-3E13-8FAA-A650CA34FB1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08B810A-1196-BA32-89FA-E897D85564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32A2EBC-3F9F-633B-8B86-267C49CC03F4}"/>
              </a:ext>
            </a:extLst>
          </p:cNvPr>
          <p:cNvSpPr>
            <a:spLocks noGrp="1"/>
          </p:cNvSpPr>
          <p:nvPr>
            <p:ph type="dt" sz="half" idx="10"/>
          </p:nvPr>
        </p:nvSpPr>
        <p:spPr/>
        <p:txBody>
          <a:bodyPr/>
          <a:lstStyle/>
          <a:p>
            <a:fld id="{9D8AFA96-3D65-BB47-89A9-E753F9A19A02}" type="datetimeFigureOut">
              <a:rPr lang="en-US" smtClean="0"/>
              <a:t>1/28/26</a:t>
            </a:fld>
            <a:endParaRPr lang="en-US"/>
          </a:p>
        </p:txBody>
      </p:sp>
      <p:sp>
        <p:nvSpPr>
          <p:cNvPr id="5" name="Footer Placeholder 4">
            <a:extLst>
              <a:ext uri="{FF2B5EF4-FFF2-40B4-BE49-F238E27FC236}">
                <a16:creationId xmlns:a16="http://schemas.microsoft.com/office/drawing/2014/main" id="{C834E484-57A2-1C53-936B-1278029BE0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24114B-8530-E749-0524-DDA72C9FF76E}"/>
              </a:ext>
            </a:extLst>
          </p:cNvPr>
          <p:cNvSpPr>
            <a:spLocks noGrp="1"/>
          </p:cNvSpPr>
          <p:nvPr>
            <p:ph type="sldNum" sz="quarter" idx="12"/>
          </p:nvPr>
        </p:nvSpPr>
        <p:spPr/>
        <p:txBody>
          <a:bodyPr/>
          <a:lstStyle/>
          <a:p>
            <a:fld id="{1ED9FE6A-E064-3946-BBB8-4424FE5EA18F}" type="slidenum">
              <a:rPr lang="en-US" smtClean="0"/>
              <a:t>‹#›</a:t>
            </a:fld>
            <a:endParaRPr lang="en-US"/>
          </a:p>
        </p:txBody>
      </p:sp>
    </p:spTree>
    <p:extLst>
      <p:ext uri="{BB962C8B-B14F-4D97-AF65-F5344CB8AC3E}">
        <p14:creationId xmlns:p14="http://schemas.microsoft.com/office/powerpoint/2010/main" val="10863355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0E182-8A2F-6764-F650-275090DD203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75F5B657-1D84-330B-E8D4-4718DCC52AE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6729D3D-459C-1B50-B30C-51B94B74BB9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65246E38-7C64-1C79-26A1-339F365D968C}"/>
              </a:ext>
            </a:extLst>
          </p:cNvPr>
          <p:cNvSpPr>
            <a:spLocks noGrp="1"/>
          </p:cNvSpPr>
          <p:nvPr>
            <p:ph type="dt" sz="half" idx="10"/>
          </p:nvPr>
        </p:nvSpPr>
        <p:spPr/>
        <p:txBody>
          <a:bodyPr/>
          <a:lstStyle/>
          <a:p>
            <a:fld id="{9D8AFA96-3D65-BB47-89A9-E753F9A19A02}" type="datetimeFigureOut">
              <a:rPr lang="en-US" smtClean="0"/>
              <a:t>1/28/26</a:t>
            </a:fld>
            <a:endParaRPr lang="en-US"/>
          </a:p>
        </p:txBody>
      </p:sp>
      <p:sp>
        <p:nvSpPr>
          <p:cNvPr id="6" name="Footer Placeholder 5">
            <a:extLst>
              <a:ext uri="{FF2B5EF4-FFF2-40B4-BE49-F238E27FC236}">
                <a16:creationId xmlns:a16="http://schemas.microsoft.com/office/drawing/2014/main" id="{450DA35B-8AE1-3C87-C382-994FABD7A1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BA6D6D-9E39-DFBD-EFAD-F86037E9F81A}"/>
              </a:ext>
            </a:extLst>
          </p:cNvPr>
          <p:cNvSpPr>
            <a:spLocks noGrp="1"/>
          </p:cNvSpPr>
          <p:nvPr>
            <p:ph type="sldNum" sz="quarter" idx="12"/>
          </p:nvPr>
        </p:nvSpPr>
        <p:spPr/>
        <p:txBody>
          <a:bodyPr/>
          <a:lstStyle/>
          <a:p>
            <a:fld id="{1ED9FE6A-E064-3946-BBB8-4424FE5EA18F}" type="slidenum">
              <a:rPr lang="en-US" smtClean="0"/>
              <a:t>‹#›</a:t>
            </a:fld>
            <a:endParaRPr lang="en-US"/>
          </a:p>
        </p:txBody>
      </p:sp>
    </p:spTree>
    <p:extLst>
      <p:ext uri="{BB962C8B-B14F-4D97-AF65-F5344CB8AC3E}">
        <p14:creationId xmlns:p14="http://schemas.microsoft.com/office/powerpoint/2010/main" val="2762573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6D0A7-B67F-0829-7076-FB062F4DE9AD}"/>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F2A623B-5E40-BE66-0AC7-BA74BC2C0C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5B0AB06-B0CD-B25F-27DA-DCBC3D03850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488E9228-A60D-2CFA-8AED-0E18CE974A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C3007F7-345F-5590-6CA1-FA7824B5508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6F7672C-D95D-943A-5EA0-396F4B2111B3}"/>
              </a:ext>
            </a:extLst>
          </p:cNvPr>
          <p:cNvSpPr>
            <a:spLocks noGrp="1"/>
          </p:cNvSpPr>
          <p:nvPr>
            <p:ph type="dt" sz="half" idx="10"/>
          </p:nvPr>
        </p:nvSpPr>
        <p:spPr/>
        <p:txBody>
          <a:bodyPr/>
          <a:lstStyle/>
          <a:p>
            <a:fld id="{9D8AFA96-3D65-BB47-89A9-E753F9A19A02}" type="datetimeFigureOut">
              <a:rPr lang="en-US" smtClean="0"/>
              <a:t>1/28/26</a:t>
            </a:fld>
            <a:endParaRPr lang="en-US"/>
          </a:p>
        </p:txBody>
      </p:sp>
      <p:sp>
        <p:nvSpPr>
          <p:cNvPr id="8" name="Footer Placeholder 7">
            <a:extLst>
              <a:ext uri="{FF2B5EF4-FFF2-40B4-BE49-F238E27FC236}">
                <a16:creationId xmlns:a16="http://schemas.microsoft.com/office/drawing/2014/main" id="{AEF1B31F-83F5-0599-CCDA-5C99E57646F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ECFF1C3-D2D4-B7BD-2016-74D9BC4954F7}"/>
              </a:ext>
            </a:extLst>
          </p:cNvPr>
          <p:cNvSpPr>
            <a:spLocks noGrp="1"/>
          </p:cNvSpPr>
          <p:nvPr>
            <p:ph type="sldNum" sz="quarter" idx="12"/>
          </p:nvPr>
        </p:nvSpPr>
        <p:spPr/>
        <p:txBody>
          <a:bodyPr/>
          <a:lstStyle/>
          <a:p>
            <a:fld id="{1ED9FE6A-E064-3946-BBB8-4424FE5EA18F}" type="slidenum">
              <a:rPr lang="en-US" smtClean="0"/>
              <a:t>‹#›</a:t>
            </a:fld>
            <a:endParaRPr lang="en-US"/>
          </a:p>
        </p:txBody>
      </p:sp>
    </p:spTree>
    <p:extLst>
      <p:ext uri="{BB962C8B-B14F-4D97-AF65-F5344CB8AC3E}">
        <p14:creationId xmlns:p14="http://schemas.microsoft.com/office/powerpoint/2010/main" val="1510762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F1812-8BA3-783F-DD8A-2ED448E6116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F6EA1847-3B4D-EAA1-7941-EB62A2FEA6BF}"/>
              </a:ext>
            </a:extLst>
          </p:cNvPr>
          <p:cNvSpPr>
            <a:spLocks noGrp="1"/>
          </p:cNvSpPr>
          <p:nvPr>
            <p:ph type="dt" sz="half" idx="10"/>
          </p:nvPr>
        </p:nvSpPr>
        <p:spPr/>
        <p:txBody>
          <a:bodyPr/>
          <a:lstStyle/>
          <a:p>
            <a:fld id="{9D8AFA96-3D65-BB47-89A9-E753F9A19A02}" type="datetimeFigureOut">
              <a:rPr lang="en-US" smtClean="0"/>
              <a:t>1/28/26</a:t>
            </a:fld>
            <a:endParaRPr lang="en-US"/>
          </a:p>
        </p:txBody>
      </p:sp>
      <p:sp>
        <p:nvSpPr>
          <p:cNvPr id="4" name="Footer Placeholder 3">
            <a:extLst>
              <a:ext uri="{FF2B5EF4-FFF2-40B4-BE49-F238E27FC236}">
                <a16:creationId xmlns:a16="http://schemas.microsoft.com/office/drawing/2014/main" id="{C594A77C-40FD-F907-9509-50CF2F3B9C8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C83702-DA6F-7572-382E-A49DDA02713D}"/>
              </a:ext>
            </a:extLst>
          </p:cNvPr>
          <p:cNvSpPr>
            <a:spLocks noGrp="1"/>
          </p:cNvSpPr>
          <p:nvPr>
            <p:ph type="sldNum" sz="quarter" idx="12"/>
          </p:nvPr>
        </p:nvSpPr>
        <p:spPr/>
        <p:txBody>
          <a:bodyPr/>
          <a:lstStyle/>
          <a:p>
            <a:fld id="{1ED9FE6A-E064-3946-BBB8-4424FE5EA18F}" type="slidenum">
              <a:rPr lang="en-US" smtClean="0"/>
              <a:t>‹#›</a:t>
            </a:fld>
            <a:endParaRPr lang="en-US"/>
          </a:p>
        </p:txBody>
      </p:sp>
    </p:spTree>
    <p:extLst>
      <p:ext uri="{BB962C8B-B14F-4D97-AF65-F5344CB8AC3E}">
        <p14:creationId xmlns:p14="http://schemas.microsoft.com/office/powerpoint/2010/main" val="18647693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0B1D8B-A8F7-D456-4C88-320B35AE7F7E}"/>
              </a:ext>
            </a:extLst>
          </p:cNvPr>
          <p:cNvSpPr>
            <a:spLocks noGrp="1"/>
          </p:cNvSpPr>
          <p:nvPr>
            <p:ph type="dt" sz="half" idx="10"/>
          </p:nvPr>
        </p:nvSpPr>
        <p:spPr/>
        <p:txBody>
          <a:bodyPr/>
          <a:lstStyle/>
          <a:p>
            <a:fld id="{9D8AFA96-3D65-BB47-89A9-E753F9A19A02}" type="datetimeFigureOut">
              <a:rPr lang="en-US" smtClean="0"/>
              <a:t>1/28/26</a:t>
            </a:fld>
            <a:endParaRPr lang="en-US"/>
          </a:p>
        </p:txBody>
      </p:sp>
      <p:sp>
        <p:nvSpPr>
          <p:cNvPr id="3" name="Footer Placeholder 2">
            <a:extLst>
              <a:ext uri="{FF2B5EF4-FFF2-40B4-BE49-F238E27FC236}">
                <a16:creationId xmlns:a16="http://schemas.microsoft.com/office/drawing/2014/main" id="{FBE5BDB3-8069-A404-A896-4E18F2D0D2D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60AA26-24B9-C2E2-D144-2593D1EA0C3D}"/>
              </a:ext>
            </a:extLst>
          </p:cNvPr>
          <p:cNvSpPr>
            <a:spLocks noGrp="1"/>
          </p:cNvSpPr>
          <p:nvPr>
            <p:ph type="sldNum" sz="quarter" idx="12"/>
          </p:nvPr>
        </p:nvSpPr>
        <p:spPr/>
        <p:txBody>
          <a:bodyPr/>
          <a:lstStyle/>
          <a:p>
            <a:fld id="{1ED9FE6A-E064-3946-BBB8-4424FE5EA18F}" type="slidenum">
              <a:rPr lang="en-US" smtClean="0"/>
              <a:t>‹#›</a:t>
            </a:fld>
            <a:endParaRPr lang="en-US"/>
          </a:p>
        </p:txBody>
      </p:sp>
    </p:spTree>
    <p:extLst>
      <p:ext uri="{BB962C8B-B14F-4D97-AF65-F5344CB8AC3E}">
        <p14:creationId xmlns:p14="http://schemas.microsoft.com/office/powerpoint/2010/main" val="24302142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2F36D-16D8-B12A-E000-AB59012310A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5C790820-57E2-9E25-069D-64A31B630B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3D7C997-1250-63F5-8DFD-28931C1CEE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9D9E81F-E3CD-ECC1-AAC5-1B590559C9CF}"/>
              </a:ext>
            </a:extLst>
          </p:cNvPr>
          <p:cNvSpPr>
            <a:spLocks noGrp="1"/>
          </p:cNvSpPr>
          <p:nvPr>
            <p:ph type="dt" sz="half" idx="10"/>
          </p:nvPr>
        </p:nvSpPr>
        <p:spPr/>
        <p:txBody>
          <a:bodyPr/>
          <a:lstStyle/>
          <a:p>
            <a:fld id="{9D8AFA96-3D65-BB47-89A9-E753F9A19A02}" type="datetimeFigureOut">
              <a:rPr lang="en-US" smtClean="0"/>
              <a:t>1/28/26</a:t>
            </a:fld>
            <a:endParaRPr lang="en-US"/>
          </a:p>
        </p:txBody>
      </p:sp>
      <p:sp>
        <p:nvSpPr>
          <p:cNvPr id="6" name="Footer Placeholder 5">
            <a:extLst>
              <a:ext uri="{FF2B5EF4-FFF2-40B4-BE49-F238E27FC236}">
                <a16:creationId xmlns:a16="http://schemas.microsoft.com/office/drawing/2014/main" id="{90144462-EC81-762C-861B-916543C377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814E9CD-1B86-66E6-0F3E-AEF1A878AC59}"/>
              </a:ext>
            </a:extLst>
          </p:cNvPr>
          <p:cNvSpPr>
            <a:spLocks noGrp="1"/>
          </p:cNvSpPr>
          <p:nvPr>
            <p:ph type="sldNum" sz="quarter" idx="12"/>
          </p:nvPr>
        </p:nvSpPr>
        <p:spPr/>
        <p:txBody>
          <a:bodyPr/>
          <a:lstStyle/>
          <a:p>
            <a:fld id="{1ED9FE6A-E064-3946-BBB8-4424FE5EA18F}" type="slidenum">
              <a:rPr lang="en-US" smtClean="0"/>
              <a:t>‹#›</a:t>
            </a:fld>
            <a:endParaRPr lang="en-US"/>
          </a:p>
        </p:txBody>
      </p:sp>
    </p:spTree>
    <p:extLst>
      <p:ext uri="{BB962C8B-B14F-4D97-AF65-F5344CB8AC3E}">
        <p14:creationId xmlns:p14="http://schemas.microsoft.com/office/powerpoint/2010/main" val="1069981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D01AF-0766-8F7C-6617-1D9D7F2D653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501CE18-6051-DF84-A56D-AE8D01C703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F4F91F-1746-8456-200E-A32D5B33CB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2016E85-1908-9E13-1ECE-BC462DD28F3B}"/>
              </a:ext>
            </a:extLst>
          </p:cNvPr>
          <p:cNvSpPr>
            <a:spLocks noGrp="1"/>
          </p:cNvSpPr>
          <p:nvPr>
            <p:ph type="dt" sz="half" idx="10"/>
          </p:nvPr>
        </p:nvSpPr>
        <p:spPr/>
        <p:txBody>
          <a:bodyPr/>
          <a:lstStyle/>
          <a:p>
            <a:fld id="{9D8AFA96-3D65-BB47-89A9-E753F9A19A02}" type="datetimeFigureOut">
              <a:rPr lang="en-US" smtClean="0"/>
              <a:t>1/28/26</a:t>
            </a:fld>
            <a:endParaRPr lang="en-US"/>
          </a:p>
        </p:txBody>
      </p:sp>
      <p:sp>
        <p:nvSpPr>
          <p:cNvPr id="6" name="Footer Placeholder 5">
            <a:extLst>
              <a:ext uri="{FF2B5EF4-FFF2-40B4-BE49-F238E27FC236}">
                <a16:creationId xmlns:a16="http://schemas.microsoft.com/office/drawing/2014/main" id="{9E1D1ED8-3AE3-C624-6488-70EC86EC58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311101-50BF-02F2-E622-C2C3A9766DF1}"/>
              </a:ext>
            </a:extLst>
          </p:cNvPr>
          <p:cNvSpPr>
            <a:spLocks noGrp="1"/>
          </p:cNvSpPr>
          <p:nvPr>
            <p:ph type="sldNum" sz="quarter" idx="12"/>
          </p:nvPr>
        </p:nvSpPr>
        <p:spPr/>
        <p:txBody>
          <a:bodyPr/>
          <a:lstStyle/>
          <a:p>
            <a:fld id="{1ED9FE6A-E064-3946-BBB8-4424FE5EA18F}" type="slidenum">
              <a:rPr lang="en-US" smtClean="0"/>
              <a:t>‹#›</a:t>
            </a:fld>
            <a:endParaRPr lang="en-US"/>
          </a:p>
        </p:txBody>
      </p:sp>
    </p:spTree>
    <p:extLst>
      <p:ext uri="{BB962C8B-B14F-4D97-AF65-F5344CB8AC3E}">
        <p14:creationId xmlns:p14="http://schemas.microsoft.com/office/powerpoint/2010/main" val="32423006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48839-BF04-7B04-9F67-882D0AC38B51}"/>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1C6DFA6-933A-5E86-E7B3-87D9E719251F}"/>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47623B6-7F52-DC58-1BB6-FA94E53D4435}"/>
              </a:ext>
            </a:extLst>
          </p:cNvPr>
          <p:cNvSpPr>
            <a:spLocks noGrp="1"/>
          </p:cNvSpPr>
          <p:nvPr>
            <p:ph type="dt" sz="half" idx="10"/>
          </p:nvPr>
        </p:nvSpPr>
        <p:spPr/>
        <p:txBody>
          <a:bodyPr/>
          <a:lstStyle/>
          <a:p>
            <a:fld id="{9D8AFA96-3D65-BB47-89A9-E753F9A19A02}" type="datetimeFigureOut">
              <a:rPr lang="en-US" smtClean="0"/>
              <a:t>1/28/26</a:t>
            </a:fld>
            <a:endParaRPr lang="en-US"/>
          </a:p>
        </p:txBody>
      </p:sp>
      <p:sp>
        <p:nvSpPr>
          <p:cNvPr id="5" name="Footer Placeholder 4">
            <a:extLst>
              <a:ext uri="{FF2B5EF4-FFF2-40B4-BE49-F238E27FC236}">
                <a16:creationId xmlns:a16="http://schemas.microsoft.com/office/drawing/2014/main" id="{622D706F-F974-3587-E07D-44A30C9583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498CB6-063A-2323-6399-B81782E131B1}"/>
              </a:ext>
            </a:extLst>
          </p:cNvPr>
          <p:cNvSpPr>
            <a:spLocks noGrp="1"/>
          </p:cNvSpPr>
          <p:nvPr>
            <p:ph type="sldNum" sz="quarter" idx="12"/>
          </p:nvPr>
        </p:nvSpPr>
        <p:spPr/>
        <p:txBody>
          <a:bodyPr/>
          <a:lstStyle/>
          <a:p>
            <a:fld id="{1ED9FE6A-E064-3946-BBB8-4424FE5EA18F}" type="slidenum">
              <a:rPr lang="en-US" smtClean="0"/>
              <a:t>‹#›</a:t>
            </a:fld>
            <a:endParaRPr lang="en-US"/>
          </a:p>
        </p:txBody>
      </p:sp>
    </p:spTree>
    <p:extLst>
      <p:ext uri="{BB962C8B-B14F-4D97-AF65-F5344CB8AC3E}">
        <p14:creationId xmlns:p14="http://schemas.microsoft.com/office/powerpoint/2010/main" val="438349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B2B4B79-F090-9AF2-F3FB-6CCD3673F5F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E1E1A5F-2D41-F6A9-01AA-EE0B14B1155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DC1164F-1200-238F-50AB-FB89EC384EDB}"/>
              </a:ext>
            </a:extLst>
          </p:cNvPr>
          <p:cNvSpPr>
            <a:spLocks noGrp="1"/>
          </p:cNvSpPr>
          <p:nvPr>
            <p:ph type="dt" sz="half" idx="10"/>
          </p:nvPr>
        </p:nvSpPr>
        <p:spPr/>
        <p:txBody>
          <a:bodyPr/>
          <a:lstStyle/>
          <a:p>
            <a:fld id="{9D8AFA96-3D65-BB47-89A9-E753F9A19A02}" type="datetimeFigureOut">
              <a:rPr lang="en-US" smtClean="0"/>
              <a:t>1/28/26</a:t>
            </a:fld>
            <a:endParaRPr lang="en-US"/>
          </a:p>
        </p:txBody>
      </p:sp>
      <p:sp>
        <p:nvSpPr>
          <p:cNvPr id="5" name="Footer Placeholder 4">
            <a:extLst>
              <a:ext uri="{FF2B5EF4-FFF2-40B4-BE49-F238E27FC236}">
                <a16:creationId xmlns:a16="http://schemas.microsoft.com/office/drawing/2014/main" id="{2D0E3933-8C83-5A13-8C55-E669BDA9BA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665210-7B4E-E9EF-D088-555FF5D953D3}"/>
              </a:ext>
            </a:extLst>
          </p:cNvPr>
          <p:cNvSpPr>
            <a:spLocks noGrp="1"/>
          </p:cNvSpPr>
          <p:nvPr>
            <p:ph type="sldNum" sz="quarter" idx="12"/>
          </p:nvPr>
        </p:nvSpPr>
        <p:spPr/>
        <p:txBody>
          <a:bodyPr/>
          <a:lstStyle/>
          <a:p>
            <a:fld id="{1ED9FE6A-E064-3946-BBB8-4424FE5EA18F}" type="slidenum">
              <a:rPr lang="en-US" smtClean="0"/>
              <a:t>‹#›</a:t>
            </a:fld>
            <a:endParaRPr lang="en-US"/>
          </a:p>
        </p:txBody>
      </p:sp>
    </p:spTree>
    <p:extLst>
      <p:ext uri="{BB962C8B-B14F-4D97-AF65-F5344CB8AC3E}">
        <p14:creationId xmlns:p14="http://schemas.microsoft.com/office/powerpoint/2010/main" val="1633867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2FC501-B6D1-97C8-9D92-692FB6C668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7686885-2092-0860-8C8B-2787A35992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AA43936-05D8-98E7-825B-5E7341AF79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D8AFA96-3D65-BB47-89A9-E753F9A19A02}" type="datetimeFigureOut">
              <a:rPr lang="en-US" smtClean="0"/>
              <a:t>1/28/26</a:t>
            </a:fld>
            <a:endParaRPr lang="en-US"/>
          </a:p>
        </p:txBody>
      </p:sp>
      <p:sp>
        <p:nvSpPr>
          <p:cNvPr id="5" name="Footer Placeholder 4">
            <a:extLst>
              <a:ext uri="{FF2B5EF4-FFF2-40B4-BE49-F238E27FC236}">
                <a16:creationId xmlns:a16="http://schemas.microsoft.com/office/drawing/2014/main" id="{D5AEF9DC-301A-58DB-5289-37481C49448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452C29D-B46D-7BF2-C5C1-4E94F91968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D9FE6A-E064-3946-BBB8-4424FE5EA18F}" type="slidenum">
              <a:rPr lang="en-US" smtClean="0"/>
              <a:t>‹#›</a:t>
            </a:fld>
            <a:endParaRPr lang="en-US"/>
          </a:p>
        </p:txBody>
      </p:sp>
    </p:spTree>
    <p:extLst>
      <p:ext uri="{BB962C8B-B14F-4D97-AF65-F5344CB8AC3E}">
        <p14:creationId xmlns:p14="http://schemas.microsoft.com/office/powerpoint/2010/main" val="644666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C0796-7561-E6EB-8CEF-06D7BE25EF5F}"/>
              </a:ext>
            </a:extLst>
          </p:cNvPr>
          <p:cNvSpPr>
            <a:spLocks noGrp="1"/>
          </p:cNvSpPr>
          <p:nvPr>
            <p:ph type="ctrTitle"/>
          </p:nvPr>
        </p:nvSpPr>
        <p:spPr>
          <a:xfrm>
            <a:off x="877824" y="1122363"/>
            <a:ext cx="9790176" cy="1011237"/>
          </a:xfrm>
        </p:spPr>
        <p:txBody>
          <a:bodyPr>
            <a:normAutofit fontScale="90000"/>
          </a:bodyPr>
          <a:lstStyle/>
          <a:p>
            <a:r>
              <a:rPr lang="en-IN" sz="3600" b="1" dirty="0"/>
              <a:t>Mastering Dataset Engineering: The Architect's Guide</a:t>
            </a:r>
            <a:endParaRPr lang="en-US" sz="3600" b="1" dirty="0"/>
          </a:p>
        </p:txBody>
      </p:sp>
      <p:sp>
        <p:nvSpPr>
          <p:cNvPr id="3" name="Subtitle 2">
            <a:extLst>
              <a:ext uri="{FF2B5EF4-FFF2-40B4-BE49-F238E27FC236}">
                <a16:creationId xmlns:a16="http://schemas.microsoft.com/office/drawing/2014/main" id="{4A6840E0-8614-3A0B-8DBE-1EAAAB6FFF5E}"/>
              </a:ext>
            </a:extLst>
          </p:cNvPr>
          <p:cNvSpPr>
            <a:spLocks noGrp="1"/>
          </p:cNvSpPr>
          <p:nvPr>
            <p:ph type="subTitle" idx="1"/>
          </p:nvPr>
        </p:nvSpPr>
        <p:spPr>
          <a:xfrm>
            <a:off x="390144" y="2572512"/>
            <a:ext cx="10277856" cy="2685288"/>
          </a:xfrm>
        </p:spPr>
        <p:txBody>
          <a:bodyPr>
            <a:normAutofit fontScale="92500" lnSpcReduction="20000"/>
          </a:bodyPr>
          <a:lstStyle/>
          <a:p>
            <a:r>
              <a:rPr lang="en-IN" b="1" dirty="0"/>
              <a:t>Visual Suggestion:</a:t>
            </a:r>
            <a:r>
              <a:rPr lang="en-IN" dirty="0"/>
              <a:t> A schematic blueprint of a factory floor where raw data enters one side, passes through stations </a:t>
            </a:r>
            <a:r>
              <a:rPr lang="en-IN" dirty="0" err="1"/>
              <a:t>labeled</a:t>
            </a:r>
            <a:r>
              <a:rPr lang="en-IN" dirty="0"/>
              <a:t> "Synthesis," "Verification," and "Distillation," and emerges as a glowing model.</a:t>
            </a:r>
          </a:p>
          <a:p>
            <a:r>
              <a:rPr lang="en-IN" b="1" dirty="0"/>
              <a:t>Speaker Notes:</a:t>
            </a:r>
            <a:r>
              <a:rPr lang="en-IN" dirty="0"/>
              <a:t> "Welcome. We often treat data as a commodity—something we download and consume. But in the era of Llama 3 and GPT-4, data is not a commodity; it is an engineered product. Today, based on Chip Huyen's extensive research, we will explore the engineering discipline required to build these datasets. We aren't just going to talk about 'cleaning data'; we are going to talk about synthetic data pipelines, model distillation, and how to avoid catastrophic model collapse. Let's begin</a:t>
            </a:r>
          </a:p>
          <a:p>
            <a:endParaRPr lang="en-US" dirty="0"/>
          </a:p>
        </p:txBody>
      </p:sp>
    </p:spTree>
    <p:extLst>
      <p:ext uri="{BB962C8B-B14F-4D97-AF65-F5344CB8AC3E}">
        <p14:creationId xmlns:p14="http://schemas.microsoft.com/office/powerpoint/2010/main" val="2644966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44DE0-9E96-33C8-76FD-BB715148417A}"/>
              </a:ext>
            </a:extLst>
          </p:cNvPr>
          <p:cNvSpPr>
            <a:spLocks noGrp="1"/>
          </p:cNvSpPr>
          <p:nvPr>
            <p:ph type="title"/>
          </p:nvPr>
        </p:nvSpPr>
        <p:spPr/>
        <p:txBody>
          <a:bodyPr/>
          <a:lstStyle/>
          <a:p>
            <a:r>
              <a:rPr lang="en-IN" b="1" dirty="0"/>
              <a:t>The Paradigm Shift: Data-Centric AI</a:t>
            </a:r>
            <a:endParaRPr lang="en-US" b="1" dirty="0"/>
          </a:p>
        </p:txBody>
      </p:sp>
      <p:sp>
        <p:nvSpPr>
          <p:cNvPr id="4" name="Rectangle 1">
            <a:extLst>
              <a:ext uri="{FF2B5EF4-FFF2-40B4-BE49-F238E27FC236}">
                <a16:creationId xmlns:a16="http://schemas.microsoft.com/office/drawing/2014/main" id="{819293F2-28F1-264A-B687-D60FEA140A05}"/>
              </a:ext>
            </a:extLst>
          </p:cNvPr>
          <p:cNvSpPr>
            <a:spLocks noGrp="1" noChangeArrowheads="1"/>
          </p:cNvSpPr>
          <p:nvPr>
            <p:ph idx="1"/>
          </p:nvPr>
        </p:nvSpPr>
        <p:spPr bwMode="auto">
          <a:xfrm>
            <a:off x="560832" y="1462139"/>
            <a:ext cx="10792968"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Model-Centric:</a:t>
            </a:r>
            <a:r>
              <a:rPr kumimoji="0" lang="en-US" altLang="en-US" sz="1800" b="0" i="0" u="none" strike="noStrike" cap="none" normalizeH="0" baseline="0" dirty="0">
                <a:ln>
                  <a:noFill/>
                </a:ln>
                <a:solidFill>
                  <a:schemeClr val="tx1"/>
                </a:solidFill>
                <a:effectLst/>
                <a:latin typeface="Arial" panose="020B0604020202020204" pitchFamily="34" charset="0"/>
              </a:rPr>
              <a:t> Fixing the data and iterating on the architecture (e.g., adding layers, changing optimizers).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Data-Centric:</a:t>
            </a:r>
            <a:r>
              <a:rPr kumimoji="0" lang="en-US" altLang="en-US" sz="1800" b="0" i="0" u="none" strike="noStrike" cap="none" normalizeH="0" baseline="0" dirty="0">
                <a:ln>
                  <a:noFill/>
                </a:ln>
                <a:solidFill>
                  <a:schemeClr val="tx1"/>
                </a:solidFill>
                <a:effectLst/>
                <a:latin typeface="Arial" panose="020B0604020202020204" pitchFamily="34" charset="0"/>
              </a:rPr>
              <a:t> Fixing the model and iterating on the data (e.g., fixing labels, adding edge cases)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Trend:</a:t>
            </a:r>
            <a:r>
              <a:rPr kumimoji="0" lang="en-US" altLang="en-US" sz="1800" b="0" i="0" u="none" strike="noStrike" cap="none" normalizeH="0" baseline="0" dirty="0">
                <a:ln>
                  <a:noFill/>
                </a:ln>
                <a:solidFill>
                  <a:schemeClr val="tx1"/>
                </a:solidFill>
                <a:effectLst/>
                <a:latin typeface="Arial" panose="020B0604020202020204" pitchFamily="34" charset="0"/>
              </a:rPr>
              <a:t> Benchmarks like </a:t>
            </a:r>
            <a:r>
              <a:rPr kumimoji="0" lang="en-US" altLang="en-US" sz="1800" b="0" i="0" u="none" strike="noStrike" cap="none" normalizeH="0" baseline="0" dirty="0" err="1">
                <a:ln>
                  <a:noFill/>
                </a:ln>
                <a:solidFill>
                  <a:schemeClr val="tx1"/>
                </a:solidFill>
                <a:effectLst/>
                <a:latin typeface="Arial" panose="020B0604020202020204" pitchFamily="34" charset="0"/>
              </a:rPr>
              <a:t>DataComp</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0" i="0" u="none" strike="noStrike" cap="none" normalizeH="0" baseline="0" dirty="0" err="1">
                <a:ln>
                  <a:noFill/>
                </a:ln>
                <a:solidFill>
                  <a:schemeClr val="tx1"/>
                </a:solidFill>
                <a:effectLst/>
                <a:latin typeface="Arial" panose="020B0604020202020204" pitchFamily="34" charset="0"/>
              </a:rPr>
              <a:t>DataPerf</a:t>
            </a:r>
            <a:r>
              <a:rPr kumimoji="0" lang="en-US" altLang="en-US" sz="1800" b="0" i="0" u="none" strike="noStrike" cap="none" normalizeH="0" baseline="0" dirty="0">
                <a:ln>
                  <a:noFill/>
                </a:ln>
                <a:solidFill>
                  <a:schemeClr val="tx1"/>
                </a:solidFill>
                <a:effectLst/>
                <a:latin typeface="Arial" panose="020B0604020202020204" pitchFamily="34" charset="0"/>
              </a:rPr>
              <a:t> now compete solely on dataset quality, not model architecture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Impact:</a:t>
            </a:r>
            <a:r>
              <a:rPr kumimoji="0" lang="en-US" altLang="en-US" sz="1800" b="0" i="0" u="none" strike="noStrike" cap="none" normalizeH="0" baseline="0" dirty="0">
                <a:ln>
                  <a:noFill/>
                </a:ln>
                <a:solidFill>
                  <a:schemeClr val="tx1"/>
                </a:solidFill>
                <a:effectLst/>
                <a:latin typeface="Arial" panose="020B0604020202020204" pitchFamily="34" charset="0"/>
              </a:rPr>
              <a:t> Improvements in data quality often yield higher ROI than architectural tweaks.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line graph comparing two curves: one flat line labeled "Architecture Tweaks" and one exponential curve labeled "Data Quality Improvements.”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"For a decade, we were obsessed with architecture. But as Chip Huyen notes, we've shifted to a 'Data-Centric' view. In competitions like </a:t>
            </a:r>
            <a:r>
              <a:rPr kumimoji="0" lang="en-US" altLang="en-US" sz="1800" b="0" i="0" u="none" strike="noStrike" cap="none" normalizeH="0" baseline="0" dirty="0" err="1">
                <a:ln>
                  <a:noFill/>
                </a:ln>
                <a:solidFill>
                  <a:schemeClr val="tx1"/>
                </a:solidFill>
                <a:effectLst/>
                <a:latin typeface="Arial" panose="020B0604020202020204" pitchFamily="34" charset="0"/>
              </a:rPr>
              <a:t>DataComp</a:t>
            </a:r>
            <a:r>
              <a:rPr kumimoji="0" lang="en-US" altLang="en-US" sz="1800" b="0" i="0" u="none" strike="noStrike" cap="none" normalizeH="0" baseline="0" dirty="0">
                <a:ln>
                  <a:noFill/>
                </a:ln>
                <a:solidFill>
                  <a:schemeClr val="tx1"/>
                </a:solidFill>
                <a:effectLst/>
                <a:latin typeface="Arial" panose="020B0604020202020204" pitchFamily="34" charset="0"/>
              </a:rPr>
              <a:t>, you aren't allowed to touch the model code—you can only improve the dataset. And guess what? The teams that engineer the data better win. This shift means our role as researchers is changing from 'Model Architects' to 'Data Architects'."</a:t>
            </a:r>
          </a:p>
        </p:txBody>
      </p:sp>
    </p:spTree>
    <p:extLst>
      <p:ext uri="{BB962C8B-B14F-4D97-AF65-F5344CB8AC3E}">
        <p14:creationId xmlns:p14="http://schemas.microsoft.com/office/powerpoint/2010/main" val="1615552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23D92-B234-6420-2EF7-49554457E320}"/>
              </a:ext>
            </a:extLst>
          </p:cNvPr>
          <p:cNvSpPr>
            <a:spLocks noGrp="1"/>
          </p:cNvSpPr>
          <p:nvPr>
            <p:ph type="title"/>
          </p:nvPr>
        </p:nvSpPr>
        <p:spPr/>
        <p:txBody>
          <a:bodyPr/>
          <a:lstStyle/>
          <a:p>
            <a:pPr algn="ctr"/>
            <a:r>
              <a:rPr lang="en-IN" b="1" dirty="0"/>
              <a:t>Data Curation: The Three Pillars</a:t>
            </a:r>
            <a:endParaRPr lang="en-US" b="1" dirty="0"/>
          </a:p>
        </p:txBody>
      </p:sp>
      <p:sp>
        <p:nvSpPr>
          <p:cNvPr id="4" name="Rectangle 1">
            <a:extLst>
              <a:ext uri="{FF2B5EF4-FFF2-40B4-BE49-F238E27FC236}">
                <a16:creationId xmlns:a16="http://schemas.microsoft.com/office/drawing/2014/main" id="{7DE6EE35-ADE6-A0CA-375E-1AA280673303}"/>
              </a:ext>
            </a:extLst>
          </p:cNvPr>
          <p:cNvSpPr>
            <a:spLocks noGrp="1" noChangeArrowheads="1"/>
          </p:cNvSpPr>
          <p:nvPr>
            <p:ph idx="1"/>
          </p:nvPr>
        </p:nvSpPr>
        <p:spPr bwMode="auto">
          <a:xfrm>
            <a:off x="1085088" y="1327202"/>
            <a:ext cx="10277856"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Quality:</a:t>
            </a:r>
            <a:r>
              <a:rPr kumimoji="0" lang="en-US" altLang="en-US" sz="1800" b="0" i="0" u="none" strike="noStrike" cap="none" normalizeH="0" baseline="0" dirty="0">
                <a:ln>
                  <a:noFill/>
                </a:ln>
                <a:solidFill>
                  <a:schemeClr val="tx1"/>
                </a:solidFill>
                <a:effectLst/>
                <a:latin typeface="Arial" panose="020B0604020202020204" pitchFamily="34" charset="0"/>
              </a:rPr>
              <a:t> Does the data accurately reflect the task? (e.g., factual consistency, correct formatting)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Coverage (Diversity):</a:t>
            </a:r>
            <a:r>
              <a:rPr kumimoji="0" lang="en-US" altLang="en-US" sz="1800" b="0" i="0" u="none" strike="noStrike" cap="none" normalizeH="0" baseline="0" dirty="0">
                <a:ln>
                  <a:noFill/>
                </a:ln>
                <a:solidFill>
                  <a:schemeClr val="tx1"/>
                </a:solidFill>
                <a:effectLst/>
                <a:latin typeface="Arial" panose="020B0604020202020204" pitchFamily="34" charset="0"/>
              </a:rPr>
              <a:t> Does the data span the full distribution of inputs? (e.g., long vs. short queries, multiple languages)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Quantity:</a:t>
            </a:r>
            <a:r>
              <a:rPr kumimoji="0" lang="en-US" altLang="en-US" sz="1800" b="0" i="0" u="none" strike="noStrike" cap="none" normalizeH="0" baseline="0" dirty="0">
                <a:ln>
                  <a:noFill/>
                </a:ln>
                <a:solidFill>
                  <a:schemeClr val="tx1"/>
                </a:solidFill>
                <a:effectLst/>
                <a:latin typeface="Arial" panose="020B0604020202020204" pitchFamily="34" charset="0"/>
              </a:rPr>
              <a:t> Do we have enough data to prevent 'ossification' of pre-trained weights?.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Analogy:</a:t>
            </a:r>
            <a:r>
              <a:rPr kumimoji="0" lang="en-US" altLang="en-US" sz="1800" b="0" i="0" u="none" strike="noStrike" cap="none" normalizeH="0" baseline="0" dirty="0">
                <a:ln>
                  <a:noFill/>
                </a:ln>
                <a:solidFill>
                  <a:schemeClr val="tx1"/>
                </a:solidFill>
                <a:effectLst/>
                <a:latin typeface="Arial" panose="020B0604020202020204" pitchFamily="34" charset="0"/>
              </a:rPr>
              <a:t> If training is cooking, data is the ingredients. You need high-quality ingredients, the right spice mix (coverage), and enough food to feed the guests (quantity)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tripod stool labeled "Model Performance," with the three legs labeled "Quality," "Coverage," and "Quantity." If one leg is short, the stool falls.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"When we curate data, we look at three pillars. First, </a:t>
            </a:r>
            <a:r>
              <a:rPr kumimoji="0" lang="en-US" altLang="en-US" sz="1800" b="1" i="0" u="none" strike="noStrike" cap="none" normalizeH="0" baseline="0" dirty="0">
                <a:ln>
                  <a:noFill/>
                </a:ln>
                <a:solidFill>
                  <a:schemeClr val="tx1"/>
                </a:solidFill>
                <a:effectLst/>
                <a:latin typeface="Arial" panose="020B0604020202020204" pitchFamily="34" charset="0"/>
              </a:rPr>
              <a:t>Quality</a:t>
            </a:r>
            <a:r>
              <a:rPr kumimoji="0" lang="en-US" altLang="en-US" sz="1800" b="0" i="0" u="none" strike="noStrike" cap="none" normalizeH="0" baseline="0" dirty="0">
                <a:ln>
                  <a:noFill/>
                </a:ln>
                <a:solidFill>
                  <a:schemeClr val="tx1"/>
                </a:solidFill>
                <a:effectLst/>
                <a:latin typeface="Arial" panose="020B0604020202020204" pitchFamily="34" charset="0"/>
              </a:rPr>
              <a:t>—are the ingredients spoiled? Second, </a:t>
            </a:r>
            <a:r>
              <a:rPr kumimoji="0" lang="en-US" altLang="en-US" sz="1800" b="1" i="0" u="none" strike="noStrike" cap="none" normalizeH="0" baseline="0" dirty="0">
                <a:ln>
                  <a:noFill/>
                </a:ln>
                <a:solidFill>
                  <a:schemeClr val="tx1"/>
                </a:solidFill>
                <a:effectLst/>
                <a:latin typeface="Arial" panose="020B0604020202020204" pitchFamily="34" charset="0"/>
              </a:rPr>
              <a:t>Coverage</a:t>
            </a:r>
            <a:r>
              <a:rPr kumimoji="0" lang="en-US" altLang="en-US" sz="1800" b="0" i="0" u="none" strike="noStrike" cap="none" normalizeH="0" baseline="0" dirty="0">
                <a:ln>
                  <a:noFill/>
                </a:ln>
                <a:solidFill>
                  <a:schemeClr val="tx1"/>
                </a:solidFill>
                <a:effectLst/>
                <a:latin typeface="Arial" panose="020B0604020202020204" pitchFamily="34" charset="0"/>
              </a:rPr>
              <a:t>—do you have only sugar, or do you have a balanced meal? And third, </a:t>
            </a:r>
            <a:r>
              <a:rPr kumimoji="0" lang="en-US" altLang="en-US" sz="1800" b="1" i="0" u="none" strike="noStrike" cap="none" normalizeH="0" baseline="0" dirty="0">
                <a:ln>
                  <a:noFill/>
                </a:ln>
                <a:solidFill>
                  <a:schemeClr val="tx1"/>
                </a:solidFill>
                <a:effectLst/>
                <a:latin typeface="Arial" panose="020B0604020202020204" pitchFamily="34" charset="0"/>
              </a:rPr>
              <a:t>Quantity</a:t>
            </a:r>
            <a:r>
              <a:rPr kumimoji="0" lang="en-US" altLang="en-US" sz="1800" b="0" i="0" u="none" strike="noStrike" cap="none" normalizeH="0" baseline="0" dirty="0">
                <a:ln>
                  <a:noFill/>
                </a:ln>
                <a:solidFill>
                  <a:schemeClr val="tx1"/>
                </a:solidFill>
                <a:effectLst/>
                <a:latin typeface="Arial" panose="020B0604020202020204" pitchFamily="34" charset="0"/>
              </a:rPr>
              <a:t>. You can't train a foundation model on ten rows of data. But as we'll see, 'Quantity' is often the least important of the three if the other two are perfect."</a:t>
            </a:r>
          </a:p>
        </p:txBody>
      </p:sp>
    </p:spTree>
    <p:extLst>
      <p:ext uri="{BB962C8B-B14F-4D97-AF65-F5344CB8AC3E}">
        <p14:creationId xmlns:p14="http://schemas.microsoft.com/office/powerpoint/2010/main" val="1714280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D4297-3D6C-FE7E-2057-98BBDBE697BE}"/>
              </a:ext>
            </a:extLst>
          </p:cNvPr>
          <p:cNvSpPr>
            <a:spLocks noGrp="1"/>
          </p:cNvSpPr>
          <p:nvPr>
            <p:ph type="title"/>
          </p:nvPr>
        </p:nvSpPr>
        <p:spPr/>
        <p:txBody>
          <a:bodyPr/>
          <a:lstStyle/>
          <a:p>
            <a:pPr algn="ctr"/>
            <a:r>
              <a:rPr lang="en-IN" b="1" dirty="0"/>
              <a:t>The "Small Data" Revolution</a:t>
            </a:r>
            <a:endParaRPr lang="en-US" b="1" dirty="0"/>
          </a:p>
        </p:txBody>
      </p:sp>
      <p:sp>
        <p:nvSpPr>
          <p:cNvPr id="4" name="Rectangle 1">
            <a:extLst>
              <a:ext uri="{FF2B5EF4-FFF2-40B4-BE49-F238E27FC236}">
                <a16:creationId xmlns:a16="http://schemas.microsoft.com/office/drawing/2014/main" id="{E4C77703-EBD2-F79D-8C1F-59E6033ECAB5}"/>
              </a:ext>
            </a:extLst>
          </p:cNvPr>
          <p:cNvSpPr>
            <a:spLocks noGrp="1" noChangeArrowheads="1"/>
          </p:cNvSpPr>
          <p:nvPr>
            <p:ph idx="1"/>
          </p:nvPr>
        </p:nvSpPr>
        <p:spPr bwMode="auto">
          <a:xfrm>
            <a:off x="838200" y="1188704"/>
            <a:ext cx="1117092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LIMA Hypothesis:</a:t>
            </a:r>
            <a:r>
              <a:rPr kumimoji="0" lang="en-US" altLang="en-US" sz="1800" b="0" i="0" u="none" strike="noStrike" cap="none" normalizeH="0" baseline="0" dirty="0">
                <a:ln>
                  <a:noFill/>
                </a:ln>
                <a:solidFill>
                  <a:schemeClr val="tx1"/>
                </a:solidFill>
                <a:effectLst/>
                <a:latin typeface="Arial" panose="020B0604020202020204" pitchFamily="34" charset="0"/>
              </a:rPr>
              <a:t> "Less Is More for Alignment.”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Result:</a:t>
            </a:r>
            <a:r>
              <a:rPr kumimoji="0" lang="en-US" altLang="en-US" sz="1800" b="0" i="0" u="none" strike="noStrike" cap="none" normalizeH="0" baseline="0" dirty="0">
                <a:ln>
                  <a:noFill/>
                </a:ln>
                <a:solidFill>
                  <a:schemeClr val="tx1"/>
                </a:solidFill>
                <a:effectLst/>
                <a:latin typeface="Arial" panose="020B0604020202020204" pitchFamily="34" charset="0"/>
              </a:rPr>
              <a:t> A 65B Llama model fine-tuned on just </a:t>
            </a:r>
            <a:r>
              <a:rPr kumimoji="0" lang="en-US" altLang="en-US" sz="1800" b="1" i="0" u="none" strike="noStrike" cap="none" normalizeH="0" baseline="0" dirty="0">
                <a:ln>
                  <a:noFill/>
                </a:ln>
                <a:solidFill>
                  <a:schemeClr val="tx1"/>
                </a:solidFill>
                <a:effectLst/>
                <a:latin typeface="Arial" panose="020B0604020202020204" pitchFamily="34" charset="0"/>
              </a:rPr>
              <a:t>1,000</a:t>
            </a:r>
            <a:r>
              <a:rPr kumimoji="0" lang="en-US" altLang="en-US" sz="1800" b="0" i="0" u="none" strike="noStrike" cap="none" normalizeH="0" baseline="0" dirty="0">
                <a:ln>
                  <a:noFill/>
                </a:ln>
                <a:solidFill>
                  <a:schemeClr val="tx1"/>
                </a:solidFill>
                <a:effectLst/>
                <a:latin typeface="Arial" panose="020B0604020202020204" pitchFamily="34" charset="0"/>
              </a:rPr>
              <a:t> high-quality examples beat GPT-4 in 43% of cases.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Yi Model Finding:</a:t>
            </a:r>
            <a:r>
              <a:rPr kumimoji="0" lang="en-US" altLang="en-US" sz="1800" b="0" i="0" u="none" strike="noStrike" cap="none" normalizeH="0" baseline="0" dirty="0">
                <a:ln>
                  <a:noFill/>
                </a:ln>
                <a:solidFill>
                  <a:schemeClr val="tx1"/>
                </a:solidFill>
                <a:effectLst/>
                <a:latin typeface="Arial" panose="020B0604020202020204" pitchFamily="34" charset="0"/>
              </a:rPr>
              <a:t> 10,000 carefully crafted instructions outperform hundreds of thousands of noisy ones.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Takeaway:</a:t>
            </a:r>
            <a:r>
              <a:rPr kumimoji="0" lang="en-US" altLang="en-US" sz="1800" b="0" i="0" u="none" strike="noStrike" cap="none" normalizeH="0" baseline="0" dirty="0">
                <a:ln>
                  <a:noFill/>
                </a:ln>
                <a:solidFill>
                  <a:schemeClr val="tx1"/>
                </a:solidFill>
                <a:effectLst/>
                <a:latin typeface="Arial" panose="020B0604020202020204" pitchFamily="34" charset="0"/>
              </a:rPr>
              <a:t> A small set of perfect data is better than a massive set of mediocre data.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bar chart comparing "LIMA (1k examples)" vs. "Standard Model (50k examples)," showing LIMA with a higher quality score.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"This is the most counter-intuitive finding in modern AI. We assume we need millions of rows. But the LIMA paper proved that 1,000 perfect examples can beat massive datasets. Why? Because foundation models already 'know' the knowledge; fine-tuning is just teaching them the </a:t>
            </a:r>
            <a:r>
              <a:rPr kumimoji="0" lang="en-US" altLang="en-US" sz="1800" b="0" i="1" u="none" strike="noStrike" cap="none" normalizeH="0" baseline="0" dirty="0">
                <a:ln>
                  <a:noFill/>
                </a:ln>
                <a:solidFill>
                  <a:schemeClr val="tx1"/>
                </a:solidFill>
                <a:effectLst/>
                <a:latin typeface="Arial" panose="020B0604020202020204" pitchFamily="34" charset="0"/>
              </a:rPr>
              <a:t>format</a:t>
            </a:r>
            <a:r>
              <a:rPr kumimoji="0" lang="en-US" altLang="en-US" sz="1800" b="0" i="0" u="none" strike="noStrike" cap="none" normalizeH="0" baseline="0" dirty="0">
                <a:ln>
                  <a:noFill/>
                </a:ln>
                <a:solidFill>
                  <a:schemeClr val="tx1"/>
                </a:solidFill>
                <a:effectLst/>
                <a:latin typeface="Arial" panose="020B0604020202020204" pitchFamily="34" charset="0"/>
              </a:rPr>
              <a:t>. You don't need a million examples to teach a format; you need a few hundred perfect ones."</a:t>
            </a:r>
          </a:p>
        </p:txBody>
      </p:sp>
    </p:spTree>
    <p:extLst>
      <p:ext uri="{BB962C8B-B14F-4D97-AF65-F5344CB8AC3E}">
        <p14:creationId xmlns:p14="http://schemas.microsoft.com/office/powerpoint/2010/main" val="15849781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1F208-B7D0-3693-1EB2-4CC20C5D5189}"/>
              </a:ext>
            </a:extLst>
          </p:cNvPr>
          <p:cNvSpPr>
            <a:spLocks noGrp="1"/>
          </p:cNvSpPr>
          <p:nvPr>
            <p:ph type="title"/>
          </p:nvPr>
        </p:nvSpPr>
        <p:spPr/>
        <p:txBody>
          <a:bodyPr/>
          <a:lstStyle/>
          <a:p>
            <a:pPr algn="ctr"/>
            <a:r>
              <a:rPr lang="en-IN" b="1" dirty="0"/>
              <a:t>Data Quality Dimensions</a:t>
            </a:r>
            <a:endParaRPr lang="en-US" b="1" dirty="0"/>
          </a:p>
        </p:txBody>
      </p:sp>
      <p:sp>
        <p:nvSpPr>
          <p:cNvPr id="4" name="Rectangle 1">
            <a:extLst>
              <a:ext uri="{FF2B5EF4-FFF2-40B4-BE49-F238E27FC236}">
                <a16:creationId xmlns:a16="http://schemas.microsoft.com/office/drawing/2014/main" id="{45587B0A-663A-192E-9705-45732BDEA1DE}"/>
              </a:ext>
            </a:extLst>
          </p:cNvPr>
          <p:cNvSpPr>
            <a:spLocks noGrp="1" noChangeArrowheads="1"/>
          </p:cNvSpPr>
          <p:nvPr>
            <p:ph idx="1"/>
          </p:nvPr>
        </p:nvSpPr>
        <p:spPr bwMode="auto">
          <a:xfrm>
            <a:off x="963827" y="1327202"/>
            <a:ext cx="10609429"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Relevant:</a:t>
            </a:r>
            <a:r>
              <a:rPr kumimoji="0" lang="en-US" altLang="en-US" sz="1800" b="0" i="0" u="none" strike="noStrike" cap="none" normalizeH="0" baseline="0" dirty="0">
                <a:ln>
                  <a:noFill/>
                </a:ln>
                <a:solidFill>
                  <a:schemeClr val="tx1"/>
                </a:solidFill>
                <a:effectLst/>
                <a:latin typeface="Arial" panose="020B0604020202020204" pitchFamily="34" charset="0"/>
              </a:rPr>
              <a:t> Data must match the era and context (e.g., 19th-century legal data is irrelevant for modern law).</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Consistent:</a:t>
            </a:r>
            <a:r>
              <a:rPr kumimoji="0" lang="en-US" altLang="en-US" sz="1800" b="0" i="0" u="none" strike="noStrike" cap="none" normalizeH="0" baseline="0" dirty="0">
                <a:ln>
                  <a:noFill/>
                </a:ln>
                <a:solidFill>
                  <a:schemeClr val="tx1"/>
                </a:solidFill>
                <a:effectLst/>
                <a:latin typeface="Arial" panose="020B0604020202020204" pitchFamily="34" charset="0"/>
              </a:rPr>
              <a:t> Two annotators should rate the same essay with the same score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Unique:</a:t>
            </a:r>
            <a:r>
              <a:rPr kumimoji="0" lang="en-US" altLang="en-US" sz="1800" b="0" i="0" u="none" strike="noStrike" cap="none" normalizeH="0" baseline="0" dirty="0">
                <a:ln>
                  <a:noFill/>
                </a:ln>
                <a:solidFill>
                  <a:schemeClr val="tx1"/>
                </a:solidFill>
                <a:effectLst/>
                <a:latin typeface="Arial" panose="020B0604020202020204" pitchFamily="34" charset="0"/>
              </a:rPr>
              <a:t> Duplicates introduce bias and "test set contamination".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Aligned:</a:t>
            </a:r>
            <a:r>
              <a:rPr kumimoji="0" lang="en-US" altLang="en-US" sz="1800" b="0" i="0" u="none" strike="noStrike" cap="none" normalizeH="0" baseline="0" dirty="0">
                <a:ln>
                  <a:noFill/>
                </a:ln>
                <a:solidFill>
                  <a:schemeClr val="tx1"/>
                </a:solidFill>
                <a:effectLst/>
                <a:latin typeface="Arial" panose="020B0604020202020204" pitchFamily="34" charset="0"/>
              </a:rPr>
              <a:t> If the user wants a concise answer, a "correct" but long-winded answer is actually low quality.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checklist graphic with checks next to "Relevant," "Consistent," and "Unique," and a red 'X' next to "Duplicate" and "Ambiguous.”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"What does 'Quality' actually mean? It's not just 'no typos.' It means </a:t>
            </a:r>
            <a:r>
              <a:rPr kumimoji="0" lang="en-US" altLang="en-US" sz="1800" b="1" i="0" u="none" strike="noStrike" cap="none" normalizeH="0" baseline="0" dirty="0">
                <a:ln>
                  <a:noFill/>
                </a:ln>
                <a:solidFill>
                  <a:schemeClr val="tx1"/>
                </a:solidFill>
                <a:effectLst/>
                <a:latin typeface="Arial" panose="020B0604020202020204" pitchFamily="34" charset="0"/>
              </a:rPr>
              <a:t>consistency</a:t>
            </a:r>
            <a:r>
              <a:rPr kumimoji="0" lang="en-US" altLang="en-US" sz="1800" b="0" i="0" u="none" strike="noStrike" cap="none" normalizeH="0" baseline="0" dirty="0">
                <a:ln>
                  <a:noFill/>
                </a:ln>
                <a:solidFill>
                  <a:schemeClr val="tx1"/>
                </a:solidFill>
                <a:effectLst/>
                <a:latin typeface="Arial" panose="020B0604020202020204" pitchFamily="34" charset="0"/>
              </a:rPr>
              <a:t>—if I ask two annotators to label a sentiment, do they agree? It means </a:t>
            </a:r>
            <a:r>
              <a:rPr kumimoji="0" lang="en-US" altLang="en-US" sz="1800" b="1" i="0" u="none" strike="noStrike" cap="none" normalizeH="0" baseline="0" dirty="0">
                <a:ln>
                  <a:noFill/>
                </a:ln>
                <a:solidFill>
                  <a:schemeClr val="tx1"/>
                </a:solidFill>
                <a:effectLst/>
                <a:latin typeface="Arial" panose="020B0604020202020204" pitchFamily="34" charset="0"/>
              </a:rPr>
              <a:t>alignment</a:t>
            </a:r>
            <a:r>
              <a:rPr kumimoji="0" lang="en-US" altLang="en-US" sz="1800" b="0" i="0" u="none" strike="noStrike" cap="none" normalizeH="0" baseline="0" dirty="0">
                <a:ln>
                  <a:noFill/>
                </a:ln>
                <a:solidFill>
                  <a:schemeClr val="tx1"/>
                </a:solidFill>
                <a:effectLst/>
                <a:latin typeface="Arial" panose="020B0604020202020204" pitchFamily="34" charset="0"/>
              </a:rPr>
              <a:t>—if I ask for a short summary and the model gives me a novel, that data is 'bad,' even if the novel is well-written. We need to rigorously define quality guidelines before we collect a single row."</a:t>
            </a:r>
          </a:p>
        </p:txBody>
      </p:sp>
    </p:spTree>
    <p:extLst>
      <p:ext uri="{BB962C8B-B14F-4D97-AF65-F5344CB8AC3E}">
        <p14:creationId xmlns:p14="http://schemas.microsoft.com/office/powerpoint/2010/main" val="3310040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EC960-5C4C-8C3F-3A20-5275648E0595}"/>
              </a:ext>
            </a:extLst>
          </p:cNvPr>
          <p:cNvSpPr>
            <a:spLocks noGrp="1"/>
          </p:cNvSpPr>
          <p:nvPr>
            <p:ph type="title"/>
          </p:nvPr>
        </p:nvSpPr>
        <p:spPr/>
        <p:txBody>
          <a:bodyPr/>
          <a:lstStyle/>
          <a:p>
            <a:pPr algn="ctr"/>
            <a:r>
              <a:rPr lang="en-IN" b="1" dirty="0"/>
              <a:t>Data Coverage &amp; Diversity</a:t>
            </a:r>
            <a:endParaRPr lang="en-US" b="1" dirty="0"/>
          </a:p>
        </p:txBody>
      </p:sp>
      <p:sp>
        <p:nvSpPr>
          <p:cNvPr id="4" name="Rectangle 1">
            <a:extLst>
              <a:ext uri="{FF2B5EF4-FFF2-40B4-BE49-F238E27FC236}">
                <a16:creationId xmlns:a16="http://schemas.microsoft.com/office/drawing/2014/main" id="{4FB26FDB-E713-3439-C7F5-74F3B82B241A}"/>
              </a:ext>
            </a:extLst>
          </p:cNvPr>
          <p:cNvSpPr>
            <a:spLocks noGrp="1" noChangeArrowheads="1"/>
          </p:cNvSpPr>
          <p:nvPr>
            <p:ph idx="1"/>
          </p:nvPr>
        </p:nvSpPr>
        <p:spPr bwMode="auto">
          <a:xfrm>
            <a:off x="838200" y="1323640"/>
            <a:ext cx="1051560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Diversity Impact:</a:t>
            </a:r>
            <a:r>
              <a:rPr kumimoji="0" lang="en-US" altLang="en-US" sz="1800" b="0" i="0" u="none" strike="noStrike" cap="none" normalizeH="0" baseline="0" dirty="0">
                <a:ln>
                  <a:noFill/>
                </a:ln>
                <a:solidFill>
                  <a:schemeClr val="tx1"/>
                </a:solidFill>
                <a:effectLst/>
                <a:latin typeface="Arial" panose="020B0604020202020204" pitchFamily="34" charset="0"/>
              </a:rPr>
              <a:t> Performance plateaus with task quantity, but adding </a:t>
            </a:r>
            <a:r>
              <a:rPr kumimoji="0" lang="en-US" altLang="en-US" sz="1800" b="0" i="1" u="none" strike="noStrike" cap="none" normalizeH="0" baseline="0" dirty="0">
                <a:ln>
                  <a:noFill/>
                </a:ln>
                <a:solidFill>
                  <a:schemeClr val="tx1"/>
                </a:solidFill>
                <a:effectLst/>
                <a:latin typeface="Arial" panose="020B0604020202020204" pitchFamily="34" charset="0"/>
              </a:rPr>
              <a:t>new types</a:t>
            </a:r>
            <a:r>
              <a:rPr kumimoji="0" lang="en-US" altLang="en-US" sz="1800" b="0" i="0" u="none" strike="noStrike" cap="none" normalizeH="0" baseline="0" dirty="0">
                <a:ln>
                  <a:noFill/>
                </a:ln>
                <a:solidFill>
                  <a:schemeClr val="tx1"/>
                </a:solidFill>
                <a:effectLst/>
                <a:latin typeface="Arial" panose="020B0604020202020204" pitchFamily="34" charset="0"/>
              </a:rPr>
              <a:t> of tasks (up to 282 tasks) significantly boosts performance.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Dimensions of Diversity: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Topic:</a:t>
            </a:r>
            <a:r>
              <a:rPr kumimoji="0" lang="en-US" altLang="en-US" sz="1800" b="0" i="0" u="none" strike="noStrike" cap="none" normalizeH="0" baseline="0" dirty="0">
                <a:ln>
                  <a:noFill/>
                </a:ln>
                <a:solidFill>
                  <a:schemeClr val="tx1"/>
                </a:solidFill>
                <a:effectLst/>
                <a:latin typeface="Arial" panose="020B0604020202020204" pitchFamily="34" charset="0"/>
              </a:rPr>
              <a:t> Finance, Medicine, Coding, Creative Writing.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Length:</a:t>
            </a:r>
            <a:r>
              <a:rPr kumimoji="0" lang="en-US" altLang="en-US" sz="1800" b="0" i="0" u="none" strike="noStrike" cap="none" normalizeH="0" baseline="0" dirty="0">
                <a:ln>
                  <a:noFill/>
                </a:ln>
                <a:solidFill>
                  <a:schemeClr val="tx1"/>
                </a:solidFill>
                <a:effectLst/>
                <a:latin typeface="Arial" panose="020B0604020202020204" pitchFamily="34" charset="0"/>
              </a:rPr>
              <a:t> Short commands vs. long essays.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Complexity:</a:t>
            </a:r>
            <a:r>
              <a:rPr kumimoji="0" lang="en-US" altLang="en-US" sz="1800" b="0" i="0" u="none" strike="noStrike" cap="none" normalizeH="0" baseline="0" dirty="0">
                <a:ln>
                  <a:noFill/>
                </a:ln>
                <a:solidFill>
                  <a:schemeClr val="tx1"/>
                </a:solidFill>
                <a:effectLst/>
                <a:latin typeface="Arial" panose="020B0604020202020204" pitchFamily="34" charset="0"/>
              </a:rPr>
              <a:t> Simple queries vs. multi-turn reasoning.</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Llama 3 Strategy:</a:t>
            </a:r>
            <a:r>
              <a:rPr kumimoji="0" lang="en-US" altLang="en-US" sz="1800" b="0" i="0" u="none" strike="noStrike" cap="none" normalizeH="0" baseline="0" dirty="0">
                <a:ln>
                  <a:noFill/>
                </a:ln>
                <a:solidFill>
                  <a:schemeClr val="tx1"/>
                </a:solidFill>
                <a:effectLst/>
                <a:latin typeface="Arial" panose="020B0604020202020204" pitchFamily="34" charset="0"/>
              </a:rPr>
              <a:t> Varied data mix across training phases (e.g., 50% general knowledge in pre-training vs. 82% in preference tuning)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pie chart showing Llama 3's data mix shifting from Pre-training (Math/Code heavy) to Preference Tuning (General Knowledge heavy).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"Coverage is about avoiding blind spots. If you only train on short questions, your model will fail on long essays. Llama 3's secret wasn't just 'more data'; it was 'more diverse data.' Look at how they shifted their mix—heavy on code during pre-training to build reasoning, then heavy on general chat for fine-tuning to build alignment."</a:t>
            </a:r>
          </a:p>
        </p:txBody>
      </p:sp>
    </p:spTree>
    <p:extLst>
      <p:ext uri="{BB962C8B-B14F-4D97-AF65-F5344CB8AC3E}">
        <p14:creationId xmlns:p14="http://schemas.microsoft.com/office/powerpoint/2010/main" val="1557789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7811EA-DFBA-F772-428E-AC6A060CD597}"/>
              </a:ext>
            </a:extLst>
          </p:cNvPr>
          <p:cNvSpPr>
            <a:spLocks noGrp="1"/>
          </p:cNvSpPr>
          <p:nvPr>
            <p:ph type="title"/>
          </p:nvPr>
        </p:nvSpPr>
        <p:spPr/>
        <p:txBody>
          <a:bodyPr/>
          <a:lstStyle/>
          <a:p>
            <a:pPr algn="ctr"/>
            <a:r>
              <a:rPr lang="en-IN" b="1" dirty="0"/>
              <a:t>Data Quantity &amp; Scaling Laws</a:t>
            </a:r>
            <a:endParaRPr lang="en-US" b="1" dirty="0"/>
          </a:p>
        </p:txBody>
      </p:sp>
      <p:sp>
        <p:nvSpPr>
          <p:cNvPr id="4" name="Rectangle 1">
            <a:extLst>
              <a:ext uri="{FF2B5EF4-FFF2-40B4-BE49-F238E27FC236}">
                <a16:creationId xmlns:a16="http://schemas.microsoft.com/office/drawing/2014/main" id="{80632C9A-C248-038D-DAF1-309ABADFB3E1}"/>
              </a:ext>
            </a:extLst>
          </p:cNvPr>
          <p:cNvSpPr>
            <a:spLocks noGrp="1" noChangeArrowheads="1"/>
          </p:cNvSpPr>
          <p:nvPr>
            <p:ph idx="1"/>
          </p:nvPr>
        </p:nvSpPr>
        <p:spPr bwMode="auto">
          <a:xfrm>
            <a:off x="951470" y="1600638"/>
            <a:ext cx="1040233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Diminishing Returns:</a:t>
            </a:r>
            <a:r>
              <a:rPr kumimoji="0" lang="en-US" altLang="en-US" sz="1800" b="0" i="0" u="none" strike="noStrike" cap="none" normalizeH="0" baseline="0" dirty="0">
                <a:ln>
                  <a:noFill/>
                </a:ln>
                <a:solidFill>
                  <a:schemeClr val="tx1"/>
                </a:solidFill>
                <a:effectLst/>
                <a:latin typeface="Arial" panose="020B0604020202020204" pitchFamily="34" charset="0"/>
              </a:rPr>
              <a:t> The performance gain curve flattens. The first 1,000 examples give a huge boost; the next 1,000 give less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Ossification Risk:</a:t>
            </a:r>
            <a:r>
              <a:rPr kumimoji="0" lang="en-US" altLang="en-US" sz="1800" b="0" i="0" u="none" strike="noStrike" cap="none" normalizeH="0" baseline="0" dirty="0">
                <a:ln>
                  <a:noFill/>
                </a:ln>
                <a:solidFill>
                  <a:schemeClr val="tx1"/>
                </a:solidFill>
                <a:effectLst/>
                <a:latin typeface="Arial" panose="020B0604020202020204" pitchFamily="34" charset="0"/>
              </a:rPr>
              <a:t> Training on </a:t>
            </a:r>
            <a:r>
              <a:rPr kumimoji="0" lang="en-US" altLang="en-US" sz="1800" b="0" i="1" u="none" strike="noStrike" cap="none" normalizeH="0" baseline="0" dirty="0">
                <a:ln>
                  <a:noFill/>
                </a:ln>
                <a:solidFill>
                  <a:schemeClr val="tx1"/>
                </a:solidFill>
                <a:effectLst/>
                <a:latin typeface="Arial" panose="020B0604020202020204" pitchFamily="34" charset="0"/>
              </a:rPr>
              <a:t>too much</a:t>
            </a:r>
            <a:r>
              <a:rPr kumimoji="0" lang="en-US" altLang="en-US" sz="1800" b="0" i="0" u="none" strike="noStrike" cap="none" normalizeH="0" baseline="0" dirty="0">
                <a:ln>
                  <a:noFill/>
                </a:ln>
                <a:solidFill>
                  <a:schemeClr val="tx1"/>
                </a:solidFill>
                <a:effectLst/>
                <a:latin typeface="Arial" panose="020B0604020202020204" pitchFamily="34" charset="0"/>
              </a:rPr>
              <a:t> new data can cause the pre-trained model to "freeze" or degrade if the new data conflicts with pre-training.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Scaling Strategy:</a:t>
            </a:r>
            <a:r>
              <a:rPr kumimoji="0" lang="en-US" altLang="en-US" sz="1800" b="0" i="0" u="none" strike="noStrike" cap="none" normalizeH="0" baseline="0" dirty="0">
                <a:ln>
                  <a:noFill/>
                </a:ln>
                <a:solidFill>
                  <a:schemeClr val="tx1"/>
                </a:solidFill>
                <a:effectLst/>
                <a:latin typeface="Arial" panose="020B0604020202020204" pitchFamily="34" charset="0"/>
              </a:rPr>
              <a:t> Start with small experiments (50-100 examples). If performance improves steeply, invest in more data. If it stays flat, better data (not more) is needed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logarithmic curve showing "Accuracy" vs. "Number of Examples," flattening out as the number increases.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"How much data do you need? It follows a logarithmic curve. You get massive gains early on. But here is the danger: 'Ossification.' If you try to force-feed a model too much new data that contradicts its pre-training, you can actually damage it. Always run a pilot with 50 examples. If the curve is flat, stop. More data won't save you."</a:t>
            </a:r>
          </a:p>
        </p:txBody>
      </p:sp>
    </p:spTree>
    <p:extLst>
      <p:ext uri="{BB962C8B-B14F-4D97-AF65-F5344CB8AC3E}">
        <p14:creationId xmlns:p14="http://schemas.microsoft.com/office/powerpoint/2010/main" val="18239119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303BF-3C3D-38C3-E03B-839C5DADBC7C}"/>
              </a:ext>
            </a:extLst>
          </p:cNvPr>
          <p:cNvSpPr>
            <a:spLocks noGrp="1"/>
          </p:cNvSpPr>
          <p:nvPr>
            <p:ph type="title"/>
          </p:nvPr>
        </p:nvSpPr>
        <p:spPr/>
        <p:txBody>
          <a:bodyPr/>
          <a:lstStyle/>
          <a:p>
            <a:pPr algn="ctr"/>
            <a:r>
              <a:rPr lang="en-IN" b="1" dirty="0"/>
              <a:t>Data Acquisition Strategies</a:t>
            </a:r>
            <a:endParaRPr lang="en-US" b="1" dirty="0"/>
          </a:p>
        </p:txBody>
      </p:sp>
      <p:sp>
        <p:nvSpPr>
          <p:cNvPr id="4" name="Rectangle 1">
            <a:extLst>
              <a:ext uri="{FF2B5EF4-FFF2-40B4-BE49-F238E27FC236}">
                <a16:creationId xmlns:a16="http://schemas.microsoft.com/office/drawing/2014/main" id="{A0789E55-F018-D937-9893-92E0FA597D31}"/>
              </a:ext>
            </a:extLst>
          </p:cNvPr>
          <p:cNvSpPr>
            <a:spLocks noGrp="1" noChangeArrowheads="1"/>
          </p:cNvSpPr>
          <p:nvPr>
            <p:ph idx="1"/>
          </p:nvPr>
        </p:nvSpPr>
        <p:spPr bwMode="auto">
          <a:xfrm>
            <a:off x="1149178" y="1462140"/>
            <a:ext cx="10204622"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Public Data:</a:t>
            </a:r>
            <a:r>
              <a:rPr kumimoji="0" lang="en-US" altLang="en-US" sz="1800" b="0" i="0" u="none" strike="noStrike" cap="none" normalizeH="0" baseline="0" dirty="0">
                <a:ln>
                  <a:noFill/>
                </a:ln>
                <a:solidFill>
                  <a:schemeClr val="tx1"/>
                </a:solidFill>
                <a:effectLst/>
                <a:latin typeface="Arial" panose="020B0604020202020204" pitchFamily="34" charset="0"/>
              </a:rPr>
              <a:t> Hugging Face, Kaggle, </a:t>
            </a:r>
            <a:r>
              <a:rPr kumimoji="0" lang="en-US" altLang="en-US" sz="1800" b="0" i="0" u="none" strike="noStrike" cap="none" normalizeH="0" baseline="0" dirty="0" err="1">
                <a:ln>
                  <a:noFill/>
                </a:ln>
                <a:solidFill>
                  <a:schemeClr val="tx1"/>
                </a:solidFill>
                <a:effectLst/>
                <a:latin typeface="Arial" panose="020B0604020202020204" pitchFamily="34" charset="0"/>
              </a:rPr>
              <a:t>Data.gov</a:t>
            </a:r>
            <a:r>
              <a:rPr kumimoji="0" lang="en-US" altLang="en-US" sz="1800" b="0" i="0" u="none" strike="noStrike" cap="none" normalizeH="0" baseline="0" dirty="0">
                <a:ln>
                  <a:noFill/>
                </a:ln>
                <a:solidFill>
                  <a:schemeClr val="tx1"/>
                </a:solidFill>
                <a:effectLst/>
                <a:latin typeface="Arial" panose="020B0604020202020204" pitchFamily="34" charset="0"/>
              </a:rPr>
              <a:t>. Great for starting, but requires heavy cleaning .</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Flywheel:</a:t>
            </a:r>
            <a:r>
              <a:rPr kumimoji="0" lang="en-US" altLang="en-US" sz="1800" b="0" i="0" u="none" strike="noStrike" cap="none" normalizeH="0" baseline="0" dirty="0">
                <a:ln>
                  <a:noFill/>
                </a:ln>
                <a:solidFill>
                  <a:schemeClr val="tx1"/>
                </a:solidFill>
                <a:effectLst/>
                <a:latin typeface="Arial" panose="020B0604020202020204" pitchFamily="34" charset="0"/>
              </a:rPr>
              <a:t> Using your own application's user data. This is the "Gold Standard" because it perfectly matches your distribution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Annotation:</a:t>
            </a:r>
            <a:r>
              <a:rPr kumimoji="0" lang="en-US" altLang="en-US" sz="1800" b="0" i="0" u="none" strike="noStrike" cap="none" normalizeH="0" baseline="0" dirty="0">
                <a:ln>
                  <a:noFill/>
                </a:ln>
                <a:solidFill>
                  <a:schemeClr val="tx1"/>
                </a:solidFill>
                <a:effectLst/>
                <a:latin typeface="Arial" panose="020B0604020202020204" pitchFamily="34" charset="0"/>
              </a:rPr>
              <a:t> Hard to scale. Annotator fatigue leads to lower quality in the second half of sessions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Synthesis:</a:t>
            </a:r>
            <a:r>
              <a:rPr kumimoji="0" lang="en-US" altLang="en-US" sz="1800" b="0" i="0" u="none" strike="noStrike" cap="none" normalizeH="0" baseline="0" dirty="0">
                <a:ln>
                  <a:noFill/>
                </a:ln>
                <a:solidFill>
                  <a:schemeClr val="tx1"/>
                </a:solidFill>
                <a:effectLst/>
                <a:latin typeface="Arial" panose="020B0604020202020204" pitchFamily="34" charset="0"/>
              </a:rPr>
              <a:t> The scalable alternative (discussed next).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pyramid of data sources. Base: "Public Data" (Abundant, noisy). Middle: "Synthetic Data" (Scalable, clean). Tip: "User Data" (Scarce, high-value).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"Where do we get data? Public datasets are the starting point, but they are messy. The Holy Grail is the 'Data Flywheel'—using your own users' logs. That data is exactly what your model needs to learn. But for most of us starting out, we don't have users yet. That brings us to the most scalable strategy: Synthesis."</a:t>
            </a:r>
          </a:p>
        </p:txBody>
      </p:sp>
    </p:spTree>
    <p:extLst>
      <p:ext uri="{BB962C8B-B14F-4D97-AF65-F5344CB8AC3E}">
        <p14:creationId xmlns:p14="http://schemas.microsoft.com/office/powerpoint/2010/main" val="1216485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A038AA-9DB1-D9E9-3076-A2B1CAEF1914}"/>
              </a:ext>
            </a:extLst>
          </p:cNvPr>
          <p:cNvSpPr>
            <a:spLocks noGrp="1"/>
          </p:cNvSpPr>
          <p:nvPr>
            <p:ph type="title"/>
          </p:nvPr>
        </p:nvSpPr>
        <p:spPr/>
        <p:txBody>
          <a:bodyPr/>
          <a:lstStyle/>
          <a:p>
            <a:r>
              <a:rPr lang="en-IN" b="1" dirty="0"/>
              <a:t>Traditional Synthesis (Rules &amp; Simulation)</a:t>
            </a:r>
            <a:endParaRPr lang="en-US" b="1" dirty="0"/>
          </a:p>
        </p:txBody>
      </p:sp>
      <p:sp>
        <p:nvSpPr>
          <p:cNvPr id="4" name="Rectangle 1">
            <a:extLst>
              <a:ext uri="{FF2B5EF4-FFF2-40B4-BE49-F238E27FC236}">
                <a16:creationId xmlns:a16="http://schemas.microsoft.com/office/drawing/2014/main" id="{45A2576E-3813-B317-32D7-C3BBB5265ACB}"/>
              </a:ext>
            </a:extLst>
          </p:cNvPr>
          <p:cNvSpPr>
            <a:spLocks noGrp="1" noChangeArrowheads="1"/>
          </p:cNvSpPr>
          <p:nvPr>
            <p:ph idx="1"/>
          </p:nvPr>
        </p:nvSpPr>
        <p:spPr bwMode="auto">
          <a:xfrm>
            <a:off x="1050324" y="1600638"/>
            <a:ext cx="10303475"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Rule-Based:</a:t>
            </a:r>
            <a:r>
              <a:rPr kumimoji="0" lang="en-US" altLang="en-US" sz="1800" b="0" i="0" u="none" strike="noStrike" cap="none" normalizeH="0" baseline="0" dirty="0">
                <a:ln>
                  <a:noFill/>
                </a:ln>
                <a:solidFill>
                  <a:schemeClr val="tx1"/>
                </a:solidFill>
                <a:effectLst/>
                <a:latin typeface="Arial" panose="020B0604020202020204" pitchFamily="34" charset="0"/>
              </a:rPr>
              <a:t> Using templates (e.g., Faker libraries) to generate credit card transactions or invoices. Useful for formatting tasks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Perturbation:</a:t>
            </a:r>
            <a:r>
              <a:rPr kumimoji="0" lang="en-US" altLang="en-US" sz="1800" b="0" i="0" u="none" strike="noStrike" cap="none" normalizeH="0" baseline="0" dirty="0">
                <a:ln>
                  <a:noFill/>
                </a:ln>
                <a:solidFill>
                  <a:schemeClr val="tx1"/>
                </a:solidFill>
                <a:effectLst/>
                <a:latin typeface="Arial" panose="020B0604020202020204" pitchFamily="34" charset="0"/>
              </a:rPr>
              <a:t> Flipping images, adding noise, or swapping words (e.g., "nurse" -&gt; "doctor") to improve robustness and reduce bias.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Simulation:</a:t>
            </a:r>
            <a:r>
              <a:rPr kumimoji="0" lang="en-US" altLang="en-US" sz="1800" b="0" i="0" u="none" strike="noStrike" cap="none" normalizeH="0" baseline="0" dirty="0">
                <a:ln>
                  <a:noFill/>
                </a:ln>
                <a:solidFill>
                  <a:schemeClr val="tx1"/>
                </a:solidFill>
                <a:effectLst/>
                <a:latin typeface="Arial" panose="020B0604020202020204" pitchFamily="34" charset="0"/>
              </a:rPr>
              <a:t> Creating virtual environments (e.g., Unity/Unreal) for robotics or self-driving cars to capture rare events like accidents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"Before/After" image. </a:t>
            </a:r>
            <a:r>
              <a:rPr kumimoji="0" lang="en-US" altLang="en-US" sz="1800" b="1" i="0" u="none" strike="noStrike" cap="none" normalizeH="0" baseline="0" dirty="0">
                <a:ln>
                  <a:noFill/>
                </a:ln>
                <a:solidFill>
                  <a:schemeClr val="tx1"/>
                </a:solidFill>
                <a:effectLst/>
                <a:latin typeface="Arial" panose="020B0604020202020204" pitchFamily="34" charset="0"/>
              </a:rPr>
              <a:t>Left:</a:t>
            </a:r>
            <a:r>
              <a:rPr kumimoji="0" lang="en-US" altLang="en-US" sz="1800" b="0" i="0" u="none" strike="noStrike" cap="none" normalizeH="0" baseline="0" dirty="0">
                <a:ln>
                  <a:noFill/>
                </a:ln>
                <a:solidFill>
                  <a:schemeClr val="tx1"/>
                </a:solidFill>
                <a:effectLst/>
                <a:latin typeface="Arial" panose="020B0604020202020204" pitchFamily="34" charset="0"/>
              </a:rPr>
              <a:t> A pristine image of a car. </a:t>
            </a:r>
            <a:r>
              <a:rPr kumimoji="0" lang="en-US" altLang="en-US" sz="1800" b="1" i="0" u="none" strike="noStrike" cap="none" normalizeH="0" baseline="0" dirty="0">
                <a:ln>
                  <a:noFill/>
                </a:ln>
                <a:solidFill>
                  <a:schemeClr val="tx1"/>
                </a:solidFill>
                <a:effectLst/>
                <a:latin typeface="Arial" panose="020B0604020202020204" pitchFamily="34" charset="0"/>
              </a:rPr>
              <a:t>Right:</a:t>
            </a:r>
            <a:r>
              <a:rPr kumimoji="0" lang="en-US" altLang="en-US" sz="1800" b="0" i="0" u="none" strike="noStrike" cap="none" normalizeH="0" baseline="0" dirty="0">
                <a:ln>
                  <a:noFill/>
                </a:ln>
                <a:solidFill>
                  <a:schemeClr val="tx1"/>
                </a:solidFill>
                <a:effectLst/>
                <a:latin typeface="Arial" panose="020B0604020202020204" pitchFamily="34" charset="0"/>
              </a:rPr>
              <a:t> The same image rotated, with noise added, and color shifted (Perturbation).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"Before AI generated data, we used rules and simulations. We rotated images to teach models that a cat is still a cat when upside down. We built video game worlds to crash virtual cars so real ones wouldn't. These methods are still vital for robustness and structure, but they lack the linguistic nuance of modern AI."</a:t>
            </a:r>
          </a:p>
        </p:txBody>
      </p:sp>
    </p:spTree>
    <p:extLst>
      <p:ext uri="{BB962C8B-B14F-4D97-AF65-F5344CB8AC3E}">
        <p14:creationId xmlns:p14="http://schemas.microsoft.com/office/powerpoint/2010/main" val="12841097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CE0E4-7763-4AF3-1A4E-04061430F560}"/>
              </a:ext>
            </a:extLst>
          </p:cNvPr>
          <p:cNvSpPr>
            <a:spLocks noGrp="1"/>
          </p:cNvSpPr>
          <p:nvPr>
            <p:ph type="title"/>
          </p:nvPr>
        </p:nvSpPr>
        <p:spPr/>
        <p:txBody>
          <a:bodyPr/>
          <a:lstStyle/>
          <a:p>
            <a:r>
              <a:rPr lang="en-IN" b="1" dirty="0"/>
              <a:t>AI-Powered Synthesis: The New Standard</a:t>
            </a:r>
            <a:endParaRPr lang="en-US" b="1" dirty="0"/>
          </a:p>
        </p:txBody>
      </p:sp>
      <p:sp>
        <p:nvSpPr>
          <p:cNvPr id="4" name="Rectangle 1">
            <a:extLst>
              <a:ext uri="{FF2B5EF4-FFF2-40B4-BE49-F238E27FC236}">
                <a16:creationId xmlns:a16="http://schemas.microsoft.com/office/drawing/2014/main" id="{30D40DE2-B804-7550-A8A6-4E20723127B8}"/>
              </a:ext>
            </a:extLst>
          </p:cNvPr>
          <p:cNvSpPr>
            <a:spLocks noGrp="1" noChangeArrowheads="1"/>
          </p:cNvSpPr>
          <p:nvPr>
            <p:ph idx="1"/>
          </p:nvPr>
        </p:nvSpPr>
        <p:spPr bwMode="auto">
          <a:xfrm>
            <a:off x="1285103" y="1600638"/>
            <a:ext cx="10068697"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Why use AI?</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Consistency:</a:t>
            </a:r>
            <a:r>
              <a:rPr kumimoji="0" lang="en-US" altLang="en-US" sz="1800" b="0" i="0" u="none" strike="noStrike" cap="none" normalizeH="0" baseline="0" dirty="0">
                <a:ln>
                  <a:noFill/>
                </a:ln>
                <a:solidFill>
                  <a:schemeClr val="tx1"/>
                </a:solidFill>
                <a:effectLst/>
                <a:latin typeface="Arial" panose="020B0604020202020204" pitchFamily="34" charset="0"/>
              </a:rPr>
              <a:t> AI judges don't get tired or moody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Privacy:</a:t>
            </a:r>
            <a:r>
              <a:rPr kumimoji="0" lang="en-US" altLang="en-US" sz="1800" b="0" i="0" u="none" strike="noStrike" cap="none" normalizeH="0" baseline="0" dirty="0">
                <a:ln>
                  <a:noFill/>
                </a:ln>
                <a:solidFill>
                  <a:schemeClr val="tx1"/>
                </a:solidFill>
                <a:effectLst/>
                <a:latin typeface="Arial" panose="020B0604020202020204" pitchFamily="34" charset="0"/>
              </a:rPr>
              <a:t> Generate synthetic medical records without PII .</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Edge Cases:</a:t>
            </a:r>
            <a:r>
              <a:rPr kumimoji="0" lang="en-US" altLang="en-US" sz="1800" b="0" i="0" u="none" strike="noStrike" cap="none" normalizeH="0" baseline="0" dirty="0">
                <a:ln>
                  <a:noFill/>
                </a:ln>
                <a:solidFill>
                  <a:schemeClr val="tx1"/>
                </a:solidFill>
                <a:effectLst/>
                <a:latin typeface="Arial" panose="020B0604020202020204" pitchFamily="34" charset="0"/>
              </a:rPr>
              <a:t> AI can generate "improbable" scenarios that rarely happen in real life.</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Self-Play:</a:t>
            </a:r>
            <a:r>
              <a:rPr kumimoji="0" lang="en-US" altLang="en-US" sz="1800" b="0" i="0" u="none" strike="noStrike" cap="none" normalizeH="0" baseline="0" dirty="0">
                <a:ln>
                  <a:noFill/>
                </a:ln>
                <a:solidFill>
                  <a:schemeClr val="tx1"/>
                </a:solidFill>
                <a:effectLst/>
                <a:latin typeface="Arial" panose="020B0604020202020204" pitchFamily="34" charset="0"/>
              </a:rPr>
              <a:t> Models debating or playing against themselves to discover strategies humans miss (e.g., AlphaGo)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graphic showing two robot icons talking to each other, generating a transcript labeled "Synthetic Dataset.”</a:t>
            </a:r>
            <a:br>
              <a:rPr kumimoji="0" lang="en-US" altLang="en-US" sz="1800" b="0" i="0" u="none" strike="noStrike" cap="none" normalizeH="0" baseline="0" dirty="0">
                <a:ln>
                  <a:noFill/>
                </a:ln>
                <a:solidFill>
                  <a:schemeClr val="tx1"/>
                </a:solidFill>
                <a:effectLst/>
                <a:latin typeface="Arial" panose="020B0604020202020204" pitchFamily="34" charset="0"/>
              </a:rPr>
            </a:b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"Now, we use AI to teach AI. Why? Because AI is consistent. It doesn't get tired after lunch. It can generate medical records that look real but contain no real patient data. And through 'Self-Play,' it can discover strategies no human has ever thought of. This is how AlphaGo won, and it's how we build robust reasoning models today."</a:t>
            </a:r>
          </a:p>
        </p:txBody>
      </p:sp>
    </p:spTree>
    <p:extLst>
      <p:ext uri="{BB962C8B-B14F-4D97-AF65-F5344CB8AC3E}">
        <p14:creationId xmlns:p14="http://schemas.microsoft.com/office/powerpoint/2010/main" val="16754607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5C2FE-D7D9-D081-1AA6-A87AD59AC9FA}"/>
              </a:ext>
            </a:extLst>
          </p:cNvPr>
          <p:cNvSpPr>
            <a:spLocks noGrp="1"/>
          </p:cNvSpPr>
          <p:nvPr>
            <p:ph type="title"/>
          </p:nvPr>
        </p:nvSpPr>
        <p:spPr/>
        <p:txBody>
          <a:bodyPr/>
          <a:lstStyle/>
          <a:p>
            <a:pPr algn="ctr"/>
            <a:r>
              <a:rPr lang="en-IN" b="1" dirty="0"/>
              <a:t>Instruction Data Synthesis</a:t>
            </a:r>
            <a:endParaRPr lang="en-US" b="1" dirty="0"/>
          </a:p>
        </p:txBody>
      </p:sp>
      <p:sp>
        <p:nvSpPr>
          <p:cNvPr id="4" name="Rectangle 1">
            <a:extLst>
              <a:ext uri="{FF2B5EF4-FFF2-40B4-BE49-F238E27FC236}">
                <a16:creationId xmlns:a16="http://schemas.microsoft.com/office/drawing/2014/main" id="{4D0DF3A5-48B2-253C-8951-A978EACDB41A}"/>
              </a:ext>
            </a:extLst>
          </p:cNvPr>
          <p:cNvSpPr>
            <a:spLocks noGrp="1" noChangeArrowheads="1"/>
          </p:cNvSpPr>
          <p:nvPr>
            <p:ph idx="1"/>
          </p:nvPr>
        </p:nvSpPr>
        <p:spPr bwMode="auto">
          <a:xfrm>
            <a:off x="1383957" y="1623722"/>
            <a:ext cx="9969843" cy="4755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Self-Instruct:</a:t>
            </a:r>
            <a:r>
              <a:rPr kumimoji="0" lang="en-US" altLang="en-US" sz="1800" b="0" i="0" u="none" strike="noStrike" cap="none" normalizeH="0" baseline="0" dirty="0">
                <a:ln>
                  <a:noFill/>
                </a:ln>
                <a:solidFill>
                  <a:schemeClr val="tx1"/>
                </a:solidFill>
                <a:effectLst/>
                <a:latin typeface="Google Sans Text"/>
              </a:rPr>
              <a:t> Taking a seed of 175 human examples and using GPT-3 to generate 52,000 similar examples (used for Alpaca)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Reverse Instruction:</a:t>
            </a:r>
            <a:r>
              <a:rPr kumimoji="0" lang="en-US" altLang="en-US" sz="1800" b="0" i="0" u="none" strike="noStrike" cap="none" normalizeH="0" baseline="0" dirty="0">
                <a:ln>
                  <a:noFill/>
                </a:ln>
                <a:solidFill>
                  <a:schemeClr val="tx1"/>
                </a:solidFill>
                <a:effectLst/>
                <a:latin typeface="Google Sans Text"/>
              </a:rPr>
              <a:t> Taking a high-quality snippet (e.g., a book passage) and asking AI, "Write a prompt that would produce this response"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Benefit:</a:t>
            </a:r>
            <a:r>
              <a:rPr kumimoji="0" lang="en-US" altLang="en-US" sz="1800" b="0" i="0" u="none" strike="noStrike" cap="none" normalizeH="0" baseline="0" dirty="0">
                <a:ln>
                  <a:noFill/>
                </a:ln>
                <a:solidFill>
                  <a:schemeClr val="tx1"/>
                </a:solidFill>
                <a:effectLst/>
                <a:latin typeface="Google Sans Text"/>
              </a:rPr>
              <a:t> Allows you to leverage existing high-quality corpora (Wikipedia, Textbooks) to create training pairs.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Visual Suggestion:</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A flow diagram: </a:t>
            </a:r>
            <a:r>
              <a:rPr kumimoji="0" lang="en-US" altLang="en-US" sz="1800" b="1" i="0" u="none" strike="noStrike" cap="none" normalizeH="0" baseline="0" dirty="0">
                <a:ln>
                  <a:noFill/>
                </a:ln>
                <a:solidFill>
                  <a:schemeClr val="tx1"/>
                </a:solidFill>
                <a:effectLst/>
                <a:latin typeface="Google Sans Text"/>
              </a:rPr>
              <a:t>Seed Data (175)</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rightarrow</a:t>
            </a:r>
            <a:r>
              <a:rPr kumimoji="0" lang="en-US" altLang="en-US" sz="1800" b="0" i="0" u="none" strike="noStrike" cap="none" normalizeH="0" baseline="0" dirty="0">
                <a:ln>
                  <a:noFill/>
                </a:ln>
                <a:solidFill>
                  <a:schemeClr val="tx1"/>
                </a:solidFill>
                <a:effectLst/>
                <a:latin typeface="Google Sans Text"/>
              </a:rPr>
              <a:t>$ </a:t>
            </a:r>
            <a:r>
              <a:rPr kumimoji="0" lang="en-US" altLang="en-US" sz="1800" b="1" i="0" u="none" strike="noStrike" cap="none" normalizeH="0" baseline="0" dirty="0">
                <a:ln>
                  <a:noFill/>
                </a:ln>
                <a:solidFill>
                  <a:schemeClr val="tx1"/>
                </a:solidFill>
                <a:effectLst/>
                <a:latin typeface="Google Sans Text"/>
              </a:rPr>
              <a:t>AI Generator</a:t>
            </a:r>
            <a:r>
              <a:rPr kumimoji="0" lang="en-US" altLang="en-US" sz="1800" b="0" i="0" u="none" strike="noStrike" cap="none" normalizeH="0" baseline="0" dirty="0">
                <a:ln>
                  <a:noFill/>
                </a:ln>
                <a:solidFill>
                  <a:schemeClr val="tx1"/>
                </a:solidFill>
                <a:effectLst/>
                <a:latin typeface="Google Sans Text"/>
              </a:rPr>
              <a:t> $\</a:t>
            </a:r>
            <a:r>
              <a:rPr kumimoji="0" lang="en-US" altLang="en-US" sz="1800" b="0" i="0" u="none" strike="noStrike" cap="none" normalizeH="0" baseline="0" dirty="0" err="1">
                <a:ln>
                  <a:noFill/>
                </a:ln>
                <a:solidFill>
                  <a:schemeClr val="tx1"/>
                </a:solidFill>
                <a:effectLst/>
                <a:latin typeface="Google Sans Text"/>
              </a:rPr>
              <a:t>rightarrow</a:t>
            </a:r>
            <a:r>
              <a:rPr kumimoji="0" lang="en-US" altLang="en-US" sz="1800" b="0" i="0" u="none" strike="noStrike" cap="none" normalizeH="0" baseline="0" dirty="0">
                <a:ln>
                  <a:noFill/>
                </a:ln>
                <a:solidFill>
                  <a:schemeClr val="tx1"/>
                </a:solidFill>
                <a:effectLst/>
                <a:latin typeface="Google Sans Text"/>
              </a:rPr>
              <a:t>$ </a:t>
            </a:r>
            <a:r>
              <a:rPr kumimoji="0" lang="en-US" altLang="en-US" sz="1800" b="1" i="0" u="none" strike="noStrike" cap="none" normalizeH="0" baseline="0" dirty="0">
                <a:ln>
                  <a:noFill/>
                </a:ln>
                <a:solidFill>
                  <a:schemeClr val="tx1"/>
                </a:solidFill>
                <a:effectLst/>
                <a:latin typeface="Google Sans Text"/>
              </a:rPr>
              <a:t>Massive Dataset (52k)</a:t>
            </a:r>
            <a:r>
              <a:rPr kumimoji="0" lang="en-US" altLang="en-US" sz="1800" b="0" i="0" u="none" strike="noStrike" cap="none" normalizeH="0" baseline="0" dirty="0">
                <a:ln>
                  <a:noFill/>
                </a:ln>
                <a:solidFill>
                  <a:schemeClr val="tx1"/>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Speaker Notes:</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"How do we get 50,000 instruction pairs? We cheat. We take 175 good human examples and ask GPT-4: 'Write me more like these.' This is 'Self-Instruct.' Or we take a textbook page and ask: 'What question is this the answer to?' That's 'Reverse Instruction.' It turns the entire internet into a training set."</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956645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E8044-CC2F-BDB7-E62A-597504F9BAF4}"/>
              </a:ext>
            </a:extLst>
          </p:cNvPr>
          <p:cNvSpPr>
            <a:spLocks noGrp="1"/>
          </p:cNvSpPr>
          <p:nvPr>
            <p:ph type="title"/>
          </p:nvPr>
        </p:nvSpPr>
        <p:spPr/>
        <p:txBody>
          <a:bodyPr/>
          <a:lstStyle/>
          <a:p>
            <a:r>
              <a:rPr lang="en-IN" b="1" dirty="0"/>
              <a:t>Advanced Synthesis: Code &amp; Translation</a:t>
            </a:r>
            <a:endParaRPr lang="en-US" b="1" dirty="0"/>
          </a:p>
        </p:txBody>
      </p:sp>
      <p:sp>
        <p:nvSpPr>
          <p:cNvPr id="4" name="Rectangle 1">
            <a:extLst>
              <a:ext uri="{FF2B5EF4-FFF2-40B4-BE49-F238E27FC236}">
                <a16:creationId xmlns:a16="http://schemas.microsoft.com/office/drawing/2014/main" id="{E99410D9-C12C-96A1-36AB-A57176E2050B}"/>
              </a:ext>
            </a:extLst>
          </p:cNvPr>
          <p:cNvSpPr>
            <a:spLocks noGrp="1" noChangeArrowheads="1"/>
          </p:cNvSpPr>
          <p:nvPr>
            <p:ph idx="1"/>
          </p:nvPr>
        </p:nvSpPr>
        <p:spPr bwMode="auto">
          <a:xfrm>
            <a:off x="617838" y="1623722"/>
            <a:ext cx="10735961" cy="4755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Code Translation:</a:t>
            </a:r>
            <a:r>
              <a:rPr kumimoji="0" lang="en-US" altLang="en-US" sz="1800" b="0" i="0" u="none" strike="noStrike" cap="none" normalizeH="0" baseline="0" dirty="0">
                <a:ln>
                  <a:noFill/>
                </a:ln>
                <a:solidFill>
                  <a:schemeClr val="tx1"/>
                </a:solidFill>
                <a:effectLst/>
                <a:latin typeface="Google Sans Text"/>
              </a:rPr>
              <a:t> Converting Python solutions to C++ or Java to increase language diversity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Back-Translation:</a:t>
            </a:r>
            <a:endParaRPr kumimoji="0" lang="en-US" altLang="en-US" sz="18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Google Sans Text"/>
              </a:rPr>
              <a:t>Translate English -&gt; Lao.</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Google Sans Text"/>
              </a:rPr>
              <a:t>Translate Lao -&gt; English.</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0" i="0" u="none" strike="noStrike" cap="none" normalizeH="0" baseline="0" dirty="0">
                <a:ln>
                  <a:noFill/>
                </a:ln>
                <a:solidFill>
                  <a:schemeClr val="tx1"/>
                </a:solidFill>
                <a:effectLst/>
                <a:latin typeface="Google Sans Text"/>
              </a:rPr>
              <a:t>Compare original to back-translation to verify quality.</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Llama 3 Use Case:</a:t>
            </a:r>
            <a:r>
              <a:rPr kumimoji="0" lang="en-US" altLang="en-US" sz="1800" b="0" i="0" u="none" strike="noStrike" cap="none" normalizeH="0" baseline="0" dirty="0">
                <a:ln>
                  <a:noFill/>
                </a:ln>
                <a:solidFill>
                  <a:schemeClr val="tx1"/>
                </a:solidFill>
                <a:effectLst/>
                <a:latin typeface="Google Sans Text"/>
              </a:rPr>
              <a:t> Used back-translation to generate code documentation and verify its accuracy.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Visual Suggestion:</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A circular arrow diagram: </a:t>
            </a:r>
            <a:r>
              <a:rPr kumimoji="0" lang="en-US" altLang="en-US" sz="1800" b="1" i="0" u="none" strike="noStrike" cap="none" normalizeH="0" baseline="0" dirty="0">
                <a:ln>
                  <a:noFill/>
                </a:ln>
                <a:solidFill>
                  <a:schemeClr val="tx1"/>
                </a:solidFill>
                <a:effectLst/>
                <a:latin typeface="Google Sans Text"/>
              </a:rPr>
              <a:t>English</a:t>
            </a:r>
            <a:r>
              <a:rPr kumimoji="0" lang="en-US" altLang="en-US" sz="1800" b="0" i="0" u="none" strike="noStrike" cap="none" normalizeH="0" baseline="0" dirty="0">
                <a:ln>
                  <a:noFill/>
                </a:ln>
                <a:solidFill>
                  <a:schemeClr val="tx1"/>
                </a:solidFill>
                <a:effectLst/>
                <a:latin typeface="Google Sans Text"/>
              </a:rPr>
              <a:t> -&gt; </a:t>
            </a:r>
            <a:r>
              <a:rPr kumimoji="0" lang="en-US" altLang="en-US" sz="1800" b="1" i="0" u="none" strike="noStrike" cap="none" normalizeH="0" baseline="0" dirty="0">
                <a:ln>
                  <a:noFill/>
                </a:ln>
                <a:solidFill>
                  <a:schemeClr val="tx1"/>
                </a:solidFill>
                <a:effectLst/>
                <a:latin typeface="Google Sans Text"/>
              </a:rPr>
              <a:t>Target Language</a:t>
            </a:r>
            <a:r>
              <a:rPr kumimoji="0" lang="en-US" altLang="en-US" sz="1800" b="0" i="0" u="none" strike="noStrike" cap="none" normalizeH="0" baseline="0" dirty="0">
                <a:ln>
                  <a:noFill/>
                </a:ln>
                <a:solidFill>
                  <a:schemeClr val="tx1"/>
                </a:solidFill>
                <a:effectLst/>
                <a:latin typeface="Google Sans Text"/>
              </a:rPr>
              <a:t> -&gt; </a:t>
            </a:r>
            <a:r>
              <a:rPr kumimoji="0" lang="en-US" altLang="en-US" sz="1800" b="1" i="0" u="none" strike="noStrike" cap="none" normalizeH="0" baseline="0" dirty="0">
                <a:ln>
                  <a:noFill/>
                </a:ln>
                <a:solidFill>
                  <a:schemeClr val="tx1"/>
                </a:solidFill>
                <a:effectLst/>
                <a:latin typeface="Google Sans Text"/>
              </a:rPr>
              <a:t>English</a:t>
            </a:r>
            <a:r>
              <a:rPr kumimoji="0" lang="en-US" altLang="en-US" sz="1800" b="0" i="0" u="none" strike="noStrike" cap="none" normalizeH="0" baseline="0" dirty="0">
                <a:ln>
                  <a:noFill/>
                </a:ln>
                <a:solidFill>
                  <a:schemeClr val="tx1"/>
                </a:solidFill>
                <a:effectLst/>
                <a:latin typeface="Google Sans Text"/>
              </a:rPr>
              <a:t>. A checkmark indicates "Quality Verified.”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Speaker Notes:</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"Llama 3 was built on a mountain of synthetic code. They took Python solutions and had AI translate them into Java and C++. To check quality, they used 'Back-Translation'—translating it back to the original to see if the meaning survived. This ensures the model learns the </a:t>
            </a:r>
            <a:r>
              <a:rPr kumimoji="0" lang="en-US" altLang="en-US" sz="1800" b="0" i="1" u="none" strike="noStrike" cap="none" normalizeH="0" baseline="0" dirty="0">
                <a:ln>
                  <a:noFill/>
                </a:ln>
                <a:solidFill>
                  <a:schemeClr val="tx1"/>
                </a:solidFill>
                <a:effectLst/>
                <a:latin typeface="Google Sans Text"/>
              </a:rPr>
              <a:t>logic</a:t>
            </a:r>
            <a:r>
              <a:rPr kumimoji="0" lang="en-US" altLang="en-US" sz="1800" b="0" i="0" u="none" strike="noStrike" cap="none" normalizeH="0" baseline="0" dirty="0">
                <a:ln>
                  <a:noFill/>
                </a:ln>
                <a:solidFill>
                  <a:schemeClr val="tx1"/>
                </a:solidFill>
                <a:effectLst/>
                <a:latin typeface="Google Sans Text"/>
              </a:rPr>
              <a:t> of coding, not just the syntax of one language."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62248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FBAF9-3B29-421C-FD9A-9649B10B3026}"/>
              </a:ext>
            </a:extLst>
          </p:cNvPr>
          <p:cNvSpPr>
            <a:spLocks noGrp="1"/>
          </p:cNvSpPr>
          <p:nvPr>
            <p:ph type="title"/>
          </p:nvPr>
        </p:nvSpPr>
        <p:spPr/>
        <p:txBody>
          <a:bodyPr/>
          <a:lstStyle/>
          <a:p>
            <a:r>
              <a:rPr lang="en-IN" b="1" dirty="0"/>
              <a:t>Case Study: Llama 3's Coding Pipeline (Generation)</a:t>
            </a:r>
            <a:endParaRPr lang="en-US" b="1" dirty="0"/>
          </a:p>
        </p:txBody>
      </p:sp>
      <p:sp>
        <p:nvSpPr>
          <p:cNvPr id="4" name="Rectangle 1">
            <a:extLst>
              <a:ext uri="{FF2B5EF4-FFF2-40B4-BE49-F238E27FC236}">
                <a16:creationId xmlns:a16="http://schemas.microsoft.com/office/drawing/2014/main" id="{03FF7A28-C47D-A991-0B61-72527ABB8670}"/>
              </a:ext>
            </a:extLst>
          </p:cNvPr>
          <p:cNvSpPr>
            <a:spLocks noGrp="1" noChangeArrowheads="1"/>
          </p:cNvSpPr>
          <p:nvPr>
            <p:ph idx="1"/>
          </p:nvPr>
        </p:nvSpPr>
        <p:spPr bwMode="auto">
          <a:xfrm>
            <a:off x="1186249" y="1762222"/>
            <a:ext cx="10167551" cy="4478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Step 1:</a:t>
            </a:r>
            <a:r>
              <a:rPr kumimoji="0" lang="en-US" altLang="en-US" sz="1800" b="0" i="0" u="none" strike="noStrike" cap="none" normalizeH="0" baseline="0" dirty="0">
                <a:ln>
                  <a:noFill/>
                </a:ln>
                <a:solidFill>
                  <a:schemeClr val="tx1"/>
                </a:solidFill>
                <a:effectLst/>
                <a:latin typeface="Google Sans Text"/>
              </a:rPr>
              <a:t> Generate problem descriptions across diverse topics.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Step 2:</a:t>
            </a:r>
            <a:r>
              <a:rPr kumimoji="0" lang="en-US" altLang="en-US" sz="1800" b="0" i="0" u="none" strike="noStrike" cap="none" normalizeH="0" baseline="0" dirty="0">
                <a:ln>
                  <a:noFill/>
                </a:ln>
                <a:solidFill>
                  <a:schemeClr val="tx1"/>
                </a:solidFill>
                <a:effectLst/>
                <a:latin typeface="Google Sans Text"/>
              </a:rPr>
              <a:t> Generate solutions in multiple programming languages.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Step 3:</a:t>
            </a:r>
            <a:r>
              <a:rPr kumimoji="0" lang="en-US" altLang="en-US" sz="1800" b="0" i="0" u="none" strike="noStrike" cap="none" normalizeH="0" baseline="0" dirty="0">
                <a:ln>
                  <a:noFill/>
                </a:ln>
                <a:solidFill>
                  <a:schemeClr val="tx1"/>
                </a:solidFill>
                <a:effectLst/>
                <a:latin typeface="Google Sans Text"/>
              </a:rPr>
              <a:t> Generate </a:t>
            </a:r>
            <a:r>
              <a:rPr kumimoji="0" lang="en-US" altLang="en-US" sz="1800" b="1" i="0" u="none" strike="noStrike" cap="none" normalizeH="0" baseline="0" dirty="0">
                <a:ln>
                  <a:noFill/>
                </a:ln>
                <a:solidFill>
                  <a:schemeClr val="tx1"/>
                </a:solidFill>
                <a:effectLst/>
                <a:latin typeface="Google Sans Text"/>
              </a:rPr>
              <a:t>Unit Tests</a:t>
            </a:r>
            <a:r>
              <a:rPr kumimoji="0" lang="en-US" altLang="en-US" sz="1800" b="0" i="0" u="none" strike="noStrike" cap="none" normalizeH="0" baseline="0" dirty="0">
                <a:ln>
                  <a:noFill/>
                </a:ln>
                <a:solidFill>
                  <a:schemeClr val="tx1"/>
                </a:solidFill>
                <a:effectLst/>
                <a:latin typeface="Google Sans Text"/>
              </a:rPr>
              <a:t> for those solutions using AI.</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Scale:</a:t>
            </a:r>
            <a:r>
              <a:rPr kumimoji="0" lang="en-US" altLang="en-US" sz="1800" b="0" i="0" u="none" strike="noStrike" cap="none" normalizeH="0" baseline="0" dirty="0">
                <a:ln>
                  <a:noFill/>
                </a:ln>
                <a:solidFill>
                  <a:schemeClr val="tx1"/>
                </a:solidFill>
                <a:effectLst/>
                <a:latin typeface="Google Sans Text"/>
              </a:rPr>
              <a:t> This pipeline produced </a:t>
            </a:r>
            <a:r>
              <a:rPr kumimoji="0" lang="en-US" altLang="en-US" sz="1800" b="1" i="0" u="none" strike="noStrike" cap="none" normalizeH="0" baseline="0" dirty="0">
                <a:ln>
                  <a:noFill/>
                </a:ln>
                <a:solidFill>
                  <a:schemeClr val="tx1"/>
                </a:solidFill>
                <a:effectLst/>
                <a:latin typeface="Google Sans Text"/>
              </a:rPr>
              <a:t>2.7 million</a:t>
            </a:r>
            <a:r>
              <a:rPr kumimoji="0" lang="en-US" altLang="en-US" sz="1800" b="0" i="0" u="none" strike="noStrike" cap="none" normalizeH="0" baseline="0" dirty="0">
                <a:ln>
                  <a:noFill/>
                </a:ln>
                <a:solidFill>
                  <a:schemeClr val="tx1"/>
                </a:solidFill>
                <a:effectLst/>
                <a:latin typeface="Google Sans Text"/>
              </a:rPr>
              <a:t> synthetic coding examples.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Visual Suggestion:</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A pipeline graphic: </a:t>
            </a:r>
            <a:r>
              <a:rPr kumimoji="0" lang="en-US" altLang="en-US" sz="1800" b="1" i="0" u="none" strike="noStrike" cap="none" normalizeH="0" baseline="0" dirty="0">
                <a:ln>
                  <a:noFill/>
                </a:ln>
                <a:solidFill>
                  <a:schemeClr val="tx1"/>
                </a:solidFill>
                <a:effectLst/>
                <a:latin typeface="Google Sans Text"/>
              </a:rPr>
              <a:t>Problem Gen</a:t>
            </a:r>
            <a:r>
              <a:rPr kumimoji="0" lang="en-US" altLang="en-US" sz="1800" b="0" i="0" u="none" strike="noStrike" cap="none" normalizeH="0" baseline="0" dirty="0">
                <a:ln>
                  <a:noFill/>
                </a:ln>
                <a:solidFill>
                  <a:schemeClr val="tx1"/>
                </a:solidFill>
                <a:effectLst/>
                <a:latin typeface="Google Sans Text"/>
              </a:rPr>
              <a:t> -&gt; </a:t>
            </a:r>
            <a:r>
              <a:rPr kumimoji="0" lang="en-US" altLang="en-US" sz="1800" b="1" i="0" u="none" strike="noStrike" cap="none" normalizeH="0" baseline="0" dirty="0">
                <a:ln>
                  <a:noFill/>
                </a:ln>
                <a:solidFill>
                  <a:schemeClr val="tx1"/>
                </a:solidFill>
                <a:effectLst/>
                <a:latin typeface="Google Sans Text"/>
              </a:rPr>
              <a:t>Solution Gen</a:t>
            </a:r>
            <a:r>
              <a:rPr lang="en-US" altLang="en-US" sz="1800" dirty="0">
                <a:latin typeface="Google Sans Text"/>
              </a:rPr>
              <a:t> -&gt;</a:t>
            </a:r>
            <a:r>
              <a:rPr kumimoji="0" lang="en-US" altLang="en-US" sz="1800" b="0" i="0" u="none" strike="noStrike" cap="none" normalizeH="0" baseline="0" dirty="0">
                <a:ln>
                  <a:noFill/>
                </a:ln>
                <a:solidFill>
                  <a:schemeClr val="tx1"/>
                </a:solidFill>
                <a:effectLst/>
                <a:latin typeface="Google Sans Text"/>
              </a:rPr>
              <a:t> </a:t>
            </a:r>
            <a:r>
              <a:rPr kumimoji="0" lang="en-US" altLang="en-US" sz="1800" b="1" i="0" u="none" strike="noStrike" cap="none" normalizeH="0" baseline="0" dirty="0">
                <a:ln>
                  <a:noFill/>
                </a:ln>
                <a:solidFill>
                  <a:schemeClr val="tx1"/>
                </a:solidFill>
                <a:effectLst/>
                <a:latin typeface="Google Sans Text"/>
              </a:rPr>
              <a:t>Unit Test Gen</a:t>
            </a:r>
            <a:r>
              <a:rPr kumimoji="0" lang="en-US" altLang="en-US" sz="1800" b="0" i="0" u="none" strike="noStrike" cap="none" normalizeH="0" baseline="0" dirty="0">
                <a:ln>
                  <a:noFill/>
                </a:ln>
                <a:solidFill>
                  <a:schemeClr val="tx1"/>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Speaker Notes:</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"Let's look at Llama 3's pipeline. It didn't just write code. It wrote the problem, then the solution, and then </a:t>
            </a:r>
            <a:r>
              <a:rPr kumimoji="0" lang="en-US" altLang="en-US" sz="1800" b="0" i="1" u="none" strike="noStrike" cap="none" normalizeH="0" baseline="0" dirty="0">
                <a:ln>
                  <a:noFill/>
                </a:ln>
                <a:solidFill>
                  <a:schemeClr val="tx1"/>
                </a:solidFill>
                <a:effectLst/>
                <a:latin typeface="Google Sans Text"/>
              </a:rPr>
              <a:t>it wrote the unit tests to check its own solution</a:t>
            </a:r>
            <a:r>
              <a:rPr kumimoji="0" lang="en-US" altLang="en-US" sz="1800" b="0" i="0" u="none" strike="noStrike" cap="none" normalizeH="0" baseline="0" dirty="0">
                <a:ln>
                  <a:noFill/>
                </a:ln>
                <a:solidFill>
                  <a:schemeClr val="tx1"/>
                </a:solidFill>
                <a:effectLst/>
                <a:latin typeface="Google Sans Text"/>
              </a:rPr>
              <a:t>. It created a self-contained loop of generation. This generated 2.7 million training examples that were not just valid text, but valid, </a:t>
            </a:r>
            <a:r>
              <a:rPr kumimoji="0" lang="en-US" altLang="en-US" sz="1800" b="0" i="0" u="none" strike="noStrike" cap="none" normalizeH="0" baseline="0" dirty="0" err="1">
                <a:ln>
                  <a:noFill/>
                </a:ln>
                <a:solidFill>
                  <a:schemeClr val="tx1"/>
                </a:solidFill>
                <a:effectLst/>
                <a:latin typeface="Google Sans Text"/>
              </a:rPr>
              <a:t>compilable</a:t>
            </a:r>
            <a:r>
              <a:rPr kumimoji="0" lang="en-US" altLang="en-US" sz="1800" b="0" i="0" u="none" strike="noStrike" cap="none" normalizeH="0" baseline="0" dirty="0">
                <a:ln>
                  <a:noFill/>
                </a:ln>
                <a:solidFill>
                  <a:schemeClr val="tx1"/>
                </a:solidFill>
                <a:effectLst/>
                <a:latin typeface="Google Sans Text"/>
              </a:rPr>
              <a:t> code."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476929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DDB718-57FF-2AC8-F479-F4ADA779A562}"/>
              </a:ext>
            </a:extLst>
          </p:cNvPr>
          <p:cNvSpPr>
            <a:spLocks noGrp="1"/>
          </p:cNvSpPr>
          <p:nvPr>
            <p:ph type="title"/>
          </p:nvPr>
        </p:nvSpPr>
        <p:spPr/>
        <p:txBody>
          <a:bodyPr/>
          <a:lstStyle/>
          <a:p>
            <a:pPr algn="ctr"/>
            <a:r>
              <a:rPr lang="en-IN" b="1" dirty="0"/>
              <a:t>Case Study: Llama 3's Coding Pipeline (Verification)</a:t>
            </a:r>
            <a:endParaRPr lang="en-US" b="1" dirty="0"/>
          </a:p>
        </p:txBody>
      </p:sp>
      <p:sp>
        <p:nvSpPr>
          <p:cNvPr id="4" name="Rectangle 1">
            <a:extLst>
              <a:ext uri="{FF2B5EF4-FFF2-40B4-BE49-F238E27FC236}">
                <a16:creationId xmlns:a16="http://schemas.microsoft.com/office/drawing/2014/main" id="{2C892BA9-01CA-4DB5-8774-DBD76A1EF666}"/>
              </a:ext>
            </a:extLst>
          </p:cNvPr>
          <p:cNvSpPr>
            <a:spLocks noGrp="1" noChangeArrowheads="1"/>
          </p:cNvSpPr>
          <p:nvPr>
            <p:ph idx="1"/>
          </p:nvPr>
        </p:nvSpPr>
        <p:spPr bwMode="auto">
          <a:xfrm>
            <a:off x="976184" y="1762221"/>
            <a:ext cx="10377615" cy="44781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The Execution Loop: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457200" marR="0" lvl="1" indent="0" algn="l" defTabSz="914400" rtl="0" eaLnBrk="0" fontAlgn="base" latinLnBrk="0" hangingPunct="0">
              <a:lnSpc>
                <a:spcPct val="100000"/>
              </a:lnSpc>
              <a:spcBef>
                <a:spcPct val="0"/>
              </a:spcBef>
              <a:spcAft>
                <a:spcPct val="0"/>
              </a:spcAft>
              <a:buClrTx/>
              <a:buSzTx/>
              <a:buFontTx/>
              <a:buAutoNum type="arabicPeriod"/>
              <a:tabLst/>
            </a:pPr>
            <a:r>
              <a:rPr kumimoji="0" lang="en-US" altLang="en-US" sz="1800" b="0" i="0" u="none" strike="noStrike" cap="none" normalizeH="0" baseline="0" dirty="0">
                <a:ln>
                  <a:noFill/>
                </a:ln>
                <a:solidFill>
                  <a:schemeClr val="tx1"/>
                </a:solidFill>
                <a:effectLst/>
                <a:latin typeface="Google Sans Text"/>
              </a:rPr>
              <a:t>Run generated code through parsers/linters.</a:t>
            </a:r>
          </a:p>
          <a:p>
            <a:pPr marL="457200" marR="0" lvl="1" indent="0" algn="l" defTabSz="914400" rtl="0" eaLnBrk="0" fontAlgn="base" latinLnBrk="0" hangingPunct="0">
              <a:lnSpc>
                <a:spcPct val="100000"/>
              </a:lnSpc>
              <a:spcBef>
                <a:spcPct val="0"/>
              </a:spcBef>
              <a:spcAft>
                <a:spcPct val="0"/>
              </a:spcAft>
              <a:buClrTx/>
              <a:buSzTx/>
              <a:buFontTx/>
              <a:buAutoNum type="arabicPeriod" startAt="2"/>
              <a:tabLst/>
            </a:pPr>
            <a:r>
              <a:rPr kumimoji="0" lang="en-US" altLang="en-US" sz="1800" b="0" i="0" u="none" strike="noStrike" cap="none" normalizeH="0" baseline="0" dirty="0">
                <a:ln>
                  <a:noFill/>
                </a:ln>
                <a:solidFill>
                  <a:schemeClr val="tx1"/>
                </a:solidFill>
                <a:effectLst/>
                <a:latin typeface="Google Sans Text"/>
              </a:rPr>
              <a:t>Execute Unit Tests.</a:t>
            </a:r>
          </a:p>
          <a:p>
            <a:pPr marL="457200" marR="0" lvl="1" indent="0" algn="l" defTabSz="914400" rtl="0" eaLnBrk="0" fontAlgn="base" latinLnBrk="0" hangingPunct="0">
              <a:lnSpc>
                <a:spcPct val="100000"/>
              </a:lnSpc>
              <a:spcBef>
                <a:spcPct val="0"/>
              </a:spcBef>
              <a:spcAft>
                <a:spcPct val="0"/>
              </a:spcAft>
              <a:buClrTx/>
              <a:buSzTx/>
              <a:buFontTx/>
              <a:buAutoNum type="arabicPeriod" startAt="3"/>
              <a:tabLst/>
            </a:pPr>
            <a:r>
              <a:rPr kumimoji="0" lang="en-US" altLang="en-US" sz="1800" b="1" i="0" u="none" strike="noStrike" cap="none" normalizeH="0" baseline="0" dirty="0">
                <a:ln>
                  <a:noFill/>
                </a:ln>
                <a:solidFill>
                  <a:schemeClr val="tx1"/>
                </a:solidFill>
                <a:effectLst/>
                <a:latin typeface="Google Sans Text"/>
              </a:rPr>
              <a:t>Self-Correction:</a:t>
            </a:r>
            <a:r>
              <a:rPr kumimoji="0" lang="en-US" altLang="en-US" sz="1800" b="0" i="0" u="none" strike="noStrike" cap="none" normalizeH="0" baseline="0" dirty="0">
                <a:ln>
                  <a:noFill/>
                </a:ln>
                <a:solidFill>
                  <a:schemeClr val="tx1"/>
                </a:solidFill>
                <a:effectLst/>
                <a:latin typeface="Google Sans Text"/>
              </a:rPr>
              <a:t> If code fails, feed the error message back to the model and ask it to fix the bug.</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Google Sans Text"/>
              </a:rPr>
              <a:t>Result:</a:t>
            </a:r>
            <a:r>
              <a:rPr kumimoji="0" lang="en-US" altLang="en-US" sz="1800" b="0" i="0" u="none" strike="noStrike" cap="none" normalizeH="0" baseline="0" dirty="0">
                <a:ln>
                  <a:noFill/>
                </a:ln>
                <a:solidFill>
                  <a:schemeClr val="tx1"/>
                </a:solidFill>
                <a:effectLst/>
                <a:latin typeface="Google Sans Text"/>
              </a:rPr>
              <a:t> 20% of solutions were initially wrong but were fixed by the model itself through this feedback loop.</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Google Sans Tex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Visual Suggestion:</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A feedback loop diagram: </a:t>
            </a:r>
            <a:r>
              <a:rPr kumimoji="0" lang="en-US" altLang="en-US" sz="1800" b="1" i="0" u="none" strike="noStrike" cap="none" normalizeH="0" baseline="0" dirty="0">
                <a:ln>
                  <a:noFill/>
                </a:ln>
                <a:solidFill>
                  <a:schemeClr val="tx1"/>
                </a:solidFill>
                <a:effectLst/>
                <a:latin typeface="Google Sans Text"/>
              </a:rPr>
              <a:t>Code</a:t>
            </a:r>
            <a:r>
              <a:rPr kumimoji="0" lang="en-US" altLang="en-US" sz="1800" b="0" i="0" u="none" strike="noStrike" cap="none" normalizeH="0" baseline="0" dirty="0">
                <a:ln>
                  <a:noFill/>
                </a:ln>
                <a:solidFill>
                  <a:schemeClr val="tx1"/>
                </a:solidFill>
                <a:effectLst/>
                <a:latin typeface="Google Sans Text"/>
              </a:rPr>
              <a:t> -&gt; </a:t>
            </a:r>
            <a:r>
              <a:rPr kumimoji="0" lang="en-US" altLang="en-US" sz="1800" b="1" i="0" u="none" strike="noStrike" cap="none" normalizeH="0" baseline="0" dirty="0">
                <a:ln>
                  <a:noFill/>
                </a:ln>
                <a:solidFill>
                  <a:schemeClr val="tx1"/>
                </a:solidFill>
                <a:effectLst/>
                <a:latin typeface="Google Sans Text"/>
              </a:rPr>
              <a:t>Test</a:t>
            </a:r>
            <a:r>
              <a:rPr kumimoji="0" lang="en-US" altLang="en-US" sz="1800" b="0" i="0" u="none" strike="noStrike" cap="none" normalizeH="0" baseline="0" dirty="0">
                <a:ln>
                  <a:noFill/>
                </a:ln>
                <a:solidFill>
                  <a:schemeClr val="tx1"/>
                </a:solidFill>
                <a:effectLst/>
                <a:latin typeface="Google Sans Text"/>
              </a:rPr>
              <a:t> -&gt; </a:t>
            </a:r>
            <a:r>
              <a:rPr kumimoji="0" lang="en-US" altLang="en-US" sz="1800" b="1" i="0" u="none" strike="noStrike" cap="none" normalizeH="0" baseline="0" dirty="0">
                <a:ln>
                  <a:noFill/>
                </a:ln>
                <a:solidFill>
                  <a:schemeClr val="tx1"/>
                </a:solidFill>
                <a:effectLst/>
                <a:latin typeface="Google Sans Text"/>
              </a:rPr>
              <a:t>Fail</a:t>
            </a:r>
            <a:r>
              <a:rPr kumimoji="0" lang="en-US" altLang="en-US" sz="1800" b="0" i="0" u="none" strike="noStrike" cap="none" normalizeH="0" baseline="0" dirty="0">
                <a:ln>
                  <a:noFill/>
                </a:ln>
                <a:solidFill>
                  <a:schemeClr val="tx1"/>
                </a:solidFill>
                <a:effectLst/>
                <a:latin typeface="Google Sans Text"/>
              </a:rPr>
              <a:t> -&gt; </a:t>
            </a:r>
            <a:r>
              <a:rPr kumimoji="0" lang="en-US" altLang="en-US" sz="1800" b="1" i="0" u="none" strike="noStrike" cap="none" normalizeH="0" baseline="0" dirty="0">
                <a:ln>
                  <a:noFill/>
                </a:ln>
                <a:solidFill>
                  <a:schemeClr val="tx1"/>
                </a:solidFill>
                <a:effectLst/>
                <a:latin typeface="Google Sans Text"/>
              </a:rPr>
              <a:t>Error Message</a:t>
            </a:r>
            <a:r>
              <a:rPr kumimoji="0" lang="en-US" altLang="en-US" sz="1800" b="0" i="0" u="none" strike="noStrike" cap="none" normalizeH="0" baseline="0" dirty="0">
                <a:ln>
                  <a:noFill/>
                </a:ln>
                <a:solidFill>
                  <a:schemeClr val="tx1"/>
                </a:solidFill>
                <a:effectLst/>
                <a:latin typeface="Google Sans Text"/>
              </a:rPr>
              <a:t> -&gt; </a:t>
            </a:r>
            <a:r>
              <a:rPr kumimoji="0" lang="en-US" altLang="en-US" sz="1800" b="1" i="0" u="none" strike="noStrike" cap="none" normalizeH="0" baseline="0" dirty="0">
                <a:ln>
                  <a:noFill/>
                </a:ln>
                <a:solidFill>
                  <a:schemeClr val="tx1"/>
                </a:solidFill>
                <a:effectLst/>
                <a:latin typeface="Google Sans Text"/>
              </a:rPr>
              <a:t>AI Fixer</a:t>
            </a:r>
            <a:r>
              <a:rPr kumimoji="0" lang="en-US" altLang="en-US" sz="1800" b="0" i="0" u="none" strike="noStrike" cap="none" normalizeH="0" baseline="0" dirty="0">
                <a:ln>
                  <a:noFill/>
                </a:ln>
                <a:solidFill>
                  <a:schemeClr val="tx1"/>
                </a:solidFill>
                <a:effectLst/>
                <a:latin typeface="Google Sans Text"/>
              </a:rPr>
              <a:t> -&gt;  </a:t>
            </a:r>
            <a:r>
              <a:rPr kumimoji="0" lang="en-US" altLang="en-US" sz="1800" b="1" i="0" u="none" strike="noStrike" cap="none" normalizeH="0" baseline="0" dirty="0">
                <a:ln>
                  <a:noFill/>
                </a:ln>
                <a:solidFill>
                  <a:schemeClr val="tx1"/>
                </a:solidFill>
                <a:effectLst/>
                <a:latin typeface="Google Sans Text"/>
              </a:rPr>
              <a:t>Success</a:t>
            </a:r>
            <a:r>
              <a:rPr kumimoji="0" lang="en-US" altLang="en-US" sz="1800" b="0" i="0" u="none" strike="noStrike" cap="none" normalizeH="0" baseline="0" dirty="0">
                <a:ln>
                  <a:noFill/>
                </a:ln>
                <a:solidFill>
                  <a:schemeClr val="tx1"/>
                </a:solidFill>
                <a:effectLst/>
                <a:latin typeface="Google Sans Text"/>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Google Sans Text"/>
              </a:rPr>
              <a:t>Speaker Notes:</a:t>
            </a:r>
            <a:endParaRPr kumimoji="0" lang="en-US" altLang="en-US" sz="1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Google Sans Text"/>
              </a:rPr>
              <a:t>"This is the genius part. When the synthetic code failed the unit tests, they didn't delete it. They fed the error message </a:t>
            </a:r>
            <a:r>
              <a:rPr kumimoji="0" lang="en-US" altLang="en-US" sz="1800" b="0" i="1" u="none" strike="noStrike" cap="none" normalizeH="0" baseline="0" dirty="0">
                <a:ln>
                  <a:noFill/>
                </a:ln>
                <a:solidFill>
                  <a:schemeClr val="tx1"/>
                </a:solidFill>
                <a:effectLst/>
                <a:latin typeface="Google Sans Text"/>
              </a:rPr>
              <a:t>back</a:t>
            </a:r>
            <a:r>
              <a:rPr kumimoji="0" lang="en-US" altLang="en-US" sz="1800" b="0" i="0" u="none" strike="noStrike" cap="none" normalizeH="0" baseline="0" dirty="0">
                <a:ln>
                  <a:noFill/>
                </a:ln>
                <a:solidFill>
                  <a:schemeClr val="tx1"/>
                </a:solidFill>
                <a:effectLst/>
                <a:latin typeface="Google Sans Text"/>
              </a:rPr>
              <a:t> to the AI and said, 'Fix it.' 20% of their data came from these self-corrections. They essentially taught the model how to debug by having it debug itself."</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01185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29C43-5772-D048-AAC3-96A143D9B3C1}"/>
              </a:ext>
            </a:extLst>
          </p:cNvPr>
          <p:cNvSpPr>
            <a:spLocks noGrp="1"/>
          </p:cNvSpPr>
          <p:nvPr>
            <p:ph type="title"/>
          </p:nvPr>
        </p:nvSpPr>
        <p:spPr/>
        <p:txBody>
          <a:bodyPr/>
          <a:lstStyle/>
          <a:p>
            <a:pPr algn="ctr"/>
            <a:r>
              <a:rPr lang="en-IN" b="1" dirty="0"/>
              <a:t>Model Distillation</a:t>
            </a:r>
            <a:endParaRPr lang="en-US" b="1" dirty="0"/>
          </a:p>
        </p:txBody>
      </p:sp>
      <p:sp>
        <p:nvSpPr>
          <p:cNvPr id="4" name="Rectangle 1">
            <a:extLst>
              <a:ext uri="{FF2B5EF4-FFF2-40B4-BE49-F238E27FC236}">
                <a16:creationId xmlns:a16="http://schemas.microsoft.com/office/drawing/2014/main" id="{9AB755BE-0C6E-29DF-DDB4-A9722F9264E3}"/>
              </a:ext>
            </a:extLst>
          </p:cNvPr>
          <p:cNvSpPr>
            <a:spLocks noGrp="1" noChangeArrowheads="1"/>
          </p:cNvSpPr>
          <p:nvPr>
            <p:ph idx="1"/>
          </p:nvPr>
        </p:nvSpPr>
        <p:spPr bwMode="auto">
          <a:xfrm>
            <a:off x="1000897" y="1600638"/>
            <a:ext cx="10352903"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Teacher-Student:</a:t>
            </a:r>
            <a:r>
              <a:rPr kumimoji="0" lang="en-US" altLang="en-US" sz="1800" b="0" i="0" u="none" strike="noStrike" cap="none" normalizeH="0" baseline="0" dirty="0">
                <a:ln>
                  <a:noFill/>
                </a:ln>
                <a:solidFill>
                  <a:schemeClr val="tx1"/>
                </a:solidFill>
                <a:effectLst/>
                <a:latin typeface="Arial" panose="020B0604020202020204" pitchFamily="34" charset="0"/>
              </a:rPr>
              <a:t> Using a large model (Teacher, e.g., GPT-4) to label data for a small model (Student, e.g., Llama-7B).</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Goal:</a:t>
            </a:r>
            <a:r>
              <a:rPr kumimoji="0" lang="en-US" altLang="en-US" sz="1800" b="0" i="0" u="none" strike="noStrike" cap="none" normalizeH="0" baseline="0" dirty="0">
                <a:ln>
                  <a:noFill/>
                </a:ln>
                <a:solidFill>
                  <a:schemeClr val="tx1"/>
                </a:solidFill>
                <a:effectLst/>
                <a:latin typeface="Arial" panose="020B0604020202020204" pitchFamily="34" charset="0"/>
              </a:rPr>
              <a:t> Reduce size and cost while retaining performance. Alpaca (7B) behaves like DaVinci-003 (175B) thanks to distillation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Proprietary Licenses:</a:t>
            </a:r>
            <a:r>
              <a:rPr kumimoji="0" lang="en-US" altLang="en-US" sz="1800" b="0" i="0" u="none" strike="noStrike" cap="none" normalizeH="0" baseline="0" dirty="0">
                <a:ln>
                  <a:noFill/>
                </a:ln>
                <a:solidFill>
                  <a:schemeClr val="tx1"/>
                </a:solidFill>
                <a:effectLst/>
                <a:latin typeface="Arial" panose="020B0604020202020204" pitchFamily="34" charset="0"/>
              </a:rPr>
              <a:t> Be careful—many model licenses (like OpenAI's) prohibit using their output to train competing foundation models.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An image of a large robot pouring "Knowledge" (fluid) into the head of a small robot.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"We call this 'Distillation.' You use a massive, expensive 'Teacher' model to generate the training data, and then you train a tiny 'Student' model on that data. The student learns to mimic the teacher's outputs at a fraction of the cost. But be careful—check the terms of service. Using GPT-4 to train your own competitor is often a violation."</a:t>
            </a:r>
          </a:p>
        </p:txBody>
      </p:sp>
    </p:spTree>
    <p:extLst>
      <p:ext uri="{BB962C8B-B14F-4D97-AF65-F5344CB8AC3E}">
        <p14:creationId xmlns:p14="http://schemas.microsoft.com/office/powerpoint/2010/main" val="3407296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6DDDEB-A8AC-F23A-E6B8-FAF53417799F}"/>
              </a:ext>
            </a:extLst>
          </p:cNvPr>
          <p:cNvSpPr>
            <a:spLocks noGrp="1"/>
          </p:cNvSpPr>
          <p:nvPr>
            <p:ph type="title"/>
          </p:nvPr>
        </p:nvSpPr>
        <p:spPr/>
        <p:txBody>
          <a:bodyPr/>
          <a:lstStyle/>
          <a:p>
            <a:pPr algn="ctr"/>
            <a:r>
              <a:rPr lang="en-IN" b="1" dirty="0"/>
              <a:t>The Risks: Model Collapse</a:t>
            </a:r>
            <a:endParaRPr lang="en-US" b="1" dirty="0"/>
          </a:p>
        </p:txBody>
      </p:sp>
      <p:sp>
        <p:nvSpPr>
          <p:cNvPr id="4" name="Rectangle 1">
            <a:extLst>
              <a:ext uri="{FF2B5EF4-FFF2-40B4-BE49-F238E27FC236}">
                <a16:creationId xmlns:a16="http://schemas.microsoft.com/office/drawing/2014/main" id="{F61D28BE-3E15-7F81-9C08-2682C7FFC74C}"/>
              </a:ext>
            </a:extLst>
          </p:cNvPr>
          <p:cNvSpPr>
            <a:spLocks noGrp="1" noChangeArrowheads="1"/>
          </p:cNvSpPr>
          <p:nvPr>
            <p:ph idx="1"/>
          </p:nvPr>
        </p:nvSpPr>
        <p:spPr bwMode="auto">
          <a:xfrm>
            <a:off x="976184" y="1877637"/>
            <a:ext cx="10377616"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Definition:</a:t>
            </a:r>
            <a:r>
              <a:rPr kumimoji="0" lang="en-US" altLang="en-US" sz="1800" b="0" i="0" u="none" strike="noStrike" cap="none" normalizeH="0" baseline="0" dirty="0">
                <a:ln>
                  <a:noFill/>
                </a:ln>
                <a:solidFill>
                  <a:schemeClr val="tx1"/>
                </a:solidFill>
                <a:effectLst/>
                <a:latin typeface="Arial" panose="020B0604020202020204" pitchFamily="34" charset="0"/>
              </a:rPr>
              <a:t> Degenerative performance caused by training models on recursively generated AI data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Cause:</a:t>
            </a:r>
            <a:r>
              <a:rPr kumimoji="0" lang="en-US" altLang="en-US" sz="1800" b="0" i="0" u="none" strike="noStrike" cap="none" normalizeH="0" baseline="0" dirty="0">
                <a:ln>
                  <a:noFill/>
                </a:ln>
                <a:solidFill>
                  <a:schemeClr val="tx1"/>
                </a:solidFill>
                <a:effectLst/>
                <a:latin typeface="Arial" panose="020B0604020202020204" pitchFamily="34" charset="0"/>
              </a:rPr>
              <a:t> AI models tend to output "average" or "probable" events. Training on this output cuts off the "tails" of the distribution (rare events/creativity)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Fix:</a:t>
            </a:r>
            <a:r>
              <a:rPr kumimoji="0" lang="en-US" altLang="en-US" sz="1800" b="0" i="0" u="none" strike="noStrike" cap="none" normalizeH="0" baseline="0" dirty="0">
                <a:ln>
                  <a:noFill/>
                </a:ln>
                <a:solidFill>
                  <a:schemeClr val="tx1"/>
                </a:solidFill>
                <a:effectLst/>
                <a:latin typeface="Arial" panose="020B0604020202020204" pitchFamily="34" charset="0"/>
              </a:rPr>
              <a:t> Mix real data with synthetic data. You cannot rely on 100% synthetic data forever.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bell curve becoming narrower and narrower with each generation, representing the loss of variance and creativity.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"There is a doomsday scenario called 'Model Collapse.' If you train AI on AI data, then train the next version on </a:t>
            </a:r>
            <a:r>
              <a:rPr kumimoji="0" lang="en-US" altLang="en-US" sz="1800" b="0" i="1" u="none" strike="noStrike" cap="none" normalizeH="0" baseline="0" dirty="0">
                <a:ln>
                  <a:noFill/>
                </a:ln>
                <a:solidFill>
                  <a:schemeClr val="tx1"/>
                </a:solidFill>
                <a:effectLst/>
                <a:latin typeface="Arial" panose="020B0604020202020204" pitchFamily="34" charset="0"/>
              </a:rPr>
              <a:t>that</a:t>
            </a:r>
            <a:r>
              <a:rPr kumimoji="0" lang="en-US" altLang="en-US" sz="1800" b="0" i="0" u="none" strike="noStrike" cap="none" normalizeH="0" baseline="0" dirty="0">
                <a:ln>
                  <a:noFill/>
                </a:ln>
                <a:solidFill>
                  <a:schemeClr val="tx1"/>
                </a:solidFill>
                <a:effectLst/>
                <a:latin typeface="Arial" panose="020B0604020202020204" pitchFamily="34" charset="0"/>
              </a:rPr>
              <a:t> data, the model eventually becomes stupid. It loses all creativity and variance, converging on the 'average' response. To prevent this, you must always inject fresh, real human data into the loop."</a:t>
            </a:r>
          </a:p>
        </p:txBody>
      </p:sp>
    </p:spTree>
    <p:extLst>
      <p:ext uri="{BB962C8B-B14F-4D97-AF65-F5344CB8AC3E}">
        <p14:creationId xmlns:p14="http://schemas.microsoft.com/office/powerpoint/2010/main" val="3014553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39830-3B8A-D558-CF94-AAEFB4AE8285}"/>
              </a:ext>
            </a:extLst>
          </p:cNvPr>
          <p:cNvSpPr>
            <a:spLocks noGrp="1"/>
          </p:cNvSpPr>
          <p:nvPr>
            <p:ph type="title"/>
          </p:nvPr>
        </p:nvSpPr>
        <p:spPr/>
        <p:txBody>
          <a:bodyPr/>
          <a:lstStyle/>
          <a:p>
            <a:pPr algn="ctr"/>
            <a:r>
              <a:rPr lang="en-IN" b="1" dirty="0"/>
              <a:t>The Risks: Superficial Imitation</a:t>
            </a:r>
            <a:endParaRPr lang="en-US" b="1" dirty="0"/>
          </a:p>
        </p:txBody>
      </p:sp>
      <p:sp>
        <p:nvSpPr>
          <p:cNvPr id="4" name="Rectangle 1">
            <a:extLst>
              <a:ext uri="{FF2B5EF4-FFF2-40B4-BE49-F238E27FC236}">
                <a16:creationId xmlns:a16="http://schemas.microsoft.com/office/drawing/2014/main" id="{9AA3BD6A-E0D7-C860-8562-B2B2FECEC639}"/>
              </a:ext>
            </a:extLst>
          </p:cNvPr>
          <p:cNvSpPr>
            <a:spLocks noGrp="1" noChangeArrowheads="1"/>
          </p:cNvSpPr>
          <p:nvPr>
            <p:ph idx="1"/>
          </p:nvPr>
        </p:nvSpPr>
        <p:spPr bwMode="auto">
          <a:xfrm>
            <a:off x="1235676" y="1739138"/>
            <a:ext cx="1011812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Problem:</a:t>
            </a:r>
            <a:r>
              <a:rPr kumimoji="0" lang="en-US" altLang="en-US" sz="1800" b="0" i="0" u="none" strike="noStrike" cap="none" normalizeH="0" baseline="0" dirty="0">
                <a:ln>
                  <a:noFill/>
                </a:ln>
                <a:solidFill>
                  <a:schemeClr val="tx1"/>
                </a:solidFill>
                <a:effectLst/>
                <a:latin typeface="Arial" panose="020B0604020202020204" pitchFamily="34" charset="0"/>
              </a:rPr>
              <a:t> Student models learn the </a:t>
            </a:r>
            <a:r>
              <a:rPr kumimoji="0" lang="en-US" altLang="en-US" sz="1800" b="0" i="1" u="none" strike="noStrike" cap="none" normalizeH="0" baseline="0" dirty="0">
                <a:ln>
                  <a:noFill/>
                </a:ln>
                <a:solidFill>
                  <a:schemeClr val="tx1"/>
                </a:solidFill>
                <a:effectLst/>
                <a:latin typeface="Arial" panose="020B0604020202020204" pitchFamily="34" charset="0"/>
              </a:rPr>
              <a:t>style</a:t>
            </a:r>
            <a:r>
              <a:rPr kumimoji="0" lang="en-US" altLang="en-US" sz="1800" b="0" i="0" u="none" strike="noStrike" cap="none" normalizeH="0" baseline="0" dirty="0">
                <a:ln>
                  <a:noFill/>
                </a:ln>
                <a:solidFill>
                  <a:schemeClr val="tx1"/>
                </a:solidFill>
                <a:effectLst/>
                <a:latin typeface="Arial" panose="020B0604020202020204" pitchFamily="34" charset="0"/>
              </a:rPr>
              <a:t> of the teacher but not the </a:t>
            </a:r>
            <a:r>
              <a:rPr kumimoji="0" lang="en-US" altLang="en-US" sz="1800" b="0" i="1" u="none" strike="noStrike" cap="none" normalizeH="0" baseline="0" dirty="0">
                <a:ln>
                  <a:noFill/>
                </a:ln>
                <a:solidFill>
                  <a:schemeClr val="tx1"/>
                </a:solidFill>
                <a:effectLst/>
                <a:latin typeface="Arial" panose="020B0604020202020204" pitchFamily="34" charset="0"/>
              </a:rPr>
              <a:t>reasoning</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Symptom:</a:t>
            </a:r>
            <a:r>
              <a:rPr kumimoji="0" lang="en-US" altLang="en-US" sz="1800" b="0" i="0" u="none" strike="noStrike" cap="none" normalizeH="0" baseline="0" dirty="0">
                <a:ln>
                  <a:noFill/>
                </a:ln>
                <a:solidFill>
                  <a:schemeClr val="tx1"/>
                </a:solidFill>
                <a:effectLst/>
                <a:latin typeface="Arial" panose="020B0604020202020204" pitchFamily="34" charset="0"/>
              </a:rPr>
              <a:t> The model uses confident, academic language (mimicking GPT-4) but makes factual errors or hallucinations.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Analogy:</a:t>
            </a:r>
            <a:r>
              <a:rPr kumimoji="0" lang="en-US" altLang="en-US" sz="1800" b="0" i="0" u="none" strike="noStrike" cap="none" normalizeH="0" baseline="0" dirty="0">
                <a:ln>
                  <a:noFill/>
                </a:ln>
                <a:solidFill>
                  <a:schemeClr val="tx1"/>
                </a:solidFill>
                <a:effectLst/>
                <a:latin typeface="Arial" panose="020B0604020202020204" pitchFamily="34" charset="0"/>
              </a:rPr>
              <a:t> A student memorizing the answers to a test without understanding the math concepts.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An image of a parrot dressed as a professor. It looks smart, but it's just repeating sounds.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"Another risk is 'Superficial Imitation.' Your small model might start sounding like a professor—using big words and confident tone—because it's mimicking GPT-4. But underneath, it has no idea what it's saying. It's a parrot, not a thinker. You need to verify that it's learning logic, not just vocabulary."</a:t>
            </a:r>
          </a:p>
        </p:txBody>
      </p:sp>
    </p:spTree>
    <p:extLst>
      <p:ext uri="{BB962C8B-B14F-4D97-AF65-F5344CB8AC3E}">
        <p14:creationId xmlns:p14="http://schemas.microsoft.com/office/powerpoint/2010/main" val="4023853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CED63-DC60-F100-3FBA-333DA1270979}"/>
              </a:ext>
            </a:extLst>
          </p:cNvPr>
          <p:cNvSpPr>
            <a:spLocks noGrp="1"/>
          </p:cNvSpPr>
          <p:nvPr>
            <p:ph type="title"/>
          </p:nvPr>
        </p:nvSpPr>
        <p:spPr/>
        <p:txBody>
          <a:bodyPr/>
          <a:lstStyle/>
          <a:p>
            <a:pPr algn="ctr"/>
            <a:r>
              <a:rPr lang="en-IN" b="1" dirty="0"/>
              <a:t>Data Verification Techniques</a:t>
            </a:r>
            <a:endParaRPr lang="en-US" b="1" dirty="0"/>
          </a:p>
        </p:txBody>
      </p:sp>
      <p:sp>
        <p:nvSpPr>
          <p:cNvPr id="4" name="Rectangle 1">
            <a:extLst>
              <a:ext uri="{FF2B5EF4-FFF2-40B4-BE49-F238E27FC236}">
                <a16:creationId xmlns:a16="http://schemas.microsoft.com/office/drawing/2014/main" id="{4FF08025-799D-E892-CFF6-C7E20270C3A1}"/>
              </a:ext>
            </a:extLst>
          </p:cNvPr>
          <p:cNvSpPr>
            <a:spLocks noGrp="1" noChangeArrowheads="1"/>
          </p:cNvSpPr>
          <p:nvPr>
            <p:ph idx="1"/>
          </p:nvPr>
        </p:nvSpPr>
        <p:spPr bwMode="auto">
          <a:xfrm>
            <a:off x="1334530" y="1739137"/>
            <a:ext cx="10019270"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Functional Correctness:</a:t>
            </a:r>
            <a:r>
              <a:rPr kumimoji="0" lang="en-US" altLang="en-US" sz="1800" b="0" i="0" u="none" strike="noStrike" cap="none" normalizeH="0" baseline="0" dirty="0">
                <a:ln>
                  <a:noFill/>
                </a:ln>
                <a:solidFill>
                  <a:schemeClr val="tx1"/>
                </a:solidFill>
                <a:effectLst/>
                <a:latin typeface="Arial" panose="020B0604020202020204" pitchFamily="34" charset="0"/>
              </a:rPr>
              <a:t> The best verify. For code, math, or logic, use programmatic checks (unit tests, assertions)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 Judges:</a:t>
            </a:r>
            <a:r>
              <a:rPr kumimoji="0" lang="en-US" altLang="en-US" sz="1800" b="0" i="0" u="none" strike="noStrike" cap="none" normalizeH="0" baseline="0" dirty="0">
                <a:ln>
                  <a:noFill/>
                </a:ln>
                <a:solidFill>
                  <a:schemeClr val="tx1"/>
                </a:solidFill>
                <a:effectLst/>
                <a:latin typeface="Arial" panose="020B0604020202020204" pitchFamily="34" charset="0"/>
              </a:rPr>
              <a:t> Using a strong model to grade the synthetic data on a 1-5 scale or check for hallucinations.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Influence:</a:t>
            </a:r>
            <a:r>
              <a:rPr kumimoji="0" lang="en-US" altLang="en-US" sz="1800" b="0" i="0" u="none" strike="noStrike" cap="none" normalizeH="0" baseline="0" dirty="0">
                <a:ln>
                  <a:noFill/>
                </a:ln>
                <a:solidFill>
                  <a:schemeClr val="tx1"/>
                </a:solidFill>
                <a:effectLst/>
                <a:latin typeface="Arial" panose="020B0604020202020204" pitchFamily="34" charset="0"/>
              </a:rPr>
              <a:t> This is "Evaluation-Driven Development." If you can't verify it, don't use it.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flow chart showing a "Gatekeeper" AI deciding which data passes to the training set.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"If we generate millions of rows, we can't read them all. We need automated verification. For code, it's easy—does it run? For text, we build 'AI Judges.' We ask a second model: 'Is this response accurate?' If you can't verify your data automatically, you can't scale your data engineering."</a:t>
            </a:r>
          </a:p>
        </p:txBody>
      </p:sp>
    </p:spTree>
    <p:extLst>
      <p:ext uri="{BB962C8B-B14F-4D97-AF65-F5344CB8AC3E}">
        <p14:creationId xmlns:p14="http://schemas.microsoft.com/office/powerpoint/2010/main" val="1529402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A7E72-B40F-C876-3B67-640855B6242A}"/>
              </a:ext>
            </a:extLst>
          </p:cNvPr>
          <p:cNvSpPr>
            <a:spLocks noGrp="1"/>
          </p:cNvSpPr>
          <p:nvPr>
            <p:ph type="title"/>
          </p:nvPr>
        </p:nvSpPr>
        <p:spPr>
          <a:xfrm>
            <a:off x="838200" y="365125"/>
            <a:ext cx="10515600" cy="1068259"/>
          </a:xfrm>
        </p:spPr>
        <p:txBody>
          <a:bodyPr/>
          <a:lstStyle/>
          <a:p>
            <a:pPr algn="ctr"/>
            <a:r>
              <a:rPr lang="en-IN" b="1" dirty="0"/>
              <a:t>Data Processing: Inspection</a:t>
            </a:r>
            <a:endParaRPr lang="en-US" b="1" dirty="0"/>
          </a:p>
        </p:txBody>
      </p:sp>
      <p:sp>
        <p:nvSpPr>
          <p:cNvPr id="4" name="Rectangle 1">
            <a:extLst>
              <a:ext uri="{FF2B5EF4-FFF2-40B4-BE49-F238E27FC236}">
                <a16:creationId xmlns:a16="http://schemas.microsoft.com/office/drawing/2014/main" id="{CA3A71D0-BE52-B115-B8C9-820A90733DC9}"/>
              </a:ext>
            </a:extLst>
          </p:cNvPr>
          <p:cNvSpPr>
            <a:spLocks noGrp="1" noChangeArrowheads="1"/>
          </p:cNvSpPr>
          <p:nvPr>
            <p:ph idx="1"/>
          </p:nvPr>
        </p:nvSpPr>
        <p:spPr bwMode="auto">
          <a:xfrm>
            <a:off x="1297460" y="1877637"/>
            <a:ext cx="1005634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"15-Minute Rule":</a:t>
            </a:r>
            <a:r>
              <a:rPr kumimoji="0" lang="en-US" altLang="en-US" sz="1800" b="0" i="0" u="none" strike="noStrike" cap="none" normalizeH="0" baseline="0" dirty="0">
                <a:ln>
                  <a:noFill/>
                </a:ln>
                <a:solidFill>
                  <a:schemeClr val="tx1"/>
                </a:solidFill>
                <a:effectLst/>
                <a:latin typeface="Arial" panose="020B0604020202020204" pitchFamily="34" charset="0"/>
              </a:rPr>
              <a:t> Always inspect your data manually for at least 15 minutes. You will find bugs that scripts miss.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Visualization:</a:t>
            </a:r>
            <a:r>
              <a:rPr kumimoji="0" lang="en-US" altLang="en-US" sz="1800" b="0" i="0" u="none" strike="noStrike" cap="none" normalizeH="0" baseline="0" dirty="0">
                <a:ln>
                  <a:noFill/>
                </a:ln>
                <a:solidFill>
                  <a:schemeClr val="tx1"/>
                </a:solidFill>
                <a:effectLst/>
                <a:latin typeface="Arial" panose="020B0604020202020204" pitchFamily="34" charset="0"/>
              </a:rPr>
              <a:t> Plot token distributions, response lengths, and verb-noun pairs.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chemeClr val="tx1"/>
                </a:solidFill>
                <a:effectLst/>
                <a:latin typeface="Arial" panose="020B0604020202020204" pitchFamily="34" charset="0"/>
              </a:rPr>
              <a:t>Example:</a:t>
            </a:r>
            <a:r>
              <a:rPr kumimoji="0" lang="en-US" altLang="en-US" sz="1800" b="0" i="0" u="none" strike="noStrike" cap="none" normalizeH="0" baseline="0" dirty="0">
                <a:ln>
                  <a:noFill/>
                </a:ln>
                <a:solidFill>
                  <a:schemeClr val="tx1"/>
                </a:solidFill>
                <a:effectLst/>
                <a:latin typeface="Arial" panose="020B0604020202020204" pitchFamily="34" charset="0"/>
              </a:rPr>
              <a:t> GPT-4 generates more diverse verb-noun pairs than GPT-3.</a:t>
            </a:r>
          </a:p>
          <a:p>
            <a:pPr marL="457200" marR="0" lvl="1"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Anomalies:</a:t>
            </a:r>
            <a:r>
              <a:rPr kumimoji="0" lang="en-US" altLang="en-US" sz="1800" b="0" i="0" u="none" strike="noStrike" cap="none" normalizeH="0" baseline="0" dirty="0">
                <a:ln>
                  <a:noFill/>
                </a:ln>
                <a:solidFill>
                  <a:schemeClr val="tx1"/>
                </a:solidFill>
                <a:effectLst/>
                <a:latin typeface="Arial" panose="020B0604020202020204" pitchFamily="34" charset="0"/>
              </a:rPr>
              <a:t> Look for outliers—extremely short responses or repetitive patterns.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histogram showing "Response Length Distribution" with a long tail, highlighting potential outliers to inspect.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"Before you run a script, spend 15 minutes just reading your data. You will find weird encoding errors, HTML tags you missed, or completely broken responses. Use visualization tools to spot outliers. If one response is 50,000 tokens long, it's probably garbage."</a:t>
            </a:r>
          </a:p>
        </p:txBody>
      </p:sp>
    </p:spTree>
    <p:extLst>
      <p:ext uri="{BB962C8B-B14F-4D97-AF65-F5344CB8AC3E}">
        <p14:creationId xmlns:p14="http://schemas.microsoft.com/office/powerpoint/2010/main" val="2577138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CBC72-90F1-EDE7-97AB-789F51F0232A}"/>
              </a:ext>
            </a:extLst>
          </p:cNvPr>
          <p:cNvSpPr>
            <a:spLocks noGrp="1"/>
          </p:cNvSpPr>
          <p:nvPr>
            <p:ph type="title"/>
          </p:nvPr>
        </p:nvSpPr>
        <p:spPr/>
        <p:txBody>
          <a:bodyPr/>
          <a:lstStyle/>
          <a:p>
            <a:pPr algn="ctr"/>
            <a:r>
              <a:rPr lang="en-IN" b="1" dirty="0"/>
              <a:t>Data Processing: Deduplication</a:t>
            </a:r>
            <a:endParaRPr lang="en-US" b="1" dirty="0"/>
          </a:p>
        </p:txBody>
      </p:sp>
      <p:sp>
        <p:nvSpPr>
          <p:cNvPr id="4" name="Rectangle 1">
            <a:extLst>
              <a:ext uri="{FF2B5EF4-FFF2-40B4-BE49-F238E27FC236}">
                <a16:creationId xmlns:a16="http://schemas.microsoft.com/office/drawing/2014/main" id="{89735679-3433-DAB4-CB95-E982BAFA9333}"/>
              </a:ext>
            </a:extLst>
          </p:cNvPr>
          <p:cNvSpPr>
            <a:spLocks noGrp="1" noChangeArrowheads="1"/>
          </p:cNvSpPr>
          <p:nvPr>
            <p:ph idx="1"/>
          </p:nvPr>
        </p:nvSpPr>
        <p:spPr bwMode="auto">
          <a:xfrm>
            <a:off x="1037968" y="1877637"/>
            <a:ext cx="10315831"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Why Deduplicate?</a:t>
            </a:r>
            <a:r>
              <a:rPr kumimoji="0" lang="en-US" altLang="en-US" sz="1800" b="0" i="0" u="none" strike="noStrike" cap="none" normalizeH="0" baseline="0" dirty="0">
                <a:ln>
                  <a:noFill/>
                </a:ln>
                <a:solidFill>
                  <a:schemeClr val="tx1"/>
                </a:solidFill>
                <a:effectLst/>
                <a:latin typeface="Arial" panose="020B0604020202020204" pitchFamily="34" charset="0"/>
              </a:rPr>
              <a:t> Duplicates bias the model (over-weighting certain facts) and cause test set contamination.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MinHash</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An algorithm to find "fuzzy" duplicates (e.g., text that is 90% similar) efficiently.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Impact:</a:t>
            </a:r>
            <a:r>
              <a:rPr kumimoji="0" lang="en-US" altLang="en-US" sz="1800" b="0" i="0" u="none" strike="noStrike" cap="none" normalizeH="0" baseline="0" dirty="0">
                <a:ln>
                  <a:noFill/>
                </a:ln>
                <a:solidFill>
                  <a:schemeClr val="tx1"/>
                </a:solidFill>
                <a:effectLst/>
                <a:latin typeface="Arial" panose="020B0604020202020204" pitchFamily="34" charset="0"/>
              </a:rPr>
              <a:t> Removing duplicates can reduce dataset size (cost) while improving accuracy. Repeating 0.1% of data 100x can ruin a model.</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diagram showing a "Dirty" dataset with overlapping circles (duplicates) becoming a "Clean" dataset with distinct circles.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"Deduplication is critical. If your model sees the same sentence 100 times, it overfits. It thinks that sentence is the most important thing in the world. We use </a:t>
            </a:r>
            <a:r>
              <a:rPr kumimoji="0" lang="en-US" altLang="en-US" sz="1800" b="0" i="0" u="none" strike="noStrike" cap="none" normalizeH="0" baseline="0" dirty="0" err="1">
                <a:ln>
                  <a:noFill/>
                </a:ln>
                <a:solidFill>
                  <a:schemeClr val="tx1"/>
                </a:solidFill>
                <a:effectLst/>
                <a:latin typeface="Arial" panose="020B0604020202020204" pitchFamily="34" charset="0"/>
              </a:rPr>
              <a:t>MinHash</a:t>
            </a:r>
            <a:r>
              <a:rPr kumimoji="0" lang="en-US" altLang="en-US" sz="1800" b="0" i="0" u="none" strike="noStrike" cap="none" normalizeH="0" baseline="0" dirty="0">
                <a:ln>
                  <a:noFill/>
                </a:ln>
                <a:solidFill>
                  <a:schemeClr val="tx1"/>
                </a:solidFill>
                <a:effectLst/>
                <a:latin typeface="Arial" panose="020B0604020202020204" pitchFamily="34" charset="0"/>
              </a:rPr>
              <a:t> to find near-duplicates and remove them. It saves training compute and boosts performance."</a:t>
            </a:r>
          </a:p>
        </p:txBody>
      </p:sp>
    </p:spTree>
    <p:extLst>
      <p:ext uri="{BB962C8B-B14F-4D97-AF65-F5344CB8AC3E}">
        <p14:creationId xmlns:p14="http://schemas.microsoft.com/office/powerpoint/2010/main" val="17086710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75542-4259-B96A-1982-C75C76A36AD8}"/>
              </a:ext>
            </a:extLst>
          </p:cNvPr>
          <p:cNvSpPr>
            <a:spLocks noGrp="1"/>
          </p:cNvSpPr>
          <p:nvPr>
            <p:ph type="title"/>
          </p:nvPr>
        </p:nvSpPr>
        <p:spPr/>
        <p:txBody>
          <a:bodyPr/>
          <a:lstStyle/>
          <a:p>
            <a:r>
              <a:rPr lang="en-IN" b="1" dirty="0"/>
              <a:t>Data Processing: Cleaning &amp; Filtering</a:t>
            </a:r>
            <a:endParaRPr lang="en-US" b="1" dirty="0"/>
          </a:p>
        </p:txBody>
      </p:sp>
      <p:sp>
        <p:nvSpPr>
          <p:cNvPr id="4" name="Rectangle 1">
            <a:extLst>
              <a:ext uri="{FF2B5EF4-FFF2-40B4-BE49-F238E27FC236}">
                <a16:creationId xmlns:a16="http://schemas.microsoft.com/office/drawing/2014/main" id="{208F51A1-40B4-B5F1-7C35-B9300C4BA5AC}"/>
              </a:ext>
            </a:extLst>
          </p:cNvPr>
          <p:cNvSpPr>
            <a:spLocks noGrp="1" noChangeArrowheads="1"/>
          </p:cNvSpPr>
          <p:nvPr>
            <p:ph idx="1"/>
          </p:nvPr>
        </p:nvSpPr>
        <p:spPr bwMode="auto">
          <a:xfrm>
            <a:off x="1371600" y="1600639"/>
            <a:ext cx="998220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Cleaning:</a:t>
            </a:r>
            <a:r>
              <a:rPr kumimoji="0" lang="en-US" altLang="en-US" sz="1800" b="0" i="0" u="none" strike="noStrike" cap="none" normalizeH="0" baseline="0" dirty="0">
                <a:ln>
                  <a:noFill/>
                </a:ln>
                <a:solidFill>
                  <a:schemeClr val="tx1"/>
                </a:solidFill>
                <a:effectLst/>
                <a:latin typeface="Arial" panose="020B0604020202020204" pitchFamily="34" charset="0"/>
              </a:rPr>
              <a:t> Remove HTML tags, boilerplate text ("Click here to subscribe"), and PII.</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Filtering Heuristics: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Remove examples that are too short/long.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Remove examples with "As an AI..." refusals.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Remove examples where the output is a copy of the input .</a:t>
            </a:r>
          </a:p>
          <a:p>
            <a:pPr marL="457200" marR="0" lvl="1"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Impact:</a:t>
            </a:r>
            <a:r>
              <a:rPr kumimoji="0" lang="en-US" altLang="en-US" sz="1800" b="0" i="0" u="none" strike="noStrike" cap="none" normalizeH="0" baseline="0" dirty="0">
                <a:ln>
                  <a:noFill/>
                </a:ln>
                <a:solidFill>
                  <a:schemeClr val="tx1"/>
                </a:solidFill>
                <a:effectLst/>
                <a:latin typeface="Arial" panose="020B0604020202020204" pitchFamily="34" charset="0"/>
              </a:rPr>
              <a:t> Databricks improved accuracy by 20% just by removing HTML tags.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funnel labeled "Filtering." Raw data goes in; "HTML," "PII," and "Refusals" fall out the sides; Clean data comes out the bottom.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"Clean your data. Databricks found a 20% accuracy jump just by removing Markdown and HTML tags. Also, filter out 'refusals.' If your training data contains 'I cannot answer that,' you are training your model to be unhelpful."</a:t>
            </a:r>
          </a:p>
        </p:txBody>
      </p:sp>
    </p:spTree>
    <p:extLst>
      <p:ext uri="{BB962C8B-B14F-4D97-AF65-F5344CB8AC3E}">
        <p14:creationId xmlns:p14="http://schemas.microsoft.com/office/powerpoint/2010/main" val="36695639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3FB5C-4ADE-B5BC-0E7A-5C7548780532}"/>
              </a:ext>
            </a:extLst>
          </p:cNvPr>
          <p:cNvSpPr>
            <a:spLocks noGrp="1"/>
          </p:cNvSpPr>
          <p:nvPr>
            <p:ph type="title"/>
          </p:nvPr>
        </p:nvSpPr>
        <p:spPr/>
        <p:txBody>
          <a:bodyPr/>
          <a:lstStyle/>
          <a:p>
            <a:pPr algn="ctr"/>
            <a:r>
              <a:rPr lang="en-IN" b="1" dirty="0"/>
              <a:t>Data Processing: Formatting</a:t>
            </a:r>
            <a:endParaRPr lang="en-US" dirty="0"/>
          </a:p>
        </p:txBody>
      </p:sp>
      <p:sp>
        <p:nvSpPr>
          <p:cNvPr id="4" name="Rectangle 1">
            <a:extLst>
              <a:ext uri="{FF2B5EF4-FFF2-40B4-BE49-F238E27FC236}">
                <a16:creationId xmlns:a16="http://schemas.microsoft.com/office/drawing/2014/main" id="{9A8405F5-17BE-D554-0325-9FE1A0F4D3CC}"/>
              </a:ext>
            </a:extLst>
          </p:cNvPr>
          <p:cNvSpPr>
            <a:spLocks noGrp="1" noChangeArrowheads="1"/>
          </p:cNvSpPr>
          <p:nvPr>
            <p:ph idx="1"/>
          </p:nvPr>
        </p:nvSpPr>
        <p:spPr bwMode="auto">
          <a:xfrm>
            <a:off x="1383957" y="1600638"/>
            <a:ext cx="9969843"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Chat Templates:</a:t>
            </a:r>
            <a:r>
              <a:rPr kumimoji="0" lang="en-US" altLang="en-US" sz="1800" b="0" i="0" u="none" strike="noStrike" cap="none" normalizeH="0" baseline="0" dirty="0">
                <a:ln>
                  <a:noFill/>
                </a:ln>
                <a:solidFill>
                  <a:schemeClr val="tx1"/>
                </a:solidFill>
                <a:effectLst/>
                <a:latin typeface="Arial" panose="020B0604020202020204" pitchFamily="34" charset="0"/>
              </a:rPr>
              <a:t> Converting raw text into the specific JSON/token format expected by the model (</a:t>
            </a:r>
            <a:r>
              <a:rPr kumimoji="0" lang="en-US" altLang="en-US" sz="18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e.g., &lt;|user|&gt; tokens).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Mismatch Risks:</a:t>
            </a:r>
            <a:r>
              <a:rPr kumimoji="0" lang="en-US" altLang="en-US" sz="1800" b="0" i="0" u="none" strike="noStrike" cap="none" normalizeH="0" baseline="0" dirty="0">
                <a:ln>
                  <a:noFill/>
                </a:ln>
                <a:solidFill>
                  <a:schemeClr val="tx1"/>
                </a:solidFill>
                <a:effectLst/>
                <a:latin typeface="Arial" panose="020B0604020202020204" pitchFamily="34" charset="0"/>
              </a:rPr>
              <a:t> Using the wrong format (e.g., missing a space or a special token) can silently degrade performance.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Efficiency:</a:t>
            </a:r>
            <a:r>
              <a:rPr kumimoji="0" lang="en-US" altLang="en-US" sz="1800" b="0" i="0" u="none" strike="noStrike" cap="none" normalizeH="0" baseline="0" dirty="0">
                <a:ln>
                  <a:noFill/>
                </a:ln>
                <a:solidFill>
                  <a:schemeClr val="tx1"/>
                </a:solidFill>
                <a:effectLst/>
                <a:latin typeface="Arial" panose="020B0604020202020204" pitchFamily="34" charset="0"/>
              </a:rPr>
              <a:t> Fine-tuning allows you to shorten prompts. Instead of a 3-shot prompt, you train the model to react to a simple </a:t>
            </a:r>
            <a:r>
              <a:rPr kumimoji="0" lang="en-US" altLang="en-US" sz="1800" b="0" i="1" u="none" strike="noStrike" cap="none" normalizeH="0" baseline="0" dirty="0">
                <a:ln>
                  <a:noFill/>
                </a:ln>
                <a:solidFill>
                  <a:schemeClr val="tx1"/>
                </a:solidFill>
                <a:effectLst/>
                <a:latin typeface="Arial Unicode MS" panose="020B0604020202020204" pitchFamily="34" charset="-128"/>
              </a:rPr>
              <a:t>Input --&gt;</a:t>
            </a:r>
            <a:r>
              <a:rPr kumimoji="0" lang="en-US" altLang="en-US" sz="1800" b="0" i="1" u="none" strike="noStrike" cap="none" normalizeH="0" baseline="0" dirty="0">
                <a:ln>
                  <a:noFill/>
                </a:ln>
                <a:solidFill>
                  <a:schemeClr val="tx1"/>
                </a:solidFill>
                <a:effectLst/>
              </a:rPr>
              <a:t> signal </a:t>
            </a:r>
            <a:r>
              <a:rPr kumimoji="0" lang="en-US" altLang="en-US" sz="1800" b="0" i="1"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 code snippet showing a raw string being transformed into a structured JSON object with </a:t>
            </a:r>
            <a:r>
              <a:rPr kumimoji="0" lang="en-US" altLang="en-US" sz="1800" b="0" i="1" u="none" strike="noStrike" cap="none" normalizeH="0" baseline="0" dirty="0">
                <a:ln>
                  <a:noFill/>
                </a:ln>
                <a:solidFill>
                  <a:schemeClr val="tx1"/>
                </a:solidFill>
                <a:effectLst/>
                <a:latin typeface="Arial Unicode MS" panose="020B0604020202020204" pitchFamily="34" charset="-128"/>
              </a:rPr>
              <a:t>role: user</a:t>
            </a:r>
            <a:r>
              <a:rPr kumimoji="0" lang="en-US" altLang="en-US" sz="1800" b="0" i="1" u="none" strike="noStrike" cap="none" normalizeH="0" baseline="0" dirty="0">
                <a:ln>
                  <a:noFill/>
                </a:ln>
                <a:solidFill>
                  <a:schemeClr val="tx1"/>
                </a:solidFill>
                <a:effectLst/>
              </a:rPr>
              <a:t> and </a:t>
            </a:r>
            <a:r>
              <a:rPr kumimoji="0" lang="en-US" altLang="en-US" sz="1800" b="0" i="1" u="none" strike="noStrike" cap="none" normalizeH="0" baseline="0" dirty="0">
                <a:ln>
                  <a:noFill/>
                </a:ln>
                <a:solidFill>
                  <a:schemeClr val="tx1"/>
                </a:solidFill>
                <a:effectLst/>
                <a:latin typeface="Arial Unicode MS" panose="020B0604020202020204" pitchFamily="34" charset="-128"/>
              </a:rPr>
              <a:t>role: assistant</a:t>
            </a:r>
            <a:r>
              <a:rPr kumimoji="0" lang="en-US" altLang="en-US" sz="1800" b="0" i="1" u="none" strike="noStrike" cap="none" normalizeH="0" baseline="0" dirty="0">
                <a:ln>
                  <a:noFill/>
                </a:ln>
                <a:solidFill>
                  <a:schemeClr val="tx1"/>
                </a:solidFill>
                <a:effectLst/>
              </a:rPr>
              <a:t> fields.</a:t>
            </a:r>
            <a:endParaRPr kumimoji="0" lang="en-US" altLang="en-US" sz="1800" b="0" i="1"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"Finally, formatting. This is where many fail. Modern models expect specific 'Chat Templates'—special tokens that define who is speaking. If you mess this up—even a missing space—the model gets confused. Treat your data formatting like code: it needs to be syntactically perfect."</a:t>
            </a:r>
          </a:p>
        </p:txBody>
      </p:sp>
    </p:spTree>
    <p:extLst>
      <p:ext uri="{BB962C8B-B14F-4D97-AF65-F5344CB8AC3E}">
        <p14:creationId xmlns:p14="http://schemas.microsoft.com/office/powerpoint/2010/main" val="3928549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2BF05-A3E2-6B71-2968-99B87DD9F860}"/>
              </a:ext>
            </a:extLst>
          </p:cNvPr>
          <p:cNvSpPr>
            <a:spLocks noGrp="1"/>
          </p:cNvSpPr>
          <p:nvPr>
            <p:ph type="title"/>
          </p:nvPr>
        </p:nvSpPr>
        <p:spPr/>
        <p:txBody>
          <a:bodyPr/>
          <a:lstStyle/>
          <a:p>
            <a:pPr algn="ctr"/>
            <a:r>
              <a:rPr lang="en-US" b="1" dirty="0"/>
              <a:t>Conclusion</a:t>
            </a:r>
          </a:p>
        </p:txBody>
      </p:sp>
      <p:sp>
        <p:nvSpPr>
          <p:cNvPr id="4" name="Rectangle 1">
            <a:extLst>
              <a:ext uri="{FF2B5EF4-FFF2-40B4-BE49-F238E27FC236}">
                <a16:creationId xmlns:a16="http://schemas.microsoft.com/office/drawing/2014/main" id="{B4B5BFE0-90BA-6BC6-7B8B-257C325EA75B}"/>
              </a:ext>
            </a:extLst>
          </p:cNvPr>
          <p:cNvSpPr>
            <a:spLocks noGrp="1" noChangeArrowheads="1"/>
          </p:cNvSpPr>
          <p:nvPr>
            <p:ph idx="1"/>
          </p:nvPr>
        </p:nvSpPr>
        <p:spPr bwMode="auto">
          <a:xfrm>
            <a:off x="1272746" y="1739137"/>
            <a:ext cx="10081053"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Summary:</a:t>
            </a:r>
            <a:r>
              <a:rPr kumimoji="0" lang="en-US" altLang="en-US" sz="1800" b="0" i="0" u="none" strike="noStrike" cap="none" normalizeH="0" baseline="0" dirty="0">
                <a:ln>
                  <a:noFill/>
                </a:ln>
                <a:solidFill>
                  <a:schemeClr val="tx1"/>
                </a:solidFill>
                <a:effectLst/>
                <a:latin typeface="Arial" panose="020B0604020202020204" pitchFamily="34" charset="0"/>
              </a:rPr>
              <a:t> Dataset engineering is a rigorous engineering discipline, not a janitorial task.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The Future:</a:t>
            </a:r>
            <a:r>
              <a:rPr kumimoji="0" lang="en-US" altLang="en-US" sz="1800" b="0" i="0" u="none" strike="noStrike" cap="none" normalizeH="0" baseline="0" dirty="0">
                <a:ln>
                  <a:noFill/>
                </a:ln>
                <a:solidFill>
                  <a:schemeClr val="tx1"/>
                </a:solidFill>
                <a:effectLst/>
                <a:latin typeface="Arial" panose="020B0604020202020204" pitchFamily="34" charset="0"/>
              </a:rPr>
              <a:t> As models become commodities, </a:t>
            </a:r>
            <a:r>
              <a:rPr kumimoji="0" lang="en-US" altLang="en-US" sz="1800" b="1" i="0" u="none" strike="noStrike" cap="none" normalizeH="0" baseline="0" dirty="0">
                <a:ln>
                  <a:noFill/>
                </a:ln>
                <a:solidFill>
                  <a:schemeClr val="tx1"/>
                </a:solidFill>
                <a:effectLst/>
                <a:latin typeface="Arial" panose="020B0604020202020204" pitchFamily="34" charset="0"/>
              </a:rPr>
              <a:t>Proprietary Data Pipelines</a:t>
            </a:r>
            <a:r>
              <a:rPr kumimoji="0" lang="en-US" altLang="en-US" sz="1800" b="0" i="0" u="none" strike="noStrike" cap="none" normalizeH="0" baseline="0" dirty="0">
                <a:ln>
                  <a:noFill/>
                </a:ln>
                <a:solidFill>
                  <a:schemeClr val="tx1"/>
                </a:solidFill>
                <a:effectLst/>
                <a:latin typeface="Arial" panose="020B0604020202020204" pitchFamily="34" charset="0"/>
              </a:rPr>
              <a:t> will be the primary competitive moat.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Final Thought:</a:t>
            </a:r>
            <a:r>
              <a:rPr kumimoji="0" lang="en-US" altLang="en-US" sz="1800" b="0" i="0" u="none" strike="noStrike" cap="none" normalizeH="0" baseline="0" dirty="0">
                <a:ln>
                  <a:noFill/>
                </a:ln>
                <a:solidFill>
                  <a:schemeClr val="tx1"/>
                </a:solidFill>
                <a:effectLst/>
                <a:latin typeface="Arial" panose="020B0604020202020204" pitchFamily="34" charset="0"/>
              </a:rPr>
              <a:t> "Manual inspection of data has the highest value-to-prestige ratio of any activity in machine learning." — Greg Brockman.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Visual Suggestion:</a:t>
            </a:r>
            <a:r>
              <a:rPr kumimoji="0" lang="en-US" altLang="en-US" sz="1800" b="0" i="0" u="none" strike="noStrike" cap="none" normalizeH="0" baseline="0" dirty="0">
                <a:ln>
                  <a:noFill/>
                </a:ln>
                <a:solidFill>
                  <a:schemeClr val="tx1"/>
                </a:solidFill>
                <a:effectLst/>
                <a:latin typeface="Arial" panose="020B0604020202020204" pitchFamily="34" charset="0"/>
              </a:rPr>
              <a:t> An inspirational image of a "Data Flywheel" spinning rapidly, powering a futuristic </a:t>
            </a:r>
            <a:r>
              <a:rPr kumimoji="0" lang="en-US" altLang="en-US" sz="1800" b="0" i="0" u="none" strike="noStrike" cap="none" normalizeH="0" baseline="0">
                <a:ln>
                  <a:noFill/>
                </a:ln>
                <a:solidFill>
                  <a:schemeClr val="tx1"/>
                </a:solidFill>
                <a:effectLst/>
                <a:latin typeface="Arial" panose="020B0604020202020204" pitchFamily="34" charset="0"/>
              </a:rPr>
              <a:t>city.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Speaker Notes:</a:t>
            </a:r>
            <a:r>
              <a:rPr kumimoji="0" lang="en-US" altLang="en-US" sz="1800" b="0" i="0" u="none" strike="noStrike" cap="none" normalizeH="0" baseline="0" dirty="0">
                <a:ln>
                  <a:noFill/>
                </a:ln>
                <a:solidFill>
                  <a:schemeClr val="tx1"/>
                </a:solidFill>
                <a:effectLst/>
                <a:latin typeface="Arial" panose="020B0604020202020204" pitchFamily="34" charset="0"/>
              </a:rPr>
              <a:t> "To conclude: Dataset engineering is hard. It's tedious. But it is the highest-leverage work you can do. As Greg Brockman says, reading your data has the highest 'value-to-prestige' ratio in AI. So, stop tweaking the learning rate, and start engineering your dataset. Thank you."</a:t>
            </a:r>
          </a:p>
        </p:txBody>
      </p:sp>
    </p:spTree>
    <p:extLst>
      <p:ext uri="{BB962C8B-B14F-4D97-AF65-F5344CB8AC3E}">
        <p14:creationId xmlns:p14="http://schemas.microsoft.com/office/powerpoint/2010/main" val="15122639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68</TotalTime>
  <Words>3847</Words>
  <Application>Microsoft Macintosh PowerPoint</Application>
  <PresentationFormat>Widescreen</PresentationFormat>
  <Paragraphs>282</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 Unicode MS</vt:lpstr>
      <vt:lpstr>Aptos</vt:lpstr>
      <vt:lpstr>Aptos Display</vt:lpstr>
      <vt:lpstr>Arial</vt:lpstr>
      <vt:lpstr>Google Sans Text</vt:lpstr>
      <vt:lpstr>Office Theme</vt:lpstr>
      <vt:lpstr>Mastering Dataset Engineering: The Architect's Guide</vt:lpstr>
      <vt:lpstr>The Paradigm Shift: Data-Centric AI</vt:lpstr>
      <vt:lpstr>Data Curation: The Three Pillars</vt:lpstr>
      <vt:lpstr>The "Small Data" Revolution</vt:lpstr>
      <vt:lpstr>Data Quality Dimensions</vt:lpstr>
      <vt:lpstr>Data Coverage &amp; Diversity</vt:lpstr>
      <vt:lpstr>Data Quantity &amp; Scaling Laws</vt:lpstr>
      <vt:lpstr>Data Acquisition Strategies</vt:lpstr>
      <vt:lpstr>Traditional Synthesis (Rules &amp; Simulation)</vt:lpstr>
      <vt:lpstr>AI-Powered Synthesis: The New Standard</vt:lpstr>
      <vt:lpstr>Instruction Data Synthesis</vt:lpstr>
      <vt:lpstr>Advanced Synthesis: Code &amp; Translation</vt:lpstr>
      <vt:lpstr>Case Study: Llama 3's Coding Pipeline (Generation)</vt:lpstr>
      <vt:lpstr>Case Study: Llama 3's Coding Pipeline (Verification)</vt:lpstr>
      <vt:lpstr>Model Distillation</vt:lpstr>
      <vt:lpstr>The Risks: Model Collapse</vt:lpstr>
      <vt:lpstr>The Risks: Superficial Imitation</vt:lpstr>
      <vt:lpstr>Data Verification Techniques</vt:lpstr>
      <vt:lpstr>Data Processing: Inspection</vt:lpstr>
      <vt:lpstr>Data Processing: Deduplication</vt:lpstr>
      <vt:lpstr>Data Processing: Cleaning &amp; Filtering</vt:lpstr>
      <vt:lpstr>Data Processing: Formatting</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Sreenivasulu Madichetty</dc:creator>
  <cp:lastModifiedBy>Sreenivasulu Madichetty</cp:lastModifiedBy>
  <cp:revision>55</cp:revision>
  <dcterms:created xsi:type="dcterms:W3CDTF">2026-01-28T08:52:30Z</dcterms:created>
  <dcterms:modified xsi:type="dcterms:W3CDTF">2026-01-28T10:01:20Z</dcterms:modified>
</cp:coreProperties>
</file>